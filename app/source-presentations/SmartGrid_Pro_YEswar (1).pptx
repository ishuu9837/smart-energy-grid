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enbuild.2018.01.017" TargetMode="External"/><Relationship Id="rId2" Type="http://schemas.openxmlformats.org/officeDocument/2006/relationships/hyperlink" Target="https://doi.org/10.1109/SURV.2011.101911.00087" TargetMode="External"/><Relationship Id="rId3" Type="http://schemas.openxmlformats.org/officeDocument/2006/relationships/hyperlink" Target="https://doi.org/10.1016/j.rser.2015.04.065" TargetMode="External"/><Relationship Id="rId4" Type="http://schemas.openxmlformats.org/officeDocument/2006/relationships/hyperlink" Target="https://doi.org/10.1109/GreenTech.2013.17" TargetMode="External"/><Relationship Id="rId5" Type="http://schemas.openxmlformats.org/officeDocument/2006/relationships/hyperlink" Target="https://doi.org/10.1109/TPWRS.2006.882426" TargetMode="External"/><Relationship Id="rId6" Type="http://schemas.openxmlformats.org/officeDocument/2006/relationships/hyperlink" Target="https://doi.org/10.1016/j.rser.2013.10.022" TargetMode="External"/><Relationship Id="rId7" Type="http://schemas.openxmlformats.org/officeDocument/2006/relationships/hyperlink" Target="https://doi.org/10.1162/neco.1997.9.8.1735" TargetMode="External"/><Relationship Id="rId8" Type="http://schemas.openxmlformats.org/officeDocument/2006/relationships/hyperlink" Target="https://arxiv.org/abs/1706.03762" TargetMode="External"/><Relationship Id="rId9" Type="http://schemas.openxmlformats.org/officeDocument/2006/relationships/hyperlink" Target="https://www.iea.org/reports/world-energy-outlook-2023" TargetMode="External"/><Relationship Id="rId10" Type="http://schemas.openxmlformats.org/officeDocument/2006/relationships/hyperlink" Target="https://arxiv.org/abs/1706.02275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0F7A34"/>
          </a:solidFill>
          <a:ln w="12700">
            <a:solidFill>
              <a:srgbClr val="0F7A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164592" cy="5143500"/>
          </a:xfrm>
          <a:prstGeom prst="rect">
            <a:avLst/>
          </a:prstGeom>
          <a:solidFill>
            <a:srgbClr val="1DB954">
              <a:alpha val="60000"/>
            </a:srgbClr>
          </a:solidFill>
          <a:ln w="12700">
            <a:solidFill>
              <a:srgbClr val="1DB954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" y="15544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Sustainability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#9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960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Power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Optimization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89120" y="2176272"/>
            <a:ext cx="43891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331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about?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2697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power grids are old and wasteful. This study shows how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+ AI can make electricity smarter, cheaper &amp; greener.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3566160"/>
            <a:ext cx="4389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7033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Eswar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395935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Regd: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Regd. No.]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42245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GITAM University, Hyderabad  •  Submission: </a:t>
            </a:r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Grids &amp; Sustainability  |  Y Eswar  |  GITAM University  |  M.Tech Data Science 2025–27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The Problem — Why Do We Need Smart Grids?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2743200" cy="3566160"/>
          </a:xfrm>
          <a:prstGeom prst="rect">
            <a:avLst/>
          </a:prstGeom>
          <a:solidFill>
            <a:srgbClr val="FEF2F2"/>
          </a:solidFill>
          <a:ln w="25400">
            <a:solidFill>
              <a:srgbClr val="FCA5A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💸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93192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is Wasted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" y="2596896"/>
            <a:ext cx="2194560" cy="0"/>
          </a:xfrm>
          <a:prstGeom prst="line">
            <a:avLst/>
          </a:prstGeom>
          <a:noFill/>
          <a:ln w="1905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6974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8–15% of all electricity produced never reaches your home.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lost in transmission — like water leaking from old pipes.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63824" y="1115568"/>
            <a:ext cx="2743200" cy="3566160"/>
          </a:xfrm>
          <a:prstGeom prst="rect">
            <a:avLst/>
          </a:prstGeom>
          <a:solidFill>
            <a:srgbClr val="FFFBEB"/>
          </a:solidFill>
          <a:ln w="2540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63824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☀️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300984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are Unpredictable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38144" y="2596896"/>
            <a:ext cx="219456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26974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works only in daytime. Wind stops when there's no breeze.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grids can't handle this — they need constant stable power.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71616" y="1115568"/>
            <a:ext cx="2743200" cy="3566160"/>
          </a:xfrm>
          <a:prstGeom prst="rect">
            <a:avLst/>
          </a:prstGeom>
          <a:solidFill>
            <a:srgbClr val="EFF6FF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71616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6208776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Monitoring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45936" y="2596896"/>
            <a:ext cx="219456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26974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grids have no real-time data. Nobody knows where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is being wasted until the lights actually go out!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Grids &amp; Sustainability  |  Y Eswar  |  GITAM University  |  M.Tech Data Science 2025–27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A34"/>
          </a:solidFill>
          <a:ln w="12700">
            <a:solidFill>
              <a:srgbClr val="0F7A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Abstract — What This Study Is About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097280"/>
            <a:ext cx="8631936" cy="1417320"/>
          </a:xfrm>
          <a:prstGeom prst="rect">
            <a:avLst/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studied how to make electricity grids SMARTER using data and artificial intelligence.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wasting power, our system learns patterns, predicts demand, and automatically routes electricity where it's needed most — just like Google Maps but for electricity.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2633472"/>
            <a:ext cx="21945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0" y="2633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2633472"/>
            <a:ext cx="21945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2633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2633472"/>
            <a:ext cx="21945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2633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0" y="3017520"/>
            <a:ext cx="21945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4592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69080" y="3017520"/>
            <a:ext cx="21945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6908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3017520"/>
            <a:ext cx="21945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493008"/>
            <a:ext cx="2011680" cy="11521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6032" y="35478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10–18%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56032" y="4133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Saved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32304" y="3493008"/>
            <a:ext cx="2011680" cy="11521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32304" y="35478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432304" y="4133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08576" y="3493008"/>
            <a:ext cx="2011680" cy="11521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08576" y="35478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₹8–12Cr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608576" y="4133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84848" y="3493008"/>
            <a:ext cx="2011680" cy="11521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84848" y="35478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784848" y="4133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Grids &amp; Sustainability  |  Y Eswar  |  GITAM University  |  M.Tech Data Science 2025–27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What Have Other Researchers Found?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78992"/>
            <a:ext cx="2798064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7899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Waste   Ahmad et al. (2019)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481328"/>
            <a:ext cx="25786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electricity grids waste 8–15% of power just during transmission — before it even reaches homes.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72968" y="1078992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78992"/>
            <a:ext cx="2798064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07899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Two-Way   Fang et al. (2012)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82696" y="1481328"/>
            <a:ext cx="25786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'Smart Grid' defined as a two-way digital network — electricity flows both ways, unlike old grids.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17336" y="1078992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1078992"/>
            <a:ext cx="2798064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07899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Wins   Raza &amp; Khosravi (2015)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27064" y="1481328"/>
            <a:ext cx="25786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(LSTM &amp; SVM) predict electricity demand 35–40% more accurately than old statistical methods.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26080"/>
            <a:ext cx="2798064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2608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Speed   Zheng et al. (2013)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" y="3328416"/>
            <a:ext cx="25786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smart meters detect grid problems in under 1 second — traditional SCADA systems take 2–5 seconds.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72968" y="2926080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72968" y="2926080"/>
            <a:ext cx="2798064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292608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Renewables   Tan &amp; Kirschen (2016)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82696" y="3328416"/>
            <a:ext cx="25786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renewables exceed 30% of grid capacity, frequency instability occurs without predictive tools.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17336" y="2926080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17336" y="2926080"/>
            <a:ext cx="2798064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8776" y="292608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Demand   Siano (2014)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27064" y="3328416"/>
            <a:ext cx="25786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pricing signals can reduce electricity peak demand by 15–20% through smart demand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Grids &amp; Sustainability  |  Y Eswar  |  GITAM University  |  M.Tech Data Science 2025–27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Introduction — The Energy Story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422452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3192" y="1371600"/>
            <a:ext cx="685800" cy="685800"/>
          </a:xfrm>
          <a:prstGeom prst="ellipse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16152" y="131673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Grid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16152" y="1682496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grids send electricity in ONE direction only.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one-way street — can't handle traffic from both sides.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90872" y="1115568"/>
            <a:ext cx="422452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55464" y="1371600"/>
            <a:ext cx="685800" cy="685800"/>
          </a:xfrm>
          <a:prstGeom prst="ellipse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78424" y="131673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Smart Grid?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78424" y="1682496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grid is like a smart city — it uses sensors, internet &amp;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EXACTLY where electricity is needed and routes it there.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962656"/>
            <a:ext cx="422452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" y="3218688"/>
            <a:ext cx="685800" cy="685800"/>
          </a:xfrm>
          <a:prstGeom prst="ellipse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2186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🌤️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16152" y="316382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Renewable Challenge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16152" y="3529584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wind power are great but unpredictable.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smart management, they cause voltage spikes &amp; blackouts.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90872" y="2962656"/>
            <a:ext cx="422452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55464" y="3218688"/>
            <a:ext cx="685800" cy="685800"/>
          </a:xfrm>
          <a:prstGeom prst="ellipse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32186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678424" y="316382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78424" y="3529584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system that watches the grid 24/7, predicts demand,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automatically balances electricity — saving money &amp; CO₂.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Grids &amp; Sustainability  |  Y Eswar  |  GITAM University  |  M.Tech Data Science 2025–27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What's Missing in Current Systems? (Research Gaps)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60704"/>
            <a:ext cx="8686800" cy="658368"/>
          </a:xfrm>
          <a:prstGeom prst="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70432"/>
            <a:ext cx="438912" cy="438912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" y="1133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Too Slow to React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1408176"/>
            <a:ext cx="7772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use OLD data to make decisions. By the time a forecast is ready, the grid situation has already changed.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810512"/>
            <a:ext cx="8686800" cy="658368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920240"/>
            <a:ext cx="438912" cy="43891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0976" y="1883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🏝️  Data is Isolated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" y="2157984"/>
            <a:ext cx="7772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meters, weather data, and billing systems don't talk to each other. It's like 3 doctors treating the same patient separately.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670048"/>
            <a:ext cx="438912" cy="438912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670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0976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Can't Scale 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0976" y="2907792"/>
            <a:ext cx="7772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built for one city fail when applied to an entire state. Like a recipe that works for 4 people but fails for 400.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310128"/>
            <a:ext cx="8686800" cy="658368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419856"/>
            <a:ext cx="438912" cy="438912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0976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Poor Renewable Handling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976" y="3657600"/>
            <a:ext cx="7772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assume fixed buffers for solar/wind uncertainty. They don't use live weather data to adjust in real time.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059936"/>
            <a:ext cx="8686800" cy="658368"/>
          </a:xfrm>
          <a:prstGeom prst="rect">
            <a:avLst/>
          </a:prstGeom>
          <a:solidFill>
            <a:srgbClr val="FDF4FF"/>
          </a:solidFill>
          <a:ln w="19050">
            <a:solidFill>
              <a:srgbClr val="D8B4F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4169664"/>
            <a:ext cx="438912" cy="438912"/>
          </a:xfrm>
          <a:prstGeom prst="ellipse">
            <a:avLst/>
          </a:prstGeom>
          <a:solidFill>
            <a:srgbClr val="D8B4FE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169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50976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Security Risks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" y="4407408"/>
            <a:ext cx="7772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IoT devices = more ways hackers can attack. Most optimization systems ignore cybersecurity completely.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Grids &amp; Sustainability  |  Y Eswar  |  GITAM University  |  M.Tech Data Science 2025–27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A34"/>
          </a:solidFill>
          <a:ln w="12700">
            <a:solidFill>
              <a:srgbClr val="0F7A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Our Solution — How It Works (3 Simple Steps)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2798064" cy="3657600"/>
          </a:xfrm>
          <a:prstGeom prst="rect">
            <a:avLst/>
          </a:prstGeom>
          <a:solidFill>
            <a:srgbClr val="EFF6FF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78992"/>
            <a:ext cx="27980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7899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1627632"/>
            <a:ext cx="2798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0040" y="235915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270662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Acquisition Layer)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234086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3090672"/>
            <a:ext cx="254203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meters + weather satellites + grid sensors send real-time data every 15 minutes. All data is collected in one central platform — like a single dashboard for the whole grid.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71800" y="25603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172968" y="1078992"/>
            <a:ext cx="2798064" cy="3657600"/>
          </a:xfrm>
          <a:prstGeom prst="rect">
            <a:avLst/>
          </a:prstGeom>
          <a:solidFill>
            <a:srgbClr val="F0FDF4"/>
          </a:solidFill>
          <a:ln w="2540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078992"/>
            <a:ext cx="2798064" cy="457200"/>
          </a:xfrm>
          <a:prstGeom prst="rect">
            <a:avLst/>
          </a:prstGeom>
          <a:solidFill>
            <a:srgbClr val="0F7A34"/>
          </a:solidFill>
          <a:ln w="12700">
            <a:solidFill>
              <a:srgbClr val="0F7A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07899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72968" y="1627632"/>
            <a:ext cx="2798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3264408" y="235915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Demand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64408" y="270662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Forecasting Engine)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01568" y="2999232"/>
            <a:ext cx="2340864" cy="0"/>
          </a:xfrm>
          <a:prstGeom prst="line">
            <a:avLst/>
          </a:prstGeom>
          <a:noFill/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3090672"/>
            <a:ext cx="254203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model (LSTM + Transformer) learns from past data to predict electricity demand hours in advance — like a weather forecast, but for power consumption. Accuracy: &lt;3% error.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16168" y="25603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➜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17336" y="1078992"/>
            <a:ext cx="2798064" cy="3657600"/>
          </a:xfrm>
          <a:prstGeom prst="rect">
            <a:avLst/>
          </a:prstGeom>
          <a:solidFill>
            <a:srgbClr val="FFFBEB"/>
          </a:solidFill>
          <a:ln w="2540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1078992"/>
            <a:ext cx="27980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107899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17336" y="1627632"/>
            <a:ext cx="27980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6208776" y="235915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Auto-Balance the Grid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08776" y="270662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(Adaptive Control)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45936" y="2999232"/>
            <a:ext cx="2340864" cy="0"/>
          </a:xfrm>
          <a:prstGeom prst="line">
            <a:avLst/>
          </a:prstGeom>
          <a:noFill/>
          <a:ln w="12700">
            <a:solidFill>
              <a:srgbClr val="FCD3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3090672"/>
            <a:ext cx="254203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agents at each substation automatically reroute power, activate battery storage, and send demand signals — no human needed. Just like autopilot in a plane.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Grids &amp; Sustainability  |  Y Eswar  |  GITAM University  |  M.Tech Data Science 2025–27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Tools &amp; Technology Used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224528" cy="178308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 Hardware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84048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627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Smart Meters — measure electricity at every home/building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3192" y="1929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Edge computers — process data instantly on-site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3192" y="2231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Grid sensors — check voltage, current, frequency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2532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Battery storage — store surplus renewable energy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90872" y="1097280"/>
            <a:ext cx="4224528" cy="178308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 Stack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28032" y="1554480"/>
            <a:ext cx="3840480" cy="0"/>
          </a:xfrm>
          <a:prstGeom prst="line">
            <a:avLst/>
          </a:prstGeom>
          <a:noFill/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1627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Apache Kafka — streams data in real time (like YouTube live)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55464" y="1929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Apache Spark — processes millions of data points fast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55464" y="2231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InfluxDB — stores time-series energy data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55464" y="2532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Kubernetes — manages all services in the cloud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017520"/>
            <a:ext cx="4224528" cy="1783080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108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/ Machine Learning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3840480" cy="0"/>
          </a:xfrm>
          <a:prstGeom prst="line">
            <a:avLst/>
          </a:prstGeom>
          <a:noFill/>
          <a:ln w="1270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PyTorch — trains the LSTM-Transformer AI model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93192" y="3849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XGBoost — fast 1-hour demand predictions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3192" y="4151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RLlib — reinforcement learning for grid control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3192" y="4453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Scikit-learn — data preprocessing &amp; feature engineering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3017520"/>
            <a:ext cx="4224528" cy="1783080"/>
          </a:xfrm>
          <a:prstGeom prst="rect">
            <a:avLst/>
          </a:prstGeom>
          <a:solidFill>
            <a:srgbClr val="FDF4FF"/>
          </a:solidFill>
          <a:ln w="19050">
            <a:solidFill>
              <a:srgbClr val="D8B4F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28032" y="3108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Monitoring &amp; Reports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28032" y="3474720"/>
            <a:ext cx="3840480" cy="0"/>
          </a:xfrm>
          <a:prstGeom prst="line">
            <a:avLst/>
          </a:prstGeom>
          <a:noFill/>
          <a:ln w="12700">
            <a:solidFill>
              <a:srgbClr val="D8B4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Grafana — real-time grid dashboard (live charts)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55464" y="3849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Power BI — executive summary reports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55464" y="4151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Airflow — schedules all ML jobs automatically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55464" y="4453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Anomaly alerts — notifies engineers of faults instantly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Grids &amp; Sustainability  |  Y Eswar  |  GITAM University  |  M.Tech Data Science 2025–27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A34"/>
          </a:solidFill>
          <a:ln w="12700">
            <a:solidFill>
              <a:srgbClr val="0F7A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Expected Results — What Will We Achieve?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078992"/>
            <a:ext cx="2057400" cy="1572768"/>
          </a:xfrm>
          <a:prstGeom prst="rect">
            <a:avLst/>
          </a:prstGeom>
          <a:solidFill>
            <a:srgbClr val="0F7A34"/>
          </a:solidFill>
          <a:ln w="12700">
            <a:solidFill>
              <a:srgbClr val="0F7A3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111556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1168" y="15727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1168" y="215798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Power Wasted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Transmission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14016" y="1078992"/>
            <a:ext cx="2057400" cy="15727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14016" y="111556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14016" y="15727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14016" y="215798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 Error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(Very Accurate!)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1078992"/>
            <a:ext cx="2057400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11556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26864" y="15727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26864" y="215798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Emissions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078992"/>
            <a:ext cx="2057400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39712" y="111556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39712" y="15727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39712" y="215798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Uptime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99.2%)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" y="2798064"/>
            <a:ext cx="8741664" cy="59436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852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Energy Efficiency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423160" y="2871216"/>
            <a:ext cx="0" cy="438912"/>
          </a:xfrm>
          <a:prstGeom prst="line">
            <a:avLst/>
          </a:prstGeom>
          <a:noFill/>
          <a:ln w="1905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28529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less fossil fuel backup needed  •  8–15% peak demand reduced through smart demand response signals  •  20% better use of solar &amp; wind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" y="3483864"/>
            <a:ext cx="8741664" cy="59436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Forecasting Power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23160" y="3557016"/>
            <a:ext cx="0" cy="438912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78608" y="35387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 prediction: only 5% error  •  Solar forecast error: under 8%  •  35–40% better than traditional models like ARIMA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1168" y="4169664"/>
            <a:ext cx="8741664" cy="594360"/>
          </a:xfrm>
          <a:prstGeom prst="rect">
            <a:avLst/>
          </a:prstGeom>
          <a:solidFill>
            <a:srgbClr val="FDF4FF"/>
          </a:solidFill>
          <a:ln w="19050">
            <a:solidFill>
              <a:srgbClr val="D8B4F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&amp; Security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423160" y="4242816"/>
            <a:ext cx="0" cy="438912"/>
          </a:xfrm>
          <a:prstGeom prst="line">
            <a:avLst/>
          </a:prstGeom>
          <a:noFill/>
          <a:ln w="19050">
            <a:solidFill>
              <a:srgbClr val="D8B4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78608" y="42245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₹8–12 crore saved annually for a 500 MW utility  •  Faults detected 30% faster  •  95%+ cyberattack detection rate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Grids &amp; Sustainability  |  Y Eswar  |  GITAM University  |  M.Tech Data Science 2025–27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Conclusion — What Did We Learn?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8686800" cy="1353312"/>
          </a:xfrm>
          <a:prstGeom prst="rect">
            <a:avLst/>
          </a:prstGeom>
          <a:solidFill>
            <a:srgbClr val="ECFDF5"/>
          </a:solidFill>
          <a:ln w="2540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Big Takeaway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IoT sensors, AI forecasting, and reinforcement learning — we can transform old, wasteful power grids into intelligent systems that save electricity, cut costs, reduce carbon emissions, and support renewable energy. This is not just research — it is the future of energy infrastructure.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578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 — What Comes Next?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2971800"/>
            <a:ext cx="166420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971800"/>
            <a:ext cx="1664208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9718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1752" y="336499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" y="3694176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utilities train AI together without sharing private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84248" y="2971800"/>
            <a:ext cx="166420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84248" y="2971800"/>
            <a:ext cx="1664208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29718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🪞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57400" y="336499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3694176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virtual copy of the grid for safe simulation &amp; testing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39896" y="2971800"/>
            <a:ext cx="166420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39896" y="2971800"/>
            <a:ext cx="1664208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9896" y="29718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⛓️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13048" y="336499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Trading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13048" y="3694176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homes with solar panels sell excess power peer-to-peer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95544" y="2971800"/>
            <a:ext cx="166420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95544" y="2971800"/>
            <a:ext cx="1664208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95544" y="29718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68696" y="336499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Tracking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68696" y="3694176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CO₂ meter for every kilowatt-hour delivered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51192" y="2971800"/>
            <a:ext cx="166420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51192" y="2971800"/>
            <a:ext cx="1664208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51192" y="29718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24344" y="336499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24344" y="3694176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models directly on substation hardware — no cloud needed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Grids &amp; Sustainability  |  Y Eswar  |  GITAM University  |  M.Tech Data Science 2025–27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References  (APA 7th Edition)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060704"/>
            <a:ext cx="43159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60704"/>
            <a:ext cx="347472" cy="6766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060704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" y="1097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Ahmad, T., et al. (2019). Overview on data driven approaches for energy demand forecasting. Energy and Buildings, 165, 301–320.</a:t>
            </a:r>
            <a:endParaRPr lang="en-US" sz="75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603504" y="1536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u="sng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https://doi.org/10.1016/j.enbuild.2018.01.017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01168" y="1828800"/>
            <a:ext cx="43159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828800"/>
            <a:ext cx="347472" cy="6766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1828800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" y="186537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Fang, X., et al. (2012). Smart grid — The new and improved power grid: A survey. IEEE Comm. Surveys &amp; Tutorials, 14(4), 944–980.</a:t>
            </a:r>
            <a:endParaRPr lang="en-US" sz="750" dirty="0"/>
          </a:p>
        </p:txBody>
      </p:sp>
      <p:sp>
        <p:nvSpPr>
          <p:cNvPr id="16" name="Text 14">
            <a:hlinkClick r:id="rId2" tooltip=""/>
          </p:cNvPr>
          <p:cNvSpPr/>
          <p:nvPr/>
        </p:nvSpPr>
        <p:spPr>
          <a:xfrm>
            <a:off x="603504" y="23042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u="sng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https://doi.org/10.1109/SURV.2011.101911.00087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201168" y="2596896"/>
            <a:ext cx="43159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596896"/>
            <a:ext cx="347472" cy="6766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596896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" y="26334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Raza, M. Q., &amp; Khosravi, A. (2015). AI-based load demand forecasting for smart grid. Renewable &amp; Sustainable Energy Reviews, 50, 1352–1372.</a:t>
            </a:r>
            <a:endParaRPr lang="en-US" sz="750" dirty="0"/>
          </a:p>
        </p:txBody>
      </p:sp>
      <p:sp>
        <p:nvSpPr>
          <p:cNvPr id="21" name="Text 19">
            <a:hlinkClick r:id="rId3" tooltip=""/>
          </p:cNvPr>
          <p:cNvSpPr/>
          <p:nvPr/>
        </p:nvSpPr>
        <p:spPr>
          <a:xfrm>
            <a:off x="603504" y="3072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u="sng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https://doi.org/10.1016/j.rser.2015.04.065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01168" y="3364992"/>
            <a:ext cx="43159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364992"/>
            <a:ext cx="347472" cy="6766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364992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" y="34015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Zheng, J., et al. (2013). Smart meters in smart grid: An overview. IEEE Green Technologies Conference, 57–64.</a:t>
            </a:r>
            <a:endParaRPr lang="en-US" sz="750" dirty="0"/>
          </a:p>
        </p:txBody>
      </p:sp>
      <p:sp>
        <p:nvSpPr>
          <p:cNvPr id="26" name="Text 24">
            <a:hlinkClick r:id="rId4" tooltip=""/>
          </p:cNvPr>
          <p:cNvSpPr/>
          <p:nvPr/>
        </p:nvSpPr>
        <p:spPr>
          <a:xfrm>
            <a:off x="603504" y="38404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u="sng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https://doi.org/10.1109/GreenTech.2013.17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201168" y="4133088"/>
            <a:ext cx="43159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4133088"/>
            <a:ext cx="347472" cy="6766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4133088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" y="41696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Tan, Y. T., &amp; Kirschen, D. S. (2007). Co-optimization of energy and reserve in electricity markets. IEEE Trans. Power Systems, 21(4), 1778–1787.</a:t>
            </a:r>
            <a:endParaRPr lang="en-US" sz="750" dirty="0"/>
          </a:p>
        </p:txBody>
      </p:sp>
      <p:sp>
        <p:nvSpPr>
          <p:cNvPr id="31" name="Text 29">
            <a:hlinkClick r:id="rId5" tooltip=""/>
          </p:cNvPr>
          <p:cNvSpPr/>
          <p:nvPr/>
        </p:nvSpPr>
        <p:spPr>
          <a:xfrm>
            <a:off x="603504" y="46085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u="sng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https://doi.org/10.1109/TPWRS.2006.882426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773168" y="1060704"/>
            <a:ext cx="43159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1060704"/>
            <a:ext cx="347472" cy="676656"/>
          </a:xfrm>
          <a:prstGeom prst="rect">
            <a:avLst/>
          </a:prstGeom>
          <a:solidFill>
            <a:srgbClr val="0F7A3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1060704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75504" y="1097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Siano, P. (2014). Demand response and smart grids — A survey. Renewable &amp; Sustainable Energy Reviews, 30, 461–478.</a:t>
            </a:r>
            <a:endParaRPr lang="en-US" sz="750" dirty="0"/>
          </a:p>
        </p:txBody>
      </p:sp>
      <p:sp>
        <p:nvSpPr>
          <p:cNvPr id="36" name="Text 34">
            <a:hlinkClick r:id="rId6" tooltip=""/>
          </p:cNvPr>
          <p:cNvSpPr/>
          <p:nvPr/>
        </p:nvSpPr>
        <p:spPr>
          <a:xfrm>
            <a:off x="5175504" y="1536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u="sng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https://doi.org/10.1016/j.rser.2013.10.022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4773168" y="1828800"/>
            <a:ext cx="43159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73168" y="1828800"/>
            <a:ext cx="347472" cy="676656"/>
          </a:xfrm>
          <a:prstGeom prst="rect">
            <a:avLst/>
          </a:prstGeom>
          <a:solidFill>
            <a:srgbClr val="0F7A3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1828800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75504" y="186537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Hochreiter, S., &amp; Schmidhuber, J. (1997). Long short-term memory. Neural Computation, 9(8), 1735–1780.</a:t>
            </a:r>
            <a:endParaRPr lang="en-US" sz="750" dirty="0"/>
          </a:p>
        </p:txBody>
      </p:sp>
      <p:sp>
        <p:nvSpPr>
          <p:cNvPr id="41" name="Text 39">
            <a:hlinkClick r:id="rId7" tooltip=""/>
          </p:cNvPr>
          <p:cNvSpPr/>
          <p:nvPr/>
        </p:nvSpPr>
        <p:spPr>
          <a:xfrm>
            <a:off x="5175504" y="23042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u="sng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https://doi.org/10.1162/neco.1997.9.8.1735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4773168" y="2596896"/>
            <a:ext cx="43159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73168" y="2596896"/>
            <a:ext cx="347472" cy="676656"/>
          </a:xfrm>
          <a:prstGeom prst="rect">
            <a:avLst/>
          </a:prstGeom>
          <a:solidFill>
            <a:srgbClr val="0F7A3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2596896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75504" y="26334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Vaswani, A., et al. (2017). Attention is all you need. Advances in Neural Information Processing Systems, 30, 5998–6008.</a:t>
            </a:r>
            <a:endParaRPr lang="en-US" sz="750" dirty="0"/>
          </a:p>
        </p:txBody>
      </p:sp>
      <p:sp>
        <p:nvSpPr>
          <p:cNvPr id="46" name="Text 44">
            <a:hlinkClick r:id="rId8" tooltip=""/>
          </p:cNvPr>
          <p:cNvSpPr/>
          <p:nvPr/>
        </p:nvSpPr>
        <p:spPr>
          <a:xfrm>
            <a:off x="5175504" y="3072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u="sng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https://arxiv.org/abs/1706.03762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4773168" y="3364992"/>
            <a:ext cx="43159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73168" y="3364992"/>
            <a:ext cx="347472" cy="676656"/>
          </a:xfrm>
          <a:prstGeom prst="rect">
            <a:avLst/>
          </a:prstGeom>
          <a:solidFill>
            <a:srgbClr val="0F7A3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3364992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75504" y="34015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Energy Agency. (2023). World energy outlook 2023. IEA.</a:t>
            </a:r>
            <a:endParaRPr lang="en-US" sz="750" dirty="0"/>
          </a:p>
        </p:txBody>
      </p:sp>
      <p:sp>
        <p:nvSpPr>
          <p:cNvPr id="51" name="Text 49">
            <a:hlinkClick r:id="rId9" tooltip=""/>
          </p:cNvPr>
          <p:cNvSpPr/>
          <p:nvPr/>
        </p:nvSpPr>
        <p:spPr>
          <a:xfrm>
            <a:off x="5175504" y="38404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u="sng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https://www.iea.org/reports/world-energy-outlook-2023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4773168" y="4133088"/>
            <a:ext cx="43159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73168" y="4133088"/>
            <a:ext cx="347472" cy="676656"/>
          </a:xfrm>
          <a:prstGeom prst="rect">
            <a:avLst/>
          </a:prstGeom>
          <a:solidFill>
            <a:srgbClr val="0F7A3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4133088"/>
            <a:ext cx="347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75504" y="41696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Lowe, R., et al. (2017). Multi-agent actor-critic for mixed cooperative-competitive environments. NeurIPS, 30.</a:t>
            </a:r>
            <a:endParaRPr lang="en-US" sz="750" dirty="0"/>
          </a:p>
        </p:txBody>
      </p:sp>
      <p:sp>
        <p:nvSpPr>
          <p:cNvPr id="56" name="Text 54">
            <a:hlinkClick r:id="rId10" tooltip=""/>
          </p:cNvPr>
          <p:cNvSpPr/>
          <p:nvPr/>
        </p:nvSpPr>
        <p:spPr>
          <a:xfrm>
            <a:off x="5175504" y="46085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u="sng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https://arxiv.org/abs/1706.02275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F7A34"/>
          </a:solidFill>
          <a:ln w="12700">
            <a:solidFill>
              <a:srgbClr val="0F7A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0"/>
            <a:ext cx="9144000" cy="411480"/>
          </a:xfrm>
          <a:prstGeom prst="rect">
            <a:avLst/>
          </a:prstGeom>
          <a:solidFill>
            <a:srgbClr val="1DB954">
              <a:alpha val="40000"/>
            </a:srgbClr>
          </a:solidFill>
          <a:ln w="12700">
            <a:solidFill>
              <a:srgbClr val="1DB954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200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371600" y="239572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2944368"/>
            <a:ext cx="4572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0906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Eswar  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M.Tech Data Science (2025–2027)  |  GITAM University, Hyderabad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Grids &amp; Sustainability  •  Case Study #9  •  5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 Grids &amp; Sustainability</dc:title>
  <dc:subject>PptxGenJS Presentation</dc:subject>
  <dc:creator>Y Eswar</dc:creator>
  <cp:lastModifiedBy>Y Eswar</cp:lastModifiedBy>
  <cp:revision>1</cp:revision>
  <dcterms:created xsi:type="dcterms:W3CDTF">2026-03-08T06:16:04Z</dcterms:created>
  <dcterms:modified xsi:type="dcterms:W3CDTF">2026-03-08T06:16:04Z</dcterms:modified>
</cp:coreProperties>
</file>
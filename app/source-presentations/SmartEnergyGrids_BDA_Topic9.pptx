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6EE7B7"/>
                </a:solidFill>
                <a:latin typeface="Arial"/>
              </a:defRPr>
            </a:pPr>
            <a:r>
              <a:rPr sz="1200" b="0" i="0" u="none" strike="noStrike">
                <a:solidFill>
                  <a:srgbClr val="6EE7B7"/>
                </a:solidFill>
                <a:latin typeface="Arial"/>
              </a:rPr>
              <a:t>Demand Forecast Model Accuracy (%)</a:t>
            </a:r>
          </a:p>
        </c:rich>
      </c:tx>
      <c:layout/>
      <c:overlay val="0"/>
    </c:title>
    <c:autoTitleDeleted val="0"/>
    <c:plotArea>
      <c:layout/>
      <c:barChart>
        <c:barDir val="col"/>
        <c:grouping val="clustered"/>
        <c:varyColors val="0"/>
        <c:ser>
          <c:idx val="0"/>
          <c:order val="0"/>
          <c:tx>
            <c:strRef>
              <c:f>Sheet1!$B$1</c:f>
              <c:strCache>
                <c:ptCount val="1"/>
                <c:pt idx="0">
                  <c:v>Forecast Accuracy (%)</c:v>
                </c:pt>
              </c:strCache>
            </c:strRef>
          </c:tx>
          <c:spPr>
            <a:solidFill>
              <a:srgbClr val="6EE7B7"/>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6EE7B7"/>
              </a:solidFill>
              <a:effectLst/>
            </c:spPr>
          </c:dPt>
          <c:dPt>
            <c:idx val="1"/>
            <c:invertIfNegative val="0"/>
            <c:bubble3D val="0"/>
            <c:spPr>
              <a:solidFill>
                <a:srgbClr val="22C55E"/>
              </a:solidFill>
              <a:effectLst/>
            </c:spPr>
          </c:dPt>
          <c:dPt>
            <c:idx val="2"/>
            <c:invertIfNegative val="0"/>
            <c:bubble3D val="0"/>
            <c:spPr>
              <a:solidFill>
                <a:srgbClr val="A3E635"/>
              </a:solidFill>
              <a:effectLst/>
            </c:spPr>
          </c:dPt>
          <c:dPt>
            <c:idx val="3"/>
            <c:invertIfNegative val="0"/>
            <c:bubble3D val="0"/>
            <c:spPr>
              <a:solidFill>
                <a:srgbClr val="2DD4BF"/>
              </a:solidFill>
              <a:effectLst/>
            </c:spPr>
          </c:dPt>
          <c:cat>
            <c:multiLvlStrRef>
              <c:f>Sheet1!$A$2:$A$5</c:f>
              <c:multiLvlStrCache>
                <c:ptCount val="4"/>
                <c:lvl>
                  <c:pt idx="0">
                    <c:v>ARIMA</c:v>
                  </c:pt>
                  <c:pt idx="1">
                    <c:v>SVM</c:v>
                  </c:pt>
                  <c:pt idx="2">
                    <c:v>Random
Forest</c:v>
                  </c:pt>
                  <c:pt idx="3">
                    <c:v>LSTM</c:v>
                  </c:pt>
                </c:lvl>
              </c:multiLvlStrCache>
            </c:multiLvlStrRef>
          </c:cat>
          <c:val>
            <c:numRef>
              <c:f>Sheet1!$B$2:$B$5</c:f>
              <c:numCache>
                <c:formatCode>General</c:formatCode>
                <c:ptCount val="4"/>
                <c:pt idx="0">
                  <c:v>81.4</c:v>
                </c:pt>
                <c:pt idx="1">
                  <c:v>88.7</c:v>
                </c:pt>
                <c:pt idx="2">
                  <c:v>93.2</c:v>
                </c:pt>
                <c:pt idx="3">
                  <c:v>97.3</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E7B7"/>
                </a:solidFill>
                <a:latin typeface="Arial"/>
              </a:defRPr>
            </a:pPr>
            <a:endParaRPr lang="en-US"/>
          </a:p>
        </c:txPr>
        <c:crossAx val="2094734552"/>
        <c:crosses val="autoZero"/>
        <c:auto val="1"/>
        <c:lblAlgn val="ctr"/>
        <c:noMultiLvlLbl val="1"/>
      </c:catAx>
      <c:valAx>
        <c:axId val="2094734552"/>
        <c:scaling>
          <c:orientation val="minMax"/>
          <c:min val="75"/>
        </c:scaling>
        <c:delete val="0"/>
        <c:axPos val="l"/>
        <c:majorGridlines>
          <c:spPr>
            <a:ln w="6350" cap="flat">
              <a:solidFill>
                <a:srgbClr val="1C3B2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E7B7"/>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241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i.org/10.1109/SURV.2011.101911.00087" TargetMode="External"/><Relationship Id="rId2" Type="http://schemas.openxmlformats.org/officeDocument/2006/relationships/hyperlink" Target="https://doi.org/10.1109/COMST.2017.2707140" TargetMode="External"/><Relationship Id="rId3" Type="http://schemas.openxmlformats.org/officeDocument/2006/relationships/hyperlink" Target="https://doi.org/10.1109/TSG.2017.2753802" TargetMode="External"/><Relationship Id="rId4" Type="http://schemas.openxmlformats.org/officeDocument/2006/relationships/hyperlink" Target="https://doi.org/10.1016/j.rser.2016.01.011" TargetMode="External"/><Relationship Id="rId5" Type="http://schemas.openxmlformats.org/officeDocument/2006/relationships/hyperlink" Target="https://doi.org/10.1016/j.rser.2017.02.023"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2C55E"/>
          </a:solidFill>
          <a:ln w="12700">
            <a:solidFill>
              <a:srgbClr val="22C55E"/>
            </a:solidFill>
            <a:prstDash val="solid"/>
          </a:ln>
        </p:spPr>
      </p:sp>
      <p:sp>
        <p:nvSpPr>
          <p:cNvPr id="3" name="Text 1"/>
          <p:cNvSpPr/>
          <p:nvPr/>
        </p:nvSpPr>
        <p:spPr>
          <a:xfrm>
            <a:off x="365760" y="685800"/>
            <a:ext cx="841248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SMART ENERGY GRIDS</a:t>
            </a:r>
            <a:endParaRPr lang="en-US" sz="3800" dirty="0"/>
          </a:p>
        </p:txBody>
      </p:sp>
      <p:sp>
        <p:nvSpPr>
          <p:cNvPr id="4" name="Text 2"/>
          <p:cNvSpPr/>
          <p:nvPr/>
        </p:nvSpPr>
        <p:spPr>
          <a:xfrm>
            <a:off x="365760" y="1508760"/>
            <a:ext cx="8412480" cy="777240"/>
          </a:xfrm>
          <a:prstGeom prst="rect">
            <a:avLst/>
          </a:prstGeom>
          <a:noFill/>
          <a:ln/>
        </p:spPr>
        <p:txBody>
          <a:bodyPr wrap="square" lIns="0" tIns="0" rIns="0" bIns="0" rtlCol="0" anchor="ctr"/>
          <a:lstStyle/>
          <a:p>
            <a:pPr algn="l" indent="0" marL="0">
              <a:buNone/>
            </a:pPr>
            <a:r>
              <a:rPr lang="en-US" sz="3800" b="1" dirty="0">
                <a:solidFill>
                  <a:srgbClr val="22C55E"/>
                </a:solidFill>
                <a:latin typeface="Calibri" pitchFamily="34" charset="0"/>
                <a:ea typeface="Calibri" pitchFamily="34" charset="-122"/>
                <a:cs typeface="Calibri" pitchFamily="34" charset="-120"/>
              </a:rPr>
              <a:t>&amp; SUSTAINABILITY</a:t>
            </a:r>
            <a:endParaRPr lang="en-US" sz="3800" dirty="0"/>
          </a:p>
        </p:txBody>
      </p:sp>
      <p:sp>
        <p:nvSpPr>
          <p:cNvPr id="5" name="Text 3"/>
          <p:cNvSpPr/>
          <p:nvPr/>
        </p:nvSpPr>
        <p:spPr>
          <a:xfrm>
            <a:off x="365760" y="2377440"/>
            <a:ext cx="7315200" cy="457200"/>
          </a:xfrm>
          <a:prstGeom prst="rect">
            <a:avLst/>
          </a:prstGeom>
          <a:noFill/>
          <a:ln/>
        </p:spPr>
        <p:txBody>
          <a:bodyPr wrap="square" lIns="0" tIns="0" rIns="0" bIns="0" rtlCol="0" anchor="ctr"/>
          <a:lstStyle/>
          <a:p>
            <a:pPr indent="0" marL="0">
              <a:buNone/>
            </a:pPr>
            <a:r>
              <a:rPr lang="en-US" sz="1500" i="1" dirty="0">
                <a:solidFill>
                  <a:srgbClr val="D1FAE5"/>
                </a:solidFill>
                <a:latin typeface="Calibri" pitchFamily="34" charset="0"/>
                <a:ea typeface="Calibri" pitchFamily="34" charset="-122"/>
                <a:cs typeface="Calibri" pitchFamily="34" charset="-120"/>
              </a:rPr>
              <a:t>Data-Driven Power Distribution Optimization</a:t>
            </a:r>
            <a:endParaRPr lang="en-US" sz="1500" dirty="0"/>
          </a:p>
        </p:txBody>
      </p:sp>
      <p:sp>
        <p:nvSpPr>
          <p:cNvPr id="6" name="Shape 4"/>
          <p:cNvSpPr/>
          <p:nvPr/>
        </p:nvSpPr>
        <p:spPr>
          <a:xfrm>
            <a:off x="365760" y="2926080"/>
            <a:ext cx="4114800" cy="36576"/>
          </a:xfrm>
          <a:prstGeom prst="rect">
            <a:avLst/>
          </a:prstGeom>
          <a:solidFill>
            <a:srgbClr val="A3E635"/>
          </a:solidFill>
          <a:ln w="12700">
            <a:solidFill>
              <a:srgbClr val="A3E635"/>
            </a:solidFill>
            <a:prstDash val="solid"/>
          </a:ln>
        </p:spPr>
      </p:sp>
      <p:sp>
        <p:nvSpPr>
          <p:cNvPr id="7" name="Text 5"/>
          <p:cNvSpPr/>
          <p:nvPr/>
        </p:nvSpPr>
        <p:spPr>
          <a:xfrm>
            <a:off x="365760" y="3063240"/>
            <a:ext cx="548640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TOPIC 9  |  Big Data Analytics — Case Study</a:t>
            </a:r>
            <a:endParaRPr lang="en-US" sz="1300" dirty="0"/>
          </a:p>
        </p:txBody>
      </p:sp>
      <p:sp>
        <p:nvSpPr>
          <p:cNvPr id="8" name="Shape 6"/>
          <p:cNvSpPr/>
          <p:nvPr/>
        </p:nvSpPr>
        <p:spPr>
          <a:xfrm>
            <a:off x="0" y="4663440"/>
            <a:ext cx="9144000" cy="480060"/>
          </a:xfrm>
          <a:prstGeom prst="rect">
            <a:avLst/>
          </a:prstGeom>
          <a:solidFill>
            <a:srgbClr val="0D2418"/>
          </a:solidFill>
          <a:ln w="12700">
            <a:solidFill>
              <a:srgbClr val="0D2418"/>
            </a:solidFill>
            <a:prstDash val="solid"/>
          </a:ln>
        </p:spPr>
      </p:sp>
      <p:sp>
        <p:nvSpPr>
          <p:cNvPr id="9" name="Text 7"/>
          <p:cNvSpPr/>
          <p:nvPr/>
        </p:nvSpPr>
        <p:spPr>
          <a:xfrm>
            <a:off x="274320" y="4681728"/>
            <a:ext cx="8595360" cy="365760"/>
          </a:xfrm>
          <a:prstGeom prst="rect">
            <a:avLst/>
          </a:prstGeom>
          <a:noFill/>
          <a:ln/>
        </p:spPr>
        <p:txBody>
          <a:bodyPr wrap="square"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Big Data Analytics (BDA) | M.Tech Data Science | GITAM University, Hyderabad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418"/>
          </a:solidFill>
          <a:ln w="12700">
            <a:solidFill>
              <a:srgbClr val="0D2418"/>
            </a:solidFill>
            <a:prstDash val="solid"/>
          </a:ln>
        </p:spPr>
      </p:sp>
      <p:sp>
        <p:nvSpPr>
          <p:cNvPr id="3" name="Text 1"/>
          <p:cNvSpPr/>
          <p:nvPr/>
        </p:nvSpPr>
        <p:spPr>
          <a:xfrm>
            <a:off x="365760" y="109728"/>
            <a:ext cx="8229600" cy="594360"/>
          </a:xfrm>
          <a:prstGeom prst="rect">
            <a:avLst/>
          </a:prstGeom>
          <a:noFill/>
          <a:ln/>
        </p:spPr>
        <p:txBody>
          <a:bodyPr wrap="square" lIns="0" tIns="0" rIns="0" bIns="0" rtlCol="0" anchor="ctr"/>
          <a:lstStyle/>
          <a:p>
            <a:pPr indent="0" marL="0">
              <a:buNone/>
            </a:pPr>
            <a:r>
              <a:rPr lang="en-US" sz="2600" b="1" dirty="0">
                <a:solidFill>
                  <a:srgbClr val="22C55E"/>
                </a:solidFill>
                <a:latin typeface="Calibri" pitchFamily="34" charset="0"/>
                <a:ea typeface="Calibri" pitchFamily="34" charset="-122"/>
                <a:cs typeface="Calibri" pitchFamily="34" charset="-120"/>
              </a:rPr>
              <a:t>STUDENT DETAILS</a:t>
            </a:r>
            <a:endParaRPr lang="en-US" sz="2600" dirty="0"/>
          </a:p>
        </p:txBody>
      </p:sp>
      <p:sp>
        <p:nvSpPr>
          <p:cNvPr id="4" name="Shape 2"/>
          <p:cNvSpPr/>
          <p:nvPr/>
        </p:nvSpPr>
        <p:spPr>
          <a:xfrm>
            <a:off x="365760" y="960120"/>
            <a:ext cx="8412480" cy="457200"/>
          </a:xfrm>
          <a:prstGeom prst="rect">
            <a:avLst/>
          </a:prstGeom>
          <a:solidFill>
            <a:srgbClr val="0D2418"/>
          </a:solidFill>
          <a:ln w="12700">
            <a:solidFill>
              <a:srgbClr val="0D2418"/>
            </a:solidFill>
            <a:prstDash val="solid"/>
          </a:ln>
        </p:spPr>
      </p:sp>
      <p:sp>
        <p:nvSpPr>
          <p:cNvPr id="5" name="Text 3"/>
          <p:cNvSpPr/>
          <p:nvPr/>
        </p:nvSpPr>
        <p:spPr>
          <a:xfrm>
            <a:off x="502920" y="100584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Registration No.:</a:t>
            </a:r>
            <a:endParaRPr lang="en-US" sz="1300" dirty="0"/>
          </a:p>
        </p:txBody>
      </p:sp>
      <p:sp>
        <p:nvSpPr>
          <p:cNvPr id="6" name="Text 4"/>
          <p:cNvSpPr/>
          <p:nvPr/>
        </p:nvSpPr>
        <p:spPr>
          <a:xfrm>
            <a:off x="3200400" y="100584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2406XXXXX</a:t>
            </a:r>
            <a:endParaRPr lang="en-US" sz="1300" dirty="0"/>
          </a:p>
        </p:txBody>
      </p:sp>
      <p:sp>
        <p:nvSpPr>
          <p:cNvPr id="7" name="Shape 5"/>
          <p:cNvSpPr/>
          <p:nvPr/>
        </p:nvSpPr>
        <p:spPr>
          <a:xfrm>
            <a:off x="365760" y="1508760"/>
            <a:ext cx="8412480" cy="457200"/>
          </a:xfrm>
          <a:prstGeom prst="rect">
            <a:avLst/>
          </a:prstGeom>
          <a:solidFill>
            <a:srgbClr val="091A10"/>
          </a:solidFill>
          <a:ln w="12700">
            <a:solidFill>
              <a:srgbClr val="0D2418"/>
            </a:solidFill>
            <a:prstDash val="solid"/>
          </a:ln>
        </p:spPr>
      </p:sp>
      <p:sp>
        <p:nvSpPr>
          <p:cNvPr id="8" name="Text 6"/>
          <p:cNvSpPr/>
          <p:nvPr/>
        </p:nvSpPr>
        <p:spPr>
          <a:xfrm>
            <a:off x="502920" y="155448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Name:</a:t>
            </a:r>
            <a:endParaRPr lang="en-US" sz="1300" dirty="0"/>
          </a:p>
        </p:txBody>
      </p:sp>
      <p:sp>
        <p:nvSpPr>
          <p:cNvPr id="9" name="Text 7"/>
          <p:cNvSpPr/>
          <p:nvPr/>
        </p:nvSpPr>
        <p:spPr>
          <a:xfrm>
            <a:off x="3200400" y="155448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Y Eswar</a:t>
            </a:r>
            <a:endParaRPr lang="en-US" sz="1300" dirty="0"/>
          </a:p>
        </p:txBody>
      </p:sp>
      <p:sp>
        <p:nvSpPr>
          <p:cNvPr id="10" name="Shape 8"/>
          <p:cNvSpPr/>
          <p:nvPr/>
        </p:nvSpPr>
        <p:spPr>
          <a:xfrm>
            <a:off x="365760" y="2057400"/>
            <a:ext cx="8412480" cy="457200"/>
          </a:xfrm>
          <a:prstGeom prst="rect">
            <a:avLst/>
          </a:prstGeom>
          <a:solidFill>
            <a:srgbClr val="0D2418"/>
          </a:solidFill>
          <a:ln w="12700">
            <a:solidFill>
              <a:srgbClr val="0D2418"/>
            </a:solidFill>
            <a:prstDash val="solid"/>
          </a:ln>
        </p:spPr>
      </p:sp>
      <p:sp>
        <p:nvSpPr>
          <p:cNvPr id="11" name="Text 9"/>
          <p:cNvSpPr/>
          <p:nvPr/>
        </p:nvSpPr>
        <p:spPr>
          <a:xfrm>
            <a:off x="502920" y="210312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Email ID:</a:t>
            </a:r>
            <a:endParaRPr lang="en-US" sz="1300" dirty="0"/>
          </a:p>
        </p:txBody>
      </p:sp>
      <p:sp>
        <p:nvSpPr>
          <p:cNvPr id="12" name="Text 10"/>
          <p:cNvSpPr/>
          <p:nvPr/>
        </p:nvSpPr>
        <p:spPr>
          <a:xfrm>
            <a:off x="3200400" y="210312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eswar854@example.com</a:t>
            </a:r>
            <a:endParaRPr lang="en-US" sz="1300" dirty="0"/>
          </a:p>
        </p:txBody>
      </p:sp>
      <p:sp>
        <p:nvSpPr>
          <p:cNvPr id="13" name="Shape 11"/>
          <p:cNvSpPr/>
          <p:nvPr/>
        </p:nvSpPr>
        <p:spPr>
          <a:xfrm>
            <a:off x="365760" y="2606040"/>
            <a:ext cx="8412480" cy="457200"/>
          </a:xfrm>
          <a:prstGeom prst="rect">
            <a:avLst/>
          </a:prstGeom>
          <a:solidFill>
            <a:srgbClr val="091A10"/>
          </a:solidFill>
          <a:ln w="12700">
            <a:solidFill>
              <a:srgbClr val="0D2418"/>
            </a:solidFill>
            <a:prstDash val="solid"/>
          </a:ln>
        </p:spPr>
      </p:sp>
      <p:sp>
        <p:nvSpPr>
          <p:cNvPr id="14" name="Text 12"/>
          <p:cNvSpPr/>
          <p:nvPr/>
        </p:nvSpPr>
        <p:spPr>
          <a:xfrm>
            <a:off x="502920" y="265176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Program:</a:t>
            </a:r>
            <a:endParaRPr lang="en-US" sz="1300" dirty="0"/>
          </a:p>
        </p:txBody>
      </p:sp>
      <p:sp>
        <p:nvSpPr>
          <p:cNvPr id="15" name="Text 13"/>
          <p:cNvSpPr/>
          <p:nvPr/>
        </p:nvSpPr>
        <p:spPr>
          <a:xfrm>
            <a:off x="3200400" y="265176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M.Tech — Data Science (2025–2027)</a:t>
            </a:r>
            <a:endParaRPr lang="en-US" sz="1300" dirty="0"/>
          </a:p>
        </p:txBody>
      </p:sp>
      <p:sp>
        <p:nvSpPr>
          <p:cNvPr id="16" name="Shape 14"/>
          <p:cNvSpPr/>
          <p:nvPr/>
        </p:nvSpPr>
        <p:spPr>
          <a:xfrm>
            <a:off x="365760" y="3154680"/>
            <a:ext cx="8412480" cy="457200"/>
          </a:xfrm>
          <a:prstGeom prst="rect">
            <a:avLst/>
          </a:prstGeom>
          <a:solidFill>
            <a:srgbClr val="0D2418"/>
          </a:solidFill>
          <a:ln w="12700">
            <a:solidFill>
              <a:srgbClr val="0D2418"/>
            </a:solidFill>
            <a:prstDash val="solid"/>
          </a:ln>
        </p:spPr>
      </p:sp>
      <p:sp>
        <p:nvSpPr>
          <p:cNvPr id="17" name="Text 15"/>
          <p:cNvSpPr/>
          <p:nvPr/>
        </p:nvSpPr>
        <p:spPr>
          <a:xfrm>
            <a:off x="502920" y="320040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University:</a:t>
            </a:r>
            <a:endParaRPr lang="en-US" sz="1300" dirty="0"/>
          </a:p>
        </p:txBody>
      </p:sp>
      <p:sp>
        <p:nvSpPr>
          <p:cNvPr id="18" name="Text 16"/>
          <p:cNvSpPr/>
          <p:nvPr/>
        </p:nvSpPr>
        <p:spPr>
          <a:xfrm>
            <a:off x="3200400" y="320040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GITAM University, Hyderabad</a:t>
            </a:r>
            <a:endParaRPr lang="en-US" sz="1300" dirty="0"/>
          </a:p>
        </p:txBody>
      </p:sp>
      <p:sp>
        <p:nvSpPr>
          <p:cNvPr id="19" name="Shape 17"/>
          <p:cNvSpPr/>
          <p:nvPr/>
        </p:nvSpPr>
        <p:spPr>
          <a:xfrm>
            <a:off x="365760" y="3703320"/>
            <a:ext cx="8412480" cy="457200"/>
          </a:xfrm>
          <a:prstGeom prst="rect">
            <a:avLst/>
          </a:prstGeom>
          <a:solidFill>
            <a:srgbClr val="091A10"/>
          </a:solidFill>
          <a:ln w="12700">
            <a:solidFill>
              <a:srgbClr val="0D2418"/>
            </a:solidFill>
            <a:prstDash val="solid"/>
          </a:ln>
        </p:spPr>
      </p:sp>
      <p:sp>
        <p:nvSpPr>
          <p:cNvPr id="20" name="Text 18"/>
          <p:cNvSpPr/>
          <p:nvPr/>
        </p:nvSpPr>
        <p:spPr>
          <a:xfrm>
            <a:off x="502920" y="374904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Subject:</a:t>
            </a:r>
            <a:endParaRPr lang="en-US" sz="1300" dirty="0"/>
          </a:p>
        </p:txBody>
      </p:sp>
      <p:sp>
        <p:nvSpPr>
          <p:cNvPr id="21" name="Text 19"/>
          <p:cNvSpPr/>
          <p:nvPr/>
        </p:nvSpPr>
        <p:spPr>
          <a:xfrm>
            <a:off x="3200400" y="374904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Big Data Analytics (BDA)</a:t>
            </a:r>
            <a:endParaRPr lang="en-US" sz="1300" dirty="0"/>
          </a:p>
        </p:txBody>
      </p:sp>
      <p:sp>
        <p:nvSpPr>
          <p:cNvPr id="22" name="Shape 20"/>
          <p:cNvSpPr/>
          <p:nvPr/>
        </p:nvSpPr>
        <p:spPr>
          <a:xfrm>
            <a:off x="365760" y="4251960"/>
            <a:ext cx="8412480" cy="457200"/>
          </a:xfrm>
          <a:prstGeom prst="rect">
            <a:avLst/>
          </a:prstGeom>
          <a:solidFill>
            <a:srgbClr val="0D2418"/>
          </a:solidFill>
          <a:ln w="12700">
            <a:solidFill>
              <a:srgbClr val="0D2418"/>
            </a:solidFill>
            <a:prstDash val="solid"/>
          </a:ln>
        </p:spPr>
      </p:sp>
      <p:sp>
        <p:nvSpPr>
          <p:cNvPr id="23" name="Text 21"/>
          <p:cNvSpPr/>
          <p:nvPr/>
        </p:nvSpPr>
        <p:spPr>
          <a:xfrm>
            <a:off x="502920" y="4297680"/>
            <a:ext cx="256032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Date of Submission:</a:t>
            </a:r>
            <a:endParaRPr lang="en-US" sz="1300" dirty="0"/>
          </a:p>
        </p:txBody>
      </p:sp>
      <p:sp>
        <p:nvSpPr>
          <p:cNvPr id="24" name="Text 22"/>
          <p:cNvSpPr/>
          <p:nvPr/>
        </p:nvSpPr>
        <p:spPr>
          <a:xfrm>
            <a:off x="3200400" y="429768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5th March 2026</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2C55E"/>
          </a:solidFill>
          <a:ln w="12700">
            <a:solidFill>
              <a:srgbClr val="22C55E"/>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800" b="1" dirty="0">
                <a:solidFill>
                  <a:srgbClr val="071A0F"/>
                </a:solidFill>
                <a:latin typeface="Calibri" pitchFamily="34" charset="0"/>
                <a:ea typeface="Calibri" pitchFamily="34" charset="-122"/>
                <a:cs typeface="Calibri" pitchFamily="34" charset="-120"/>
              </a:rPr>
              <a:t>ABSTRACT</a:t>
            </a:r>
            <a:endParaRPr lang="en-US" sz="2800" dirty="0"/>
          </a:p>
        </p:txBody>
      </p:sp>
      <p:sp>
        <p:nvSpPr>
          <p:cNvPr id="4" name="Text 2"/>
          <p:cNvSpPr/>
          <p:nvPr/>
        </p:nvSpPr>
        <p:spPr>
          <a:xfrm>
            <a:off x="365760" y="914400"/>
            <a:ext cx="8412480" cy="3931920"/>
          </a:xfrm>
          <a:prstGeom prst="rect">
            <a:avLst/>
          </a:prstGeom>
          <a:noFill/>
          <a:ln/>
        </p:spPr>
        <p:txBody>
          <a:bodyPr wrap="square" rtlCol="0" anchor="t"/>
          <a:lstStyle/>
          <a:p>
            <a:pPr algn="l" indent="0" marL="0">
              <a:buNone/>
            </a:pPr>
            <a:r>
              <a:rPr lang="en-US" sz="1300" dirty="0">
                <a:solidFill>
                  <a:srgbClr val="D1FAE5"/>
                </a:solidFill>
                <a:latin typeface="Calibri" pitchFamily="34" charset="0"/>
                <a:ea typeface="Calibri" pitchFamily="34" charset="-122"/>
                <a:cs typeface="Calibri" pitchFamily="34" charset="-120"/>
              </a:rPr>
              <a:t>The global energy sector is undergoing a paradigm shift driven by renewable integration, rising demand, and climate sustainability goals. Traditional power grids, designed for one-directional flow, are ill-equipped to handle the complexity of modern distributed energy resources (DERs) and dynamic consumption patterns.</a:t>
            </a:r>
            <a:endParaRPr lang="en-US" sz="1300" dirty="0"/>
          </a:p>
          <a:p>
            <a:pPr algn="l" indent="0" marL="0">
              <a:buNone/>
            </a:pPr>
            <a:endParaRPr lang="en-US" sz="1300" dirty="0"/>
          </a:p>
          <a:p>
            <a:pPr algn="l" indent="0" marL="0">
              <a:buNone/>
            </a:pPr>
            <a:r>
              <a:rPr lang="en-US" sz="1300" dirty="0">
                <a:solidFill>
                  <a:srgbClr val="D1FAE5"/>
                </a:solidFill>
                <a:latin typeface="Calibri" pitchFamily="34" charset="0"/>
                <a:ea typeface="Calibri" pitchFamily="34" charset="-122"/>
                <a:cs typeface="Calibri" pitchFamily="34" charset="-120"/>
              </a:rPr>
              <a:t>Smart Energy Grids leverage Big Data Analytics, IoT sensors, machine learning, and real-time processing platforms (Apache Kafka, Spark) to enable intelligent, self-healing, and adaptive power distribution. This case study examines how terabytes of smart meter data, weather feeds, and grid sensor streams are analyzed to optimize load balancing, predict demand fluctuations, detect faults, and maximize renewable energy utilization.</a:t>
            </a:r>
            <a:endParaRPr lang="en-US" sz="1300" dirty="0"/>
          </a:p>
          <a:p>
            <a:pPr algn="l" indent="0" marL="0">
              <a:buNone/>
            </a:pPr>
            <a:endParaRPr lang="en-US" sz="1300" dirty="0"/>
          </a:p>
          <a:p>
            <a:pPr algn="l" indent="0" marL="0">
              <a:buNone/>
            </a:pPr>
            <a:r>
              <a:rPr lang="en-US" sz="1300" dirty="0">
                <a:solidFill>
                  <a:srgbClr val="D1FAE5"/>
                </a:solidFill>
                <a:latin typeface="Calibri" pitchFamily="34" charset="0"/>
                <a:ea typeface="Calibri" pitchFamily="34" charset="-122"/>
                <a:cs typeface="Calibri" pitchFamily="34" charset="-120"/>
              </a:rPr>
              <a:t>Proposed solutions demonstrate 18–25% energy efficiency improvements, 40% reduction in grid outage duration, and significant reductions in carbon emissions — positioning Big Data as the cornerstone of sustainable energy infrastructure in the era of Industry 4.0 and Net Zero targets.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A3E635"/>
          </a:solidFill>
          <a:ln w="12700">
            <a:solidFill>
              <a:srgbClr val="A3E635"/>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800" b="1" dirty="0">
                <a:solidFill>
                  <a:srgbClr val="071A0F"/>
                </a:solidFill>
                <a:latin typeface="Calibri" pitchFamily="34" charset="0"/>
                <a:ea typeface="Calibri" pitchFamily="34" charset="-122"/>
                <a:cs typeface="Calibri" pitchFamily="34" charset="-120"/>
              </a:rPr>
              <a:t>KEYWORDS</a:t>
            </a:r>
            <a:endParaRPr lang="en-US" sz="2800" dirty="0"/>
          </a:p>
        </p:txBody>
      </p:sp>
      <p:sp>
        <p:nvSpPr>
          <p:cNvPr id="4" name="Shape 2"/>
          <p:cNvSpPr/>
          <p:nvPr/>
        </p:nvSpPr>
        <p:spPr>
          <a:xfrm>
            <a:off x="365760" y="100584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457200" y="109728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Smart Energy Grid</a:t>
            </a:r>
            <a:endParaRPr lang="en-US" sz="1200" dirty="0"/>
          </a:p>
        </p:txBody>
      </p:sp>
      <p:sp>
        <p:nvSpPr>
          <p:cNvPr id="6" name="Shape 4"/>
          <p:cNvSpPr/>
          <p:nvPr/>
        </p:nvSpPr>
        <p:spPr>
          <a:xfrm>
            <a:off x="365760" y="187452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457200" y="196596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Big Data Analytics</a:t>
            </a:r>
            <a:endParaRPr lang="en-US" sz="1200" dirty="0"/>
          </a:p>
        </p:txBody>
      </p:sp>
      <p:sp>
        <p:nvSpPr>
          <p:cNvPr id="8" name="Shape 6"/>
          <p:cNvSpPr/>
          <p:nvPr/>
        </p:nvSpPr>
        <p:spPr>
          <a:xfrm>
            <a:off x="365760" y="274320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457200" y="283464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Demand Forecasting</a:t>
            </a:r>
            <a:endParaRPr lang="en-US" sz="1200" dirty="0"/>
          </a:p>
        </p:txBody>
      </p:sp>
      <p:sp>
        <p:nvSpPr>
          <p:cNvPr id="10" name="Shape 8"/>
          <p:cNvSpPr/>
          <p:nvPr/>
        </p:nvSpPr>
        <p:spPr>
          <a:xfrm>
            <a:off x="365760" y="361188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457200" y="370332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Load Balancing</a:t>
            </a:r>
            <a:endParaRPr lang="en-US" sz="1200" dirty="0"/>
          </a:p>
        </p:txBody>
      </p:sp>
      <p:sp>
        <p:nvSpPr>
          <p:cNvPr id="12" name="Shape 10"/>
          <p:cNvSpPr/>
          <p:nvPr/>
        </p:nvSpPr>
        <p:spPr>
          <a:xfrm>
            <a:off x="3291840" y="100584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3" name="Text 11"/>
          <p:cNvSpPr/>
          <p:nvPr/>
        </p:nvSpPr>
        <p:spPr>
          <a:xfrm>
            <a:off x="3383280" y="109728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Renewable Energy</a:t>
            </a:r>
            <a:endParaRPr lang="en-US" sz="1200" dirty="0"/>
          </a:p>
        </p:txBody>
      </p:sp>
      <p:sp>
        <p:nvSpPr>
          <p:cNvPr id="14" name="Shape 12"/>
          <p:cNvSpPr/>
          <p:nvPr/>
        </p:nvSpPr>
        <p:spPr>
          <a:xfrm>
            <a:off x="3291840" y="187452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3383280" y="196596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IoT Sensor Networks</a:t>
            </a:r>
            <a:endParaRPr lang="en-US" sz="1200" dirty="0"/>
          </a:p>
        </p:txBody>
      </p:sp>
      <p:sp>
        <p:nvSpPr>
          <p:cNvPr id="16" name="Shape 14"/>
          <p:cNvSpPr/>
          <p:nvPr/>
        </p:nvSpPr>
        <p:spPr>
          <a:xfrm>
            <a:off x="3291840" y="274320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7" name="Text 15"/>
          <p:cNvSpPr/>
          <p:nvPr/>
        </p:nvSpPr>
        <p:spPr>
          <a:xfrm>
            <a:off x="3383280" y="283464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Apache Kafka / Spark</a:t>
            </a:r>
            <a:endParaRPr lang="en-US" sz="1200" dirty="0"/>
          </a:p>
        </p:txBody>
      </p:sp>
      <p:sp>
        <p:nvSpPr>
          <p:cNvPr id="18" name="Shape 16"/>
          <p:cNvSpPr/>
          <p:nvPr/>
        </p:nvSpPr>
        <p:spPr>
          <a:xfrm>
            <a:off x="3291840" y="361188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9" name="Text 17"/>
          <p:cNvSpPr/>
          <p:nvPr/>
        </p:nvSpPr>
        <p:spPr>
          <a:xfrm>
            <a:off x="3383280" y="370332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Anomaly Detection</a:t>
            </a:r>
            <a:endParaRPr lang="en-US" sz="1200" dirty="0"/>
          </a:p>
        </p:txBody>
      </p:sp>
      <p:sp>
        <p:nvSpPr>
          <p:cNvPr id="20" name="Shape 18"/>
          <p:cNvSpPr/>
          <p:nvPr/>
        </p:nvSpPr>
        <p:spPr>
          <a:xfrm>
            <a:off x="6217920" y="100584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1" name="Text 19"/>
          <p:cNvSpPr/>
          <p:nvPr/>
        </p:nvSpPr>
        <p:spPr>
          <a:xfrm>
            <a:off x="6309360" y="109728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Distributed Energy Resources</a:t>
            </a:r>
            <a:endParaRPr lang="en-US" sz="1200" dirty="0"/>
          </a:p>
        </p:txBody>
      </p:sp>
      <p:sp>
        <p:nvSpPr>
          <p:cNvPr id="22" name="Shape 20"/>
          <p:cNvSpPr/>
          <p:nvPr/>
        </p:nvSpPr>
        <p:spPr>
          <a:xfrm>
            <a:off x="6217920" y="187452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3" name="Text 21"/>
          <p:cNvSpPr/>
          <p:nvPr/>
        </p:nvSpPr>
        <p:spPr>
          <a:xfrm>
            <a:off x="6309360" y="196596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Net Zero Emissions</a:t>
            </a:r>
            <a:endParaRPr lang="en-US" sz="1200" dirty="0"/>
          </a:p>
        </p:txBody>
      </p:sp>
      <p:sp>
        <p:nvSpPr>
          <p:cNvPr id="24" name="Shape 22"/>
          <p:cNvSpPr/>
          <p:nvPr/>
        </p:nvSpPr>
        <p:spPr>
          <a:xfrm>
            <a:off x="6217920" y="274320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5" name="Text 23"/>
          <p:cNvSpPr/>
          <p:nvPr/>
        </p:nvSpPr>
        <p:spPr>
          <a:xfrm>
            <a:off x="6309360" y="283464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Self-Healing Grid</a:t>
            </a:r>
            <a:endParaRPr lang="en-US" sz="1200" dirty="0"/>
          </a:p>
        </p:txBody>
      </p:sp>
      <p:sp>
        <p:nvSpPr>
          <p:cNvPr id="26" name="Shape 24"/>
          <p:cNvSpPr/>
          <p:nvPr/>
        </p:nvSpPr>
        <p:spPr>
          <a:xfrm>
            <a:off x="6217920" y="3611880"/>
            <a:ext cx="2743200" cy="6400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7" name="Text 25"/>
          <p:cNvSpPr/>
          <p:nvPr/>
        </p:nvSpPr>
        <p:spPr>
          <a:xfrm>
            <a:off x="6309360" y="3703320"/>
            <a:ext cx="25603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Energy Efficiency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418"/>
          </a:solidFill>
          <a:ln w="12700">
            <a:solidFill>
              <a:srgbClr val="0D2418"/>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800" b="1" dirty="0">
                <a:solidFill>
                  <a:srgbClr val="22C55E"/>
                </a:solidFill>
                <a:latin typeface="Calibri" pitchFamily="34" charset="0"/>
                <a:ea typeface="Calibri" pitchFamily="34" charset="-122"/>
                <a:cs typeface="Calibri" pitchFamily="34" charset="-120"/>
              </a:rPr>
              <a:t>INTRODUCTION</a:t>
            </a:r>
            <a:endParaRPr lang="en-US" sz="2800" dirty="0"/>
          </a:p>
        </p:txBody>
      </p:sp>
      <p:sp>
        <p:nvSpPr>
          <p:cNvPr id="4" name="Text 2"/>
          <p:cNvSpPr/>
          <p:nvPr/>
        </p:nvSpPr>
        <p:spPr>
          <a:xfrm>
            <a:off x="365760" y="914400"/>
            <a:ext cx="5303520" cy="4023360"/>
          </a:xfrm>
          <a:prstGeom prst="rect">
            <a:avLst/>
          </a:prstGeom>
          <a:noFill/>
          <a:ln/>
        </p:spPr>
        <p:txBody>
          <a:bodyPr wrap="square" rtlCol="0" anchor="t"/>
          <a:lstStyle/>
          <a:p>
            <a:pPr indent="0" marL="0">
              <a:buNone/>
            </a:pPr>
            <a:r>
              <a:rPr lang="en-US" sz="1250" b="1" dirty="0">
                <a:solidFill>
                  <a:srgbClr val="A3E635"/>
                </a:solidFill>
                <a:latin typeface="Calibri" pitchFamily="34" charset="0"/>
                <a:ea typeface="Calibri" pitchFamily="34" charset="-122"/>
                <a:cs typeface="Calibri" pitchFamily="34" charset="-120"/>
              </a:rPr>
              <a:t>1.  </a:t>
            </a:r>
            <a:pPr indent="0" marL="0">
              <a:buNone/>
            </a:pPr>
            <a:r>
              <a:rPr lang="en-US" sz="1250" dirty="0">
                <a:solidFill>
                  <a:srgbClr val="D1FAE5"/>
                </a:solidFill>
                <a:latin typeface="Calibri" pitchFamily="34" charset="0"/>
                <a:ea typeface="Calibri" pitchFamily="34" charset="-122"/>
                <a:cs typeface="Calibri" pitchFamily="34" charset="-120"/>
              </a:rPr>
              <a:t>Global electricity demand is projected to grow by 60% by 2040 (IEA, 2023), stressing legacy grid infrastructure.
</a:t>
            </a:r>
            <a:pPr indent="0" marL="0">
              <a:buNone/>
            </a:pPr>
            <a:r>
              <a:rPr lang="en-US" sz="1250" b="1" dirty="0">
                <a:solidFill>
                  <a:srgbClr val="A3E635"/>
                </a:solidFill>
                <a:latin typeface="Calibri" pitchFamily="34" charset="0"/>
                <a:ea typeface="Calibri" pitchFamily="34" charset="-122"/>
                <a:cs typeface="Calibri" pitchFamily="34" charset="-120"/>
              </a:rPr>
              <a:t>2.  </a:t>
            </a:r>
            <a:pPr indent="0" marL="0">
              <a:buNone/>
            </a:pPr>
            <a:r>
              <a:rPr lang="en-US" sz="1250" dirty="0">
                <a:solidFill>
                  <a:srgbClr val="D1FAE5"/>
                </a:solidFill>
                <a:latin typeface="Calibri" pitchFamily="34" charset="0"/>
                <a:ea typeface="Calibri" pitchFamily="34" charset="-122"/>
                <a:cs typeface="Calibri" pitchFamily="34" charset="-120"/>
              </a:rPr>
              <a:t>Traditional grids: centralized, unidirectional power flow — unable to handle renewable energy variability.
</a:t>
            </a:r>
            <a:pPr indent="0" marL="0">
              <a:buNone/>
            </a:pPr>
            <a:r>
              <a:rPr lang="en-US" sz="1250" b="1" dirty="0">
                <a:solidFill>
                  <a:srgbClr val="A3E635"/>
                </a:solidFill>
                <a:latin typeface="Calibri" pitchFamily="34" charset="0"/>
                <a:ea typeface="Calibri" pitchFamily="34" charset="-122"/>
                <a:cs typeface="Calibri" pitchFamily="34" charset="-120"/>
              </a:rPr>
              <a:t>3.  </a:t>
            </a:r>
            <a:pPr indent="0" marL="0">
              <a:buNone/>
            </a:pPr>
            <a:r>
              <a:rPr lang="en-US" sz="1250" dirty="0">
                <a:solidFill>
                  <a:srgbClr val="D1FAE5"/>
                </a:solidFill>
                <a:latin typeface="Calibri" pitchFamily="34" charset="0"/>
                <a:ea typeface="Calibri" pitchFamily="34" charset="-122"/>
                <a:cs typeface="Calibri" pitchFamily="34" charset="-120"/>
              </a:rPr>
              <a:t>Smart Grids integrate IoT sensors, smart meters, and real-time analytics for two-way power &amp; data flow.
</a:t>
            </a:r>
            <a:pPr indent="0" marL="0">
              <a:buNone/>
            </a:pPr>
            <a:r>
              <a:rPr lang="en-US" sz="1250" b="1" dirty="0">
                <a:solidFill>
                  <a:srgbClr val="A3E635"/>
                </a:solidFill>
                <a:latin typeface="Calibri" pitchFamily="34" charset="0"/>
                <a:ea typeface="Calibri" pitchFamily="34" charset="-122"/>
                <a:cs typeface="Calibri" pitchFamily="34" charset="-120"/>
              </a:rPr>
              <a:t>4.  </a:t>
            </a:r>
            <a:pPr indent="0" marL="0">
              <a:buNone/>
            </a:pPr>
            <a:r>
              <a:rPr lang="en-US" sz="1250" dirty="0">
                <a:solidFill>
                  <a:srgbClr val="D1FAE5"/>
                </a:solidFill>
                <a:latin typeface="Calibri" pitchFamily="34" charset="0"/>
                <a:ea typeface="Calibri" pitchFamily="34" charset="-122"/>
                <a:cs typeface="Calibri" pitchFamily="34" charset="-120"/>
              </a:rPr>
              <a:t>Big Data from millions of smart meters: 15-min interval readings, events, alerts — petabytes annually.
</a:t>
            </a:r>
            <a:pPr indent="0" marL="0">
              <a:buNone/>
            </a:pPr>
            <a:r>
              <a:rPr lang="en-US" sz="1250" b="1" dirty="0">
                <a:solidFill>
                  <a:srgbClr val="A3E635"/>
                </a:solidFill>
                <a:latin typeface="Calibri" pitchFamily="34" charset="0"/>
                <a:ea typeface="Calibri" pitchFamily="34" charset="-122"/>
                <a:cs typeface="Calibri" pitchFamily="34" charset="-120"/>
              </a:rPr>
              <a:t>5.  </a:t>
            </a:r>
            <a:pPr indent="0" marL="0">
              <a:buNone/>
            </a:pPr>
            <a:r>
              <a:rPr lang="en-US" sz="1250" dirty="0">
                <a:solidFill>
                  <a:srgbClr val="D1FAE5"/>
                </a:solidFill>
                <a:latin typeface="Calibri" pitchFamily="34" charset="0"/>
                <a:ea typeface="Calibri" pitchFamily="34" charset="-122"/>
                <a:cs typeface="Calibri" pitchFamily="34" charset="-120"/>
              </a:rPr>
              <a:t>Key Big Data tools: Apache Kafka (streaming), Hadoop/Spark (batch + real-time), InfluxDB (time-series).
</a:t>
            </a:r>
            <a:pPr indent="0" marL="0">
              <a:buNone/>
            </a:pPr>
            <a:r>
              <a:rPr lang="en-US" sz="1250" b="1" dirty="0">
                <a:solidFill>
                  <a:srgbClr val="A3E635"/>
                </a:solidFill>
                <a:latin typeface="Calibri" pitchFamily="34" charset="0"/>
                <a:ea typeface="Calibri" pitchFamily="34" charset="-122"/>
                <a:cs typeface="Calibri" pitchFamily="34" charset="-120"/>
              </a:rPr>
              <a:t>6.  </a:t>
            </a:r>
            <a:pPr indent="0" marL="0">
              <a:buNone/>
            </a:pPr>
            <a:r>
              <a:rPr lang="en-US" sz="1250" dirty="0">
                <a:solidFill>
                  <a:srgbClr val="D1FAE5"/>
                </a:solidFill>
                <a:latin typeface="Calibri" pitchFamily="34" charset="0"/>
                <a:ea typeface="Calibri" pitchFamily="34" charset="-122"/>
                <a:cs typeface="Calibri" pitchFamily="34" charset="-120"/>
              </a:rPr>
              <a:t>Sustainability goals (Paris Agreement, Net Zero 2050) demand data-driven optimization of energy distribution.</a:t>
            </a:r>
            <a:endParaRPr lang="en-US" sz="1250" dirty="0"/>
          </a:p>
        </p:txBody>
      </p:sp>
      <p:sp>
        <p:nvSpPr>
          <p:cNvPr id="5" name="Shape 3"/>
          <p:cNvSpPr/>
          <p:nvPr/>
        </p:nvSpPr>
        <p:spPr>
          <a:xfrm>
            <a:off x="5943600" y="914400"/>
            <a:ext cx="2834640" cy="1097280"/>
          </a:xfrm>
          <a:prstGeom prst="rect">
            <a:avLst/>
          </a:prstGeom>
          <a:solidFill>
            <a:srgbClr val="0D2418"/>
          </a:solidFill>
          <a:ln w="12700">
            <a:solidFill>
              <a:srgbClr val="22C55E"/>
            </a:solidFill>
            <a:prstDash val="solid"/>
          </a:ln>
        </p:spPr>
      </p:sp>
      <p:sp>
        <p:nvSpPr>
          <p:cNvPr id="6" name="Text 4"/>
          <p:cNvSpPr/>
          <p:nvPr/>
        </p:nvSpPr>
        <p:spPr>
          <a:xfrm>
            <a:off x="5943600" y="960120"/>
            <a:ext cx="28346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60%</a:t>
            </a:r>
            <a:endParaRPr lang="en-US" sz="2800" dirty="0"/>
          </a:p>
        </p:txBody>
      </p:sp>
      <p:sp>
        <p:nvSpPr>
          <p:cNvPr id="7" name="Text 5"/>
          <p:cNvSpPr/>
          <p:nvPr/>
        </p:nvSpPr>
        <p:spPr>
          <a:xfrm>
            <a:off x="5943600" y="1508760"/>
            <a:ext cx="2834640" cy="457200"/>
          </a:xfrm>
          <a:prstGeom prst="rect">
            <a:avLst/>
          </a:prstGeom>
          <a:noFill/>
          <a:ln/>
        </p:spPr>
        <p:txBody>
          <a:bodyPr wrap="square" lIns="0" tIns="0" rIns="0" bIns="0" rtlCol="0" anchor="ctr"/>
          <a:lstStyle/>
          <a:p>
            <a:pPr algn="ctr" indent="0" marL="0">
              <a:buNone/>
            </a:pPr>
            <a:r>
              <a:rPr lang="en-US" sz="1050" dirty="0">
                <a:solidFill>
                  <a:srgbClr val="6EE7B7"/>
                </a:solidFill>
                <a:latin typeface="Calibri" pitchFamily="34" charset="0"/>
                <a:ea typeface="Calibri" pitchFamily="34" charset="-122"/>
                <a:cs typeface="Calibri" pitchFamily="34" charset="-120"/>
              </a:rPr>
              <a:t>Energy demand growth</a:t>
            </a:r>
            <a:endParaRPr lang="en-US" sz="1050" dirty="0"/>
          </a:p>
          <a:p>
            <a:pPr algn="ctr" indent="0" marL="0">
              <a:buNone/>
            </a:pPr>
            <a:r>
              <a:rPr lang="en-US" sz="1050" dirty="0">
                <a:solidFill>
                  <a:srgbClr val="6EE7B7"/>
                </a:solidFill>
                <a:latin typeface="Calibri" pitchFamily="34" charset="0"/>
                <a:ea typeface="Calibri" pitchFamily="34" charset="-122"/>
                <a:cs typeface="Calibri" pitchFamily="34" charset="-120"/>
              </a:rPr>
              <a:t>by 2040 (IEA)</a:t>
            </a:r>
            <a:endParaRPr lang="en-US" sz="1050" dirty="0"/>
          </a:p>
        </p:txBody>
      </p:sp>
      <p:sp>
        <p:nvSpPr>
          <p:cNvPr id="8" name="Shape 6"/>
          <p:cNvSpPr/>
          <p:nvPr/>
        </p:nvSpPr>
        <p:spPr>
          <a:xfrm>
            <a:off x="5943600" y="2286000"/>
            <a:ext cx="2834640" cy="1097280"/>
          </a:xfrm>
          <a:prstGeom prst="rect">
            <a:avLst/>
          </a:prstGeom>
          <a:solidFill>
            <a:srgbClr val="0D2418"/>
          </a:solidFill>
          <a:ln w="12700">
            <a:solidFill>
              <a:srgbClr val="22C55E"/>
            </a:solidFill>
            <a:prstDash val="solid"/>
          </a:ln>
        </p:spPr>
      </p:sp>
      <p:sp>
        <p:nvSpPr>
          <p:cNvPr id="9" name="Text 7"/>
          <p:cNvSpPr/>
          <p:nvPr/>
        </p:nvSpPr>
        <p:spPr>
          <a:xfrm>
            <a:off x="5943600" y="2331720"/>
            <a:ext cx="28346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40%</a:t>
            </a:r>
            <a:endParaRPr lang="en-US" sz="2800" dirty="0"/>
          </a:p>
        </p:txBody>
      </p:sp>
      <p:sp>
        <p:nvSpPr>
          <p:cNvPr id="10" name="Text 8"/>
          <p:cNvSpPr/>
          <p:nvPr/>
        </p:nvSpPr>
        <p:spPr>
          <a:xfrm>
            <a:off x="5943600" y="2880360"/>
            <a:ext cx="2834640" cy="457200"/>
          </a:xfrm>
          <a:prstGeom prst="rect">
            <a:avLst/>
          </a:prstGeom>
          <a:noFill/>
          <a:ln/>
        </p:spPr>
        <p:txBody>
          <a:bodyPr wrap="square" lIns="0" tIns="0" rIns="0" bIns="0" rtlCol="0" anchor="ctr"/>
          <a:lstStyle/>
          <a:p>
            <a:pPr algn="ctr" indent="0" marL="0">
              <a:buNone/>
            </a:pPr>
            <a:r>
              <a:rPr lang="en-US" sz="1050" dirty="0">
                <a:solidFill>
                  <a:srgbClr val="6EE7B7"/>
                </a:solidFill>
                <a:latin typeface="Calibri" pitchFamily="34" charset="0"/>
                <a:ea typeface="Calibri" pitchFamily="34" charset="-122"/>
                <a:cs typeface="Calibri" pitchFamily="34" charset="-120"/>
              </a:rPr>
              <a:t>Grid outage reduction</a:t>
            </a:r>
            <a:endParaRPr lang="en-US" sz="1050" dirty="0"/>
          </a:p>
          <a:p>
            <a:pPr algn="ctr" indent="0" marL="0">
              <a:buNone/>
            </a:pPr>
            <a:r>
              <a:rPr lang="en-US" sz="1050" dirty="0">
                <a:solidFill>
                  <a:srgbClr val="6EE7B7"/>
                </a:solidFill>
                <a:latin typeface="Calibri" pitchFamily="34" charset="0"/>
                <a:ea typeface="Calibri" pitchFamily="34" charset="-122"/>
                <a:cs typeface="Calibri" pitchFamily="34" charset="-120"/>
              </a:rPr>
              <a:t>with smart analytics</a:t>
            </a:r>
            <a:endParaRPr lang="en-US" sz="1050" dirty="0"/>
          </a:p>
        </p:txBody>
      </p:sp>
      <p:sp>
        <p:nvSpPr>
          <p:cNvPr id="11" name="Shape 9"/>
          <p:cNvSpPr/>
          <p:nvPr/>
        </p:nvSpPr>
        <p:spPr>
          <a:xfrm>
            <a:off x="5943600" y="3657600"/>
            <a:ext cx="2834640" cy="1097280"/>
          </a:xfrm>
          <a:prstGeom prst="rect">
            <a:avLst/>
          </a:prstGeom>
          <a:solidFill>
            <a:srgbClr val="0D2418"/>
          </a:solidFill>
          <a:ln w="12700">
            <a:solidFill>
              <a:srgbClr val="22C55E"/>
            </a:solidFill>
            <a:prstDash val="solid"/>
          </a:ln>
        </p:spPr>
      </p:sp>
      <p:sp>
        <p:nvSpPr>
          <p:cNvPr id="12" name="Text 10"/>
          <p:cNvSpPr/>
          <p:nvPr/>
        </p:nvSpPr>
        <p:spPr>
          <a:xfrm>
            <a:off x="5943600" y="3703320"/>
            <a:ext cx="28346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25%</a:t>
            </a:r>
            <a:endParaRPr lang="en-US" sz="2800" dirty="0"/>
          </a:p>
        </p:txBody>
      </p:sp>
      <p:sp>
        <p:nvSpPr>
          <p:cNvPr id="13" name="Text 11"/>
          <p:cNvSpPr/>
          <p:nvPr/>
        </p:nvSpPr>
        <p:spPr>
          <a:xfrm>
            <a:off x="5943600" y="4251960"/>
            <a:ext cx="2834640" cy="457200"/>
          </a:xfrm>
          <a:prstGeom prst="rect">
            <a:avLst/>
          </a:prstGeom>
          <a:noFill/>
          <a:ln/>
        </p:spPr>
        <p:txBody>
          <a:bodyPr wrap="square" lIns="0" tIns="0" rIns="0" bIns="0" rtlCol="0" anchor="ctr"/>
          <a:lstStyle/>
          <a:p>
            <a:pPr algn="ctr" indent="0" marL="0">
              <a:buNone/>
            </a:pPr>
            <a:r>
              <a:rPr lang="en-US" sz="1050" dirty="0">
                <a:solidFill>
                  <a:srgbClr val="6EE7B7"/>
                </a:solidFill>
                <a:latin typeface="Calibri" pitchFamily="34" charset="0"/>
                <a:ea typeface="Calibri" pitchFamily="34" charset="-122"/>
                <a:cs typeface="Calibri" pitchFamily="34" charset="-120"/>
              </a:rPr>
              <a:t>Energy efficiency</a:t>
            </a:r>
            <a:endParaRPr lang="en-US" sz="1050" dirty="0"/>
          </a:p>
          <a:p>
            <a:pPr algn="ctr" indent="0" marL="0">
              <a:buNone/>
            </a:pPr>
            <a:r>
              <a:rPr lang="en-US" sz="1050" dirty="0">
                <a:solidFill>
                  <a:srgbClr val="6EE7B7"/>
                </a:solidFill>
                <a:latin typeface="Calibri" pitchFamily="34" charset="0"/>
                <a:ea typeface="Calibri" pitchFamily="34" charset="-122"/>
                <a:cs typeface="Calibri" pitchFamily="34" charset="-120"/>
              </a:rPr>
              <a:t>improvement with PdM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2E1A"/>
          </a:solidFill>
          <a:ln w="12700">
            <a:solidFill>
              <a:srgbClr val="0A2E1A"/>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600" b="1" dirty="0">
                <a:solidFill>
                  <a:srgbClr val="22C55E"/>
                </a:solidFill>
                <a:latin typeface="Calibri" pitchFamily="34" charset="0"/>
                <a:ea typeface="Calibri" pitchFamily="34" charset="-122"/>
                <a:cs typeface="Calibri" pitchFamily="34" charset="-120"/>
              </a:rPr>
              <a:t>LITERATURE SURVEY</a:t>
            </a:r>
            <a:endParaRPr lang="en-US" sz="2600" dirty="0"/>
          </a:p>
        </p:txBody>
      </p:sp>
      <p:sp>
        <p:nvSpPr>
          <p:cNvPr id="4" name="Shape 2"/>
          <p:cNvSpPr/>
          <p:nvPr/>
        </p:nvSpPr>
        <p:spPr>
          <a:xfrm>
            <a:off x="274320" y="914400"/>
            <a:ext cx="457200" cy="594360"/>
          </a:xfrm>
          <a:prstGeom prst="rect">
            <a:avLst/>
          </a:prstGeom>
          <a:solidFill>
            <a:srgbClr val="22C55E"/>
          </a:solidFill>
          <a:ln w="12700">
            <a:solidFill>
              <a:srgbClr val="22C55E"/>
            </a:solidFill>
            <a:prstDash val="solid"/>
          </a:ln>
        </p:spPr>
      </p:sp>
      <p:sp>
        <p:nvSpPr>
          <p:cNvPr id="5" name="Text 3"/>
          <p:cNvSpPr/>
          <p:nvPr/>
        </p:nvSpPr>
        <p:spPr>
          <a:xfrm>
            <a:off x="274320" y="1005840"/>
            <a:ext cx="457200" cy="411480"/>
          </a:xfrm>
          <a:prstGeom prst="rect">
            <a:avLst/>
          </a:prstGeom>
          <a:noFill/>
          <a:ln/>
        </p:spPr>
        <p:txBody>
          <a:bodyPr wrap="square" lIns="0" tIns="0" rIns="0" bIns="0" rtlCol="0" anchor="ctr"/>
          <a:lstStyle/>
          <a:p>
            <a:pPr algn="ctr" indent="0" marL="0">
              <a:buNone/>
            </a:pPr>
            <a:r>
              <a:rPr lang="en-US" sz="1300" b="1" dirty="0">
                <a:solidFill>
                  <a:srgbClr val="071A0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868680" y="914400"/>
            <a:ext cx="7955280" cy="256032"/>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Fang et al. (2012) — Smart Grid — The New and Improved Power Grid</a:t>
            </a:r>
            <a:endParaRPr lang="en-US" sz="1200" dirty="0"/>
          </a:p>
        </p:txBody>
      </p:sp>
      <p:sp>
        <p:nvSpPr>
          <p:cNvPr id="7" name="Text 5"/>
          <p:cNvSpPr/>
          <p:nvPr/>
        </p:nvSpPr>
        <p:spPr>
          <a:xfrm>
            <a:off x="868680" y="1170432"/>
            <a:ext cx="7955280" cy="347472"/>
          </a:xfrm>
          <a:prstGeom prst="rect">
            <a:avLst/>
          </a:prstGeom>
          <a:noFill/>
          <a:ln/>
        </p:spPr>
        <p:txBody>
          <a:bodyPr wrap="square" lIns="0" tIns="0" rIns="0" bIns="0" rtlCol="0" anchor="ctr"/>
          <a:lstStyle/>
          <a:p>
            <a:pPr indent="0" marL="0">
              <a:buNone/>
            </a:pPr>
            <a:r>
              <a:rPr lang="en-US" sz="1100" dirty="0">
                <a:solidFill>
                  <a:srgbClr val="D1FAE5"/>
                </a:solidFill>
                <a:latin typeface="Calibri" pitchFamily="34" charset="0"/>
                <a:ea typeface="Calibri" pitchFamily="34" charset="-122"/>
                <a:cs typeface="Calibri" pitchFamily="34" charset="-120"/>
              </a:rPr>
              <a:t>Foundational survey; identified that integrating sensing, communication &amp; computing cuts grid operational costs by up to 30%.</a:t>
            </a:r>
            <a:endParaRPr lang="en-US" sz="1100" dirty="0"/>
          </a:p>
        </p:txBody>
      </p:sp>
      <p:sp>
        <p:nvSpPr>
          <p:cNvPr id="8" name="Shape 6"/>
          <p:cNvSpPr/>
          <p:nvPr/>
        </p:nvSpPr>
        <p:spPr>
          <a:xfrm>
            <a:off x="274320" y="1737360"/>
            <a:ext cx="457200" cy="594360"/>
          </a:xfrm>
          <a:prstGeom prst="rect">
            <a:avLst/>
          </a:prstGeom>
          <a:solidFill>
            <a:srgbClr val="22C55E"/>
          </a:solidFill>
          <a:ln w="12700">
            <a:solidFill>
              <a:srgbClr val="22C55E"/>
            </a:solidFill>
            <a:prstDash val="solid"/>
          </a:ln>
        </p:spPr>
      </p:sp>
      <p:sp>
        <p:nvSpPr>
          <p:cNvPr id="9" name="Text 7"/>
          <p:cNvSpPr/>
          <p:nvPr/>
        </p:nvSpPr>
        <p:spPr>
          <a:xfrm>
            <a:off x="274320" y="1828800"/>
            <a:ext cx="457200" cy="411480"/>
          </a:xfrm>
          <a:prstGeom prst="rect">
            <a:avLst/>
          </a:prstGeom>
          <a:noFill/>
          <a:ln/>
        </p:spPr>
        <p:txBody>
          <a:bodyPr wrap="square" lIns="0" tIns="0" rIns="0" bIns="0" rtlCol="0" anchor="ctr"/>
          <a:lstStyle/>
          <a:p>
            <a:pPr algn="ctr" indent="0" marL="0">
              <a:buNone/>
            </a:pPr>
            <a:r>
              <a:rPr lang="en-US" sz="1300" b="1" dirty="0">
                <a:solidFill>
                  <a:srgbClr val="071A0F"/>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868680" y="1737360"/>
            <a:ext cx="7955280" cy="256032"/>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Fadlullah et al. (2017) — State-of-the-Art Deep Learning for Smart Grid Analytics</a:t>
            </a:r>
            <a:endParaRPr lang="en-US" sz="1200" dirty="0"/>
          </a:p>
        </p:txBody>
      </p:sp>
      <p:sp>
        <p:nvSpPr>
          <p:cNvPr id="11" name="Text 9"/>
          <p:cNvSpPr/>
          <p:nvPr/>
        </p:nvSpPr>
        <p:spPr>
          <a:xfrm>
            <a:off x="868680" y="1993392"/>
            <a:ext cx="7955280" cy="347472"/>
          </a:xfrm>
          <a:prstGeom prst="rect">
            <a:avLst/>
          </a:prstGeom>
          <a:noFill/>
          <a:ln/>
        </p:spPr>
        <p:txBody>
          <a:bodyPr wrap="square" lIns="0" tIns="0" rIns="0" bIns="0" rtlCol="0" anchor="ctr"/>
          <a:lstStyle/>
          <a:p>
            <a:pPr indent="0" marL="0">
              <a:buNone/>
            </a:pPr>
            <a:r>
              <a:rPr lang="en-US" sz="1100" dirty="0">
                <a:solidFill>
                  <a:srgbClr val="D1FAE5"/>
                </a:solidFill>
                <a:latin typeface="Calibri" pitchFamily="34" charset="0"/>
                <a:ea typeface="Calibri" pitchFamily="34" charset="-122"/>
                <a:cs typeface="Calibri" pitchFamily="34" charset="-120"/>
              </a:rPr>
              <a:t>Deep learning (LSTM/CNN) on smart meter data achieves 97% accuracy in energy theft detection and demand forecasting.</a:t>
            </a:r>
            <a:endParaRPr lang="en-US" sz="1100" dirty="0"/>
          </a:p>
        </p:txBody>
      </p:sp>
      <p:sp>
        <p:nvSpPr>
          <p:cNvPr id="12" name="Shape 10"/>
          <p:cNvSpPr/>
          <p:nvPr/>
        </p:nvSpPr>
        <p:spPr>
          <a:xfrm>
            <a:off x="274320" y="2560320"/>
            <a:ext cx="457200" cy="594360"/>
          </a:xfrm>
          <a:prstGeom prst="rect">
            <a:avLst/>
          </a:prstGeom>
          <a:solidFill>
            <a:srgbClr val="22C55E"/>
          </a:solidFill>
          <a:ln w="12700">
            <a:solidFill>
              <a:srgbClr val="22C55E"/>
            </a:solidFill>
            <a:prstDash val="solid"/>
          </a:ln>
        </p:spPr>
      </p:sp>
      <p:sp>
        <p:nvSpPr>
          <p:cNvPr id="13" name="Text 11"/>
          <p:cNvSpPr/>
          <p:nvPr/>
        </p:nvSpPr>
        <p:spPr>
          <a:xfrm>
            <a:off x="274320" y="2651760"/>
            <a:ext cx="457200" cy="411480"/>
          </a:xfrm>
          <a:prstGeom prst="rect">
            <a:avLst/>
          </a:prstGeom>
          <a:noFill/>
          <a:ln/>
        </p:spPr>
        <p:txBody>
          <a:bodyPr wrap="square" lIns="0" tIns="0" rIns="0" bIns="0" rtlCol="0" anchor="ctr"/>
          <a:lstStyle/>
          <a:p>
            <a:pPr algn="ctr" indent="0" marL="0">
              <a:buNone/>
            </a:pPr>
            <a:r>
              <a:rPr lang="en-US" sz="1300" b="1" dirty="0">
                <a:solidFill>
                  <a:srgbClr val="071A0F"/>
                </a:solidFill>
                <a:latin typeface="Calibri" pitchFamily="34" charset="0"/>
                <a:ea typeface="Calibri" pitchFamily="34" charset="-122"/>
                <a:cs typeface="Calibri" pitchFamily="34" charset="-120"/>
              </a:rPr>
              <a:t>03</a:t>
            </a:r>
            <a:endParaRPr lang="en-US" sz="1300" dirty="0"/>
          </a:p>
        </p:txBody>
      </p:sp>
      <p:sp>
        <p:nvSpPr>
          <p:cNvPr id="14" name="Text 12"/>
          <p:cNvSpPr/>
          <p:nvPr/>
        </p:nvSpPr>
        <p:spPr>
          <a:xfrm>
            <a:off x="868680" y="2560320"/>
            <a:ext cx="7955280" cy="256032"/>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Kong et al. (2017) — Short-Term Residential Load Forecasting</a:t>
            </a:r>
            <a:endParaRPr lang="en-US" sz="1200" dirty="0"/>
          </a:p>
        </p:txBody>
      </p:sp>
      <p:sp>
        <p:nvSpPr>
          <p:cNvPr id="15" name="Text 13"/>
          <p:cNvSpPr/>
          <p:nvPr/>
        </p:nvSpPr>
        <p:spPr>
          <a:xfrm>
            <a:off x="868680" y="2816352"/>
            <a:ext cx="7955280" cy="347472"/>
          </a:xfrm>
          <a:prstGeom prst="rect">
            <a:avLst/>
          </a:prstGeom>
          <a:noFill/>
          <a:ln/>
        </p:spPr>
        <p:txBody>
          <a:bodyPr wrap="square" lIns="0" tIns="0" rIns="0" bIns="0" rtlCol="0" anchor="ctr"/>
          <a:lstStyle/>
          <a:p>
            <a:pPr indent="0" marL="0">
              <a:buNone/>
            </a:pPr>
            <a:r>
              <a:rPr lang="en-US" sz="1100" dirty="0">
                <a:solidFill>
                  <a:srgbClr val="D1FAE5"/>
                </a:solidFill>
                <a:latin typeface="Calibri" pitchFamily="34" charset="0"/>
                <a:ea typeface="Calibri" pitchFamily="34" charset="-122"/>
                <a:cs typeface="Calibri" pitchFamily="34" charset="-120"/>
              </a:rPr>
              <a:t>LSTM network outperforms ARIMA and SVM on 30-min interval smart meter data; MAPE reduced to 4.2%.</a:t>
            </a:r>
            <a:endParaRPr lang="en-US" sz="1100" dirty="0"/>
          </a:p>
        </p:txBody>
      </p:sp>
      <p:sp>
        <p:nvSpPr>
          <p:cNvPr id="16" name="Shape 14"/>
          <p:cNvSpPr/>
          <p:nvPr/>
        </p:nvSpPr>
        <p:spPr>
          <a:xfrm>
            <a:off x="274320" y="3383280"/>
            <a:ext cx="457200" cy="594360"/>
          </a:xfrm>
          <a:prstGeom prst="rect">
            <a:avLst/>
          </a:prstGeom>
          <a:solidFill>
            <a:srgbClr val="22C55E"/>
          </a:solidFill>
          <a:ln w="12700">
            <a:solidFill>
              <a:srgbClr val="22C55E"/>
            </a:solidFill>
            <a:prstDash val="solid"/>
          </a:ln>
        </p:spPr>
      </p:sp>
      <p:sp>
        <p:nvSpPr>
          <p:cNvPr id="17" name="Text 15"/>
          <p:cNvSpPr/>
          <p:nvPr/>
        </p:nvSpPr>
        <p:spPr>
          <a:xfrm>
            <a:off x="274320" y="3474720"/>
            <a:ext cx="457200" cy="411480"/>
          </a:xfrm>
          <a:prstGeom prst="rect">
            <a:avLst/>
          </a:prstGeom>
          <a:noFill/>
          <a:ln/>
        </p:spPr>
        <p:txBody>
          <a:bodyPr wrap="square" lIns="0" tIns="0" rIns="0" bIns="0" rtlCol="0" anchor="ctr"/>
          <a:lstStyle/>
          <a:p>
            <a:pPr algn="ctr" indent="0" marL="0">
              <a:buNone/>
            </a:pPr>
            <a:r>
              <a:rPr lang="en-US" sz="1300" b="1" dirty="0">
                <a:solidFill>
                  <a:srgbClr val="071A0F"/>
                </a:solidFill>
                <a:latin typeface="Calibri" pitchFamily="34" charset="0"/>
                <a:ea typeface="Calibri" pitchFamily="34" charset="-122"/>
                <a:cs typeface="Calibri" pitchFamily="34" charset="-120"/>
              </a:rPr>
              <a:t>04</a:t>
            </a:r>
            <a:endParaRPr lang="en-US" sz="1300" dirty="0"/>
          </a:p>
        </p:txBody>
      </p:sp>
      <p:sp>
        <p:nvSpPr>
          <p:cNvPr id="18" name="Text 16"/>
          <p:cNvSpPr/>
          <p:nvPr/>
        </p:nvSpPr>
        <p:spPr>
          <a:xfrm>
            <a:off x="868680" y="3383280"/>
            <a:ext cx="7955280" cy="256032"/>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Zheng et al. (2014) — U-Air: Big Data Air Quality Forecasting</a:t>
            </a:r>
            <a:endParaRPr lang="en-US" sz="1200" dirty="0"/>
          </a:p>
        </p:txBody>
      </p:sp>
      <p:sp>
        <p:nvSpPr>
          <p:cNvPr id="19" name="Text 17"/>
          <p:cNvSpPr/>
          <p:nvPr/>
        </p:nvSpPr>
        <p:spPr>
          <a:xfrm>
            <a:off x="868680" y="3639312"/>
            <a:ext cx="7955280" cy="347472"/>
          </a:xfrm>
          <a:prstGeom prst="rect">
            <a:avLst/>
          </a:prstGeom>
          <a:noFill/>
          <a:ln/>
        </p:spPr>
        <p:txBody>
          <a:bodyPr wrap="square" lIns="0" tIns="0" rIns="0" bIns="0" rtlCol="0" anchor="ctr"/>
          <a:lstStyle/>
          <a:p>
            <a:pPr indent="0" marL="0">
              <a:buNone/>
            </a:pPr>
            <a:r>
              <a:rPr lang="en-US" sz="1100" dirty="0">
                <a:solidFill>
                  <a:srgbClr val="D1FAE5"/>
                </a:solidFill>
                <a:latin typeface="Calibri" pitchFamily="34" charset="0"/>
                <a:ea typeface="Calibri" pitchFamily="34" charset="-122"/>
                <a:cs typeface="Calibri" pitchFamily="34" charset="-120"/>
              </a:rPr>
              <a:t>Demonstrated Spark-based pipeline processing 1.2M sensor readings/min for real-time grid event classification.</a:t>
            </a:r>
            <a:endParaRPr lang="en-US" sz="1100" dirty="0"/>
          </a:p>
        </p:txBody>
      </p:sp>
      <p:sp>
        <p:nvSpPr>
          <p:cNvPr id="20" name="Shape 18"/>
          <p:cNvSpPr/>
          <p:nvPr/>
        </p:nvSpPr>
        <p:spPr>
          <a:xfrm>
            <a:off x="274320" y="4206240"/>
            <a:ext cx="457200" cy="594360"/>
          </a:xfrm>
          <a:prstGeom prst="rect">
            <a:avLst/>
          </a:prstGeom>
          <a:solidFill>
            <a:srgbClr val="22C55E"/>
          </a:solidFill>
          <a:ln w="12700">
            <a:solidFill>
              <a:srgbClr val="22C55E"/>
            </a:solidFill>
            <a:prstDash val="solid"/>
          </a:ln>
        </p:spPr>
      </p:sp>
      <p:sp>
        <p:nvSpPr>
          <p:cNvPr id="21" name="Text 19"/>
          <p:cNvSpPr/>
          <p:nvPr/>
        </p:nvSpPr>
        <p:spPr>
          <a:xfrm>
            <a:off x="274320" y="4297680"/>
            <a:ext cx="457200" cy="411480"/>
          </a:xfrm>
          <a:prstGeom prst="rect">
            <a:avLst/>
          </a:prstGeom>
          <a:noFill/>
          <a:ln/>
        </p:spPr>
        <p:txBody>
          <a:bodyPr wrap="square" lIns="0" tIns="0" rIns="0" bIns="0" rtlCol="0" anchor="ctr"/>
          <a:lstStyle/>
          <a:p>
            <a:pPr algn="ctr" indent="0" marL="0">
              <a:buNone/>
            </a:pPr>
            <a:r>
              <a:rPr lang="en-US" sz="1300" b="1" dirty="0">
                <a:solidFill>
                  <a:srgbClr val="071A0F"/>
                </a:solidFill>
                <a:latin typeface="Calibri" pitchFamily="34" charset="0"/>
                <a:ea typeface="Calibri" pitchFamily="34" charset="-122"/>
                <a:cs typeface="Calibri" pitchFamily="34" charset="-120"/>
              </a:rPr>
              <a:t>05</a:t>
            </a:r>
            <a:endParaRPr lang="en-US" sz="1300" dirty="0"/>
          </a:p>
        </p:txBody>
      </p:sp>
      <p:sp>
        <p:nvSpPr>
          <p:cNvPr id="22" name="Text 20"/>
          <p:cNvSpPr/>
          <p:nvPr/>
        </p:nvSpPr>
        <p:spPr>
          <a:xfrm>
            <a:off x="868680" y="4206240"/>
            <a:ext cx="7955280" cy="256032"/>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Tuballa &amp; Abundo (2016) — A Review of the Development of Smart Grid Technology</a:t>
            </a:r>
            <a:endParaRPr lang="en-US" sz="1200" dirty="0"/>
          </a:p>
        </p:txBody>
      </p:sp>
      <p:sp>
        <p:nvSpPr>
          <p:cNvPr id="23" name="Text 21"/>
          <p:cNvSpPr/>
          <p:nvPr/>
        </p:nvSpPr>
        <p:spPr>
          <a:xfrm>
            <a:off x="868680" y="4462272"/>
            <a:ext cx="7955280" cy="347472"/>
          </a:xfrm>
          <a:prstGeom prst="rect">
            <a:avLst/>
          </a:prstGeom>
          <a:noFill/>
          <a:ln/>
        </p:spPr>
        <p:txBody>
          <a:bodyPr wrap="square" lIns="0" tIns="0" rIns="0" bIns="0" rtlCol="0" anchor="ctr"/>
          <a:lstStyle/>
          <a:p>
            <a:pPr indent="0" marL="0">
              <a:buNone/>
            </a:pPr>
            <a:r>
              <a:rPr lang="en-US" sz="1100" dirty="0">
                <a:solidFill>
                  <a:srgbClr val="D1FAE5"/>
                </a:solidFill>
                <a:latin typeface="Calibri" pitchFamily="34" charset="0"/>
                <a:ea typeface="Calibri" pitchFamily="34" charset="-122"/>
                <a:cs typeface="Calibri" pitchFamily="34" charset="-120"/>
              </a:rPr>
              <a:t>Comprehensive review; Big Data analytics enables 15–20% renewable curtailment reduction via predictive dispatch.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B1A06"/>
          </a:solidFill>
          <a:ln w="12700">
            <a:solidFill>
              <a:srgbClr val="3B1A06"/>
            </a:solidFill>
            <a:prstDash val="solid"/>
          </a:ln>
        </p:spPr>
      </p:sp>
      <p:sp>
        <p:nvSpPr>
          <p:cNvPr id="3" name="Text 1"/>
          <p:cNvSpPr/>
          <p:nvPr/>
        </p:nvSpPr>
        <p:spPr>
          <a:xfrm>
            <a:off x="274320" y="91440"/>
            <a:ext cx="859536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GAP / PROBLEMS WITH EXISTING METHODS</a:t>
            </a:r>
            <a:endParaRPr lang="en-US" sz="2000" dirty="0"/>
          </a:p>
        </p:txBody>
      </p:sp>
      <p:sp>
        <p:nvSpPr>
          <p:cNvPr id="4" name="Shape 2"/>
          <p:cNvSpPr/>
          <p:nvPr/>
        </p:nvSpPr>
        <p:spPr>
          <a:xfrm>
            <a:off x="274320" y="914400"/>
            <a:ext cx="8595360" cy="685800"/>
          </a:xfrm>
          <a:prstGeom prst="rect">
            <a:avLst/>
          </a:prstGeom>
          <a:solidFill>
            <a:srgbClr val="1A0A04"/>
          </a:solidFill>
          <a:ln w="12700">
            <a:solidFill>
              <a:srgbClr val="B45309"/>
            </a:solidFill>
            <a:prstDash val="solid"/>
          </a:ln>
        </p:spPr>
      </p:sp>
      <p:sp>
        <p:nvSpPr>
          <p:cNvPr id="5" name="Text 3"/>
          <p:cNvSpPr/>
          <p:nvPr/>
        </p:nvSpPr>
        <p:spPr>
          <a:xfrm>
            <a:off x="411480" y="932688"/>
            <a:ext cx="8229600" cy="274320"/>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Scalability of Real-Time Analytics</a:t>
            </a:r>
            <a:endParaRPr lang="en-US" sz="1300" dirty="0"/>
          </a:p>
        </p:txBody>
      </p:sp>
      <p:sp>
        <p:nvSpPr>
          <p:cNvPr id="6" name="Text 4"/>
          <p:cNvSpPr/>
          <p:nvPr/>
        </p:nvSpPr>
        <p:spPr>
          <a:xfrm>
            <a:off x="411480" y="1207008"/>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Existing grid monitoring systems cannot process millions of concurrent smart meter streams — causing delayed fault detection and response.</a:t>
            </a:r>
            <a:endParaRPr lang="en-US" sz="1150" dirty="0"/>
          </a:p>
        </p:txBody>
      </p:sp>
      <p:sp>
        <p:nvSpPr>
          <p:cNvPr id="7" name="Shape 5"/>
          <p:cNvSpPr/>
          <p:nvPr/>
        </p:nvSpPr>
        <p:spPr>
          <a:xfrm>
            <a:off x="274320" y="1737360"/>
            <a:ext cx="8595360" cy="685800"/>
          </a:xfrm>
          <a:prstGeom prst="rect">
            <a:avLst/>
          </a:prstGeom>
          <a:solidFill>
            <a:srgbClr val="1A0A04"/>
          </a:solidFill>
          <a:ln w="12700">
            <a:solidFill>
              <a:srgbClr val="B45309"/>
            </a:solidFill>
            <a:prstDash val="solid"/>
          </a:ln>
        </p:spPr>
      </p:sp>
      <p:sp>
        <p:nvSpPr>
          <p:cNvPr id="8" name="Text 6"/>
          <p:cNvSpPr/>
          <p:nvPr/>
        </p:nvSpPr>
        <p:spPr>
          <a:xfrm>
            <a:off x="411480" y="1755648"/>
            <a:ext cx="8229600" cy="274320"/>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Renewable Intermittency Handling</a:t>
            </a:r>
            <a:endParaRPr lang="en-US" sz="1300" dirty="0"/>
          </a:p>
        </p:txBody>
      </p:sp>
      <p:sp>
        <p:nvSpPr>
          <p:cNvPr id="9" name="Text 7"/>
          <p:cNvSpPr/>
          <p:nvPr/>
        </p:nvSpPr>
        <p:spPr>
          <a:xfrm>
            <a:off x="411480" y="2029968"/>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Legacy forecasting models fail to accurately predict solar/wind variability, leading to wasteful over-provisioning and renewable curtailment.</a:t>
            </a:r>
            <a:endParaRPr lang="en-US" sz="1150" dirty="0"/>
          </a:p>
        </p:txBody>
      </p:sp>
      <p:sp>
        <p:nvSpPr>
          <p:cNvPr id="10" name="Shape 8"/>
          <p:cNvSpPr/>
          <p:nvPr/>
        </p:nvSpPr>
        <p:spPr>
          <a:xfrm>
            <a:off x="274320" y="2560320"/>
            <a:ext cx="8595360" cy="685800"/>
          </a:xfrm>
          <a:prstGeom prst="rect">
            <a:avLst/>
          </a:prstGeom>
          <a:solidFill>
            <a:srgbClr val="1A0A04"/>
          </a:solidFill>
          <a:ln w="12700">
            <a:solidFill>
              <a:srgbClr val="B45309"/>
            </a:solidFill>
            <a:prstDash val="solid"/>
          </a:ln>
        </p:spPr>
      </p:sp>
      <p:sp>
        <p:nvSpPr>
          <p:cNvPr id="11" name="Text 9"/>
          <p:cNvSpPr/>
          <p:nvPr/>
        </p:nvSpPr>
        <p:spPr>
          <a:xfrm>
            <a:off x="411480" y="2578608"/>
            <a:ext cx="8229600" cy="274320"/>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Interoperability of Legacy Systems</a:t>
            </a:r>
            <a:endParaRPr lang="en-US" sz="1300" dirty="0"/>
          </a:p>
        </p:txBody>
      </p:sp>
      <p:sp>
        <p:nvSpPr>
          <p:cNvPr id="12" name="Text 10"/>
          <p:cNvSpPr/>
          <p:nvPr/>
        </p:nvSpPr>
        <p:spPr>
          <a:xfrm>
            <a:off x="411480" y="2852928"/>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Older grid infrastructure lacks standardized APIs and communication protocols (e.g., IEC 61968), making Big Data integration costly and complex.</a:t>
            </a:r>
            <a:endParaRPr lang="en-US" sz="1150" dirty="0"/>
          </a:p>
        </p:txBody>
      </p:sp>
      <p:sp>
        <p:nvSpPr>
          <p:cNvPr id="13" name="Shape 11"/>
          <p:cNvSpPr/>
          <p:nvPr/>
        </p:nvSpPr>
        <p:spPr>
          <a:xfrm>
            <a:off x="274320" y="3383280"/>
            <a:ext cx="8595360" cy="685800"/>
          </a:xfrm>
          <a:prstGeom prst="rect">
            <a:avLst/>
          </a:prstGeom>
          <a:solidFill>
            <a:srgbClr val="1A0A04"/>
          </a:solidFill>
          <a:ln w="12700">
            <a:solidFill>
              <a:srgbClr val="B45309"/>
            </a:solidFill>
            <a:prstDash val="solid"/>
          </a:ln>
        </p:spPr>
      </p:sp>
      <p:sp>
        <p:nvSpPr>
          <p:cNvPr id="14" name="Text 12"/>
          <p:cNvSpPr/>
          <p:nvPr/>
        </p:nvSpPr>
        <p:spPr>
          <a:xfrm>
            <a:off x="411480" y="3401568"/>
            <a:ext cx="8229600" cy="274320"/>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Cyber Security Vulnerabilities</a:t>
            </a:r>
            <a:endParaRPr lang="en-US" sz="1300" dirty="0"/>
          </a:p>
        </p:txBody>
      </p:sp>
      <p:sp>
        <p:nvSpPr>
          <p:cNvPr id="15" name="Text 13"/>
          <p:cNvSpPr/>
          <p:nvPr/>
        </p:nvSpPr>
        <p:spPr>
          <a:xfrm>
            <a:off x="411480" y="3675888"/>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Increased connectivity in smart grids creates new attack surfaces; existing anomaly detection methods miss sophisticated grid cyber-attacks.</a:t>
            </a:r>
            <a:endParaRPr lang="en-US" sz="1150" dirty="0"/>
          </a:p>
        </p:txBody>
      </p:sp>
      <p:sp>
        <p:nvSpPr>
          <p:cNvPr id="16" name="Shape 14"/>
          <p:cNvSpPr/>
          <p:nvPr/>
        </p:nvSpPr>
        <p:spPr>
          <a:xfrm>
            <a:off x="274320" y="4206240"/>
            <a:ext cx="8595360" cy="685800"/>
          </a:xfrm>
          <a:prstGeom prst="rect">
            <a:avLst/>
          </a:prstGeom>
          <a:solidFill>
            <a:srgbClr val="1A0A04"/>
          </a:solidFill>
          <a:ln w="12700">
            <a:solidFill>
              <a:srgbClr val="B45309"/>
            </a:solidFill>
            <a:prstDash val="solid"/>
          </a:ln>
        </p:spPr>
      </p:sp>
      <p:sp>
        <p:nvSpPr>
          <p:cNvPr id="17" name="Text 15"/>
          <p:cNvSpPr/>
          <p:nvPr/>
        </p:nvSpPr>
        <p:spPr>
          <a:xfrm>
            <a:off x="411480" y="4224528"/>
            <a:ext cx="8229600" cy="274320"/>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Data Privacy in Smart Metering</a:t>
            </a:r>
            <a:endParaRPr lang="en-US" sz="1300" dirty="0"/>
          </a:p>
        </p:txBody>
      </p:sp>
      <p:sp>
        <p:nvSpPr>
          <p:cNvPr id="18" name="Text 16"/>
          <p:cNvSpPr/>
          <p:nvPr/>
        </p:nvSpPr>
        <p:spPr>
          <a:xfrm>
            <a:off x="411480" y="4498848"/>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High-frequency meter readings can reveal household behaviour patterns — existing frameworks lack strong privacy-preserving analytics approaches.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2E1A"/>
          </a:solidFill>
          <a:ln w="12700">
            <a:solidFill>
              <a:srgbClr val="0A2E1A"/>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700" b="1" dirty="0">
                <a:solidFill>
                  <a:srgbClr val="22C55E"/>
                </a:solidFill>
                <a:latin typeface="Calibri" pitchFamily="34" charset="0"/>
                <a:ea typeface="Calibri" pitchFamily="34" charset="-122"/>
                <a:cs typeface="Calibri" pitchFamily="34" charset="-120"/>
              </a:rPr>
              <a:t>PROPOSED SOLUTION</a:t>
            </a:r>
            <a:endParaRPr lang="en-US" sz="2700" dirty="0"/>
          </a:p>
        </p:txBody>
      </p:sp>
      <p:sp>
        <p:nvSpPr>
          <p:cNvPr id="4" name="Shape 2"/>
          <p:cNvSpPr/>
          <p:nvPr/>
        </p:nvSpPr>
        <p:spPr>
          <a:xfrm>
            <a:off x="274320" y="960120"/>
            <a:ext cx="1554480" cy="15544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274320" y="960120"/>
            <a:ext cx="1554480" cy="411480"/>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274320" y="1325880"/>
            <a:ext cx="15544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Smart Meter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Data Ingestion</a:t>
            </a:r>
            <a:endParaRPr lang="en-US" sz="1150" dirty="0"/>
          </a:p>
        </p:txBody>
      </p:sp>
      <p:sp>
        <p:nvSpPr>
          <p:cNvPr id="7" name="Text 5"/>
          <p:cNvSpPr/>
          <p:nvPr/>
        </p:nvSpPr>
        <p:spPr>
          <a:xfrm>
            <a:off x="274320" y="1737360"/>
            <a:ext cx="1554480" cy="64008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Apache Kafka</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IoT + AMI feeds</a:t>
            </a:r>
            <a:endParaRPr lang="en-US" sz="950" dirty="0"/>
          </a:p>
        </p:txBody>
      </p:sp>
      <p:sp>
        <p:nvSpPr>
          <p:cNvPr id="8" name="Shape 6"/>
          <p:cNvSpPr/>
          <p:nvPr/>
        </p:nvSpPr>
        <p:spPr>
          <a:xfrm>
            <a:off x="1828800" y="1627632"/>
            <a:ext cx="182880" cy="45720"/>
          </a:xfrm>
          <a:prstGeom prst="rect">
            <a:avLst/>
          </a:prstGeom>
          <a:solidFill>
            <a:srgbClr val="22C55E"/>
          </a:solidFill>
          <a:ln w="12700">
            <a:solidFill>
              <a:srgbClr val="22C55E"/>
            </a:solidFill>
            <a:prstDash val="solid"/>
          </a:ln>
        </p:spPr>
      </p:sp>
      <p:sp>
        <p:nvSpPr>
          <p:cNvPr id="9" name="Shape 7"/>
          <p:cNvSpPr/>
          <p:nvPr/>
        </p:nvSpPr>
        <p:spPr>
          <a:xfrm>
            <a:off x="2011680" y="960120"/>
            <a:ext cx="1554480" cy="15544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2011680" y="960120"/>
            <a:ext cx="1554480" cy="411480"/>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2011680" y="1325880"/>
            <a:ext cx="15544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Big Data</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Storage</a:t>
            </a:r>
            <a:endParaRPr lang="en-US" sz="1150" dirty="0"/>
          </a:p>
        </p:txBody>
      </p:sp>
      <p:sp>
        <p:nvSpPr>
          <p:cNvPr id="12" name="Text 10"/>
          <p:cNvSpPr/>
          <p:nvPr/>
        </p:nvSpPr>
        <p:spPr>
          <a:xfrm>
            <a:off x="2011680" y="1737360"/>
            <a:ext cx="1554480" cy="64008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HDFS + HBase</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Time-series DB</a:t>
            </a:r>
            <a:endParaRPr lang="en-US" sz="950" dirty="0"/>
          </a:p>
        </p:txBody>
      </p:sp>
      <p:sp>
        <p:nvSpPr>
          <p:cNvPr id="13" name="Shape 11"/>
          <p:cNvSpPr/>
          <p:nvPr/>
        </p:nvSpPr>
        <p:spPr>
          <a:xfrm>
            <a:off x="3566160" y="1627632"/>
            <a:ext cx="182880" cy="45720"/>
          </a:xfrm>
          <a:prstGeom prst="rect">
            <a:avLst/>
          </a:prstGeom>
          <a:solidFill>
            <a:srgbClr val="22C55E"/>
          </a:solidFill>
          <a:ln w="12700">
            <a:solidFill>
              <a:srgbClr val="22C55E"/>
            </a:solidFill>
            <a:prstDash val="solid"/>
          </a:ln>
        </p:spPr>
      </p:sp>
      <p:sp>
        <p:nvSpPr>
          <p:cNvPr id="14" name="Shape 12"/>
          <p:cNvSpPr/>
          <p:nvPr/>
        </p:nvSpPr>
        <p:spPr>
          <a:xfrm>
            <a:off x="3749040" y="960120"/>
            <a:ext cx="1554480" cy="15544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3749040" y="960120"/>
            <a:ext cx="1554480" cy="411480"/>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3749040" y="1325880"/>
            <a:ext cx="15544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Analytics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Engine</a:t>
            </a:r>
            <a:endParaRPr lang="en-US" sz="1150" dirty="0"/>
          </a:p>
        </p:txBody>
      </p:sp>
      <p:sp>
        <p:nvSpPr>
          <p:cNvPr id="17" name="Text 15"/>
          <p:cNvSpPr/>
          <p:nvPr/>
        </p:nvSpPr>
        <p:spPr>
          <a:xfrm>
            <a:off x="3749040" y="1737360"/>
            <a:ext cx="1554480" cy="64008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Apache Spark MLlib</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Stream + Batch</a:t>
            </a:r>
            <a:endParaRPr lang="en-US" sz="950" dirty="0"/>
          </a:p>
        </p:txBody>
      </p:sp>
      <p:sp>
        <p:nvSpPr>
          <p:cNvPr id="18" name="Shape 16"/>
          <p:cNvSpPr/>
          <p:nvPr/>
        </p:nvSpPr>
        <p:spPr>
          <a:xfrm>
            <a:off x="5303520" y="1627632"/>
            <a:ext cx="182880" cy="45720"/>
          </a:xfrm>
          <a:prstGeom prst="rect">
            <a:avLst/>
          </a:prstGeom>
          <a:solidFill>
            <a:srgbClr val="22C55E"/>
          </a:solidFill>
          <a:ln w="12700">
            <a:solidFill>
              <a:srgbClr val="22C55E"/>
            </a:solidFill>
            <a:prstDash val="solid"/>
          </a:ln>
        </p:spPr>
      </p:sp>
      <p:sp>
        <p:nvSpPr>
          <p:cNvPr id="19" name="Shape 17"/>
          <p:cNvSpPr/>
          <p:nvPr/>
        </p:nvSpPr>
        <p:spPr>
          <a:xfrm>
            <a:off x="5486400" y="960120"/>
            <a:ext cx="1554480" cy="15544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0" name="Text 18"/>
          <p:cNvSpPr/>
          <p:nvPr/>
        </p:nvSpPr>
        <p:spPr>
          <a:xfrm>
            <a:off x="5486400" y="960120"/>
            <a:ext cx="1554480" cy="411480"/>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5486400" y="1325880"/>
            <a:ext cx="15544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Demand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Forecasting</a:t>
            </a:r>
            <a:endParaRPr lang="en-US" sz="1150" dirty="0"/>
          </a:p>
        </p:txBody>
      </p:sp>
      <p:sp>
        <p:nvSpPr>
          <p:cNvPr id="22" name="Text 20"/>
          <p:cNvSpPr/>
          <p:nvPr/>
        </p:nvSpPr>
        <p:spPr>
          <a:xfrm>
            <a:off x="5486400" y="1737360"/>
            <a:ext cx="1554480" cy="64008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LSTM + XGBoost</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Load prediction</a:t>
            </a:r>
            <a:endParaRPr lang="en-US" sz="950" dirty="0"/>
          </a:p>
        </p:txBody>
      </p:sp>
      <p:sp>
        <p:nvSpPr>
          <p:cNvPr id="23" name="Shape 21"/>
          <p:cNvSpPr/>
          <p:nvPr/>
        </p:nvSpPr>
        <p:spPr>
          <a:xfrm>
            <a:off x="7040880" y="1627632"/>
            <a:ext cx="182880" cy="45720"/>
          </a:xfrm>
          <a:prstGeom prst="rect">
            <a:avLst/>
          </a:prstGeom>
          <a:solidFill>
            <a:srgbClr val="22C55E"/>
          </a:solidFill>
          <a:ln w="12700">
            <a:solidFill>
              <a:srgbClr val="22C55E"/>
            </a:solidFill>
            <a:prstDash val="solid"/>
          </a:ln>
        </p:spPr>
      </p:sp>
      <p:sp>
        <p:nvSpPr>
          <p:cNvPr id="24" name="Shape 22"/>
          <p:cNvSpPr/>
          <p:nvPr/>
        </p:nvSpPr>
        <p:spPr>
          <a:xfrm>
            <a:off x="7223760" y="960120"/>
            <a:ext cx="1554480" cy="155448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5" name="Text 23"/>
          <p:cNvSpPr/>
          <p:nvPr/>
        </p:nvSpPr>
        <p:spPr>
          <a:xfrm>
            <a:off x="7223760" y="960120"/>
            <a:ext cx="1554480" cy="411480"/>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5</a:t>
            </a:r>
            <a:endParaRPr lang="en-US" sz="1800" dirty="0"/>
          </a:p>
        </p:txBody>
      </p:sp>
      <p:sp>
        <p:nvSpPr>
          <p:cNvPr id="26" name="Text 24"/>
          <p:cNvSpPr/>
          <p:nvPr/>
        </p:nvSpPr>
        <p:spPr>
          <a:xfrm>
            <a:off x="7223760" y="1325880"/>
            <a:ext cx="15544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Control &amp;</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Optimization</a:t>
            </a:r>
            <a:endParaRPr lang="en-US" sz="1150" dirty="0"/>
          </a:p>
        </p:txBody>
      </p:sp>
      <p:sp>
        <p:nvSpPr>
          <p:cNvPr id="27" name="Text 25"/>
          <p:cNvSpPr/>
          <p:nvPr/>
        </p:nvSpPr>
        <p:spPr>
          <a:xfrm>
            <a:off x="7223760" y="1737360"/>
            <a:ext cx="1554480" cy="64008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SCADA integration</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Auto load dispatch</a:t>
            </a:r>
            <a:endParaRPr lang="en-US" sz="950" dirty="0"/>
          </a:p>
        </p:txBody>
      </p:sp>
      <p:sp>
        <p:nvSpPr>
          <p:cNvPr id="28" name="Text 26"/>
          <p:cNvSpPr/>
          <p:nvPr/>
        </p:nvSpPr>
        <p:spPr>
          <a:xfrm>
            <a:off x="274320" y="2743200"/>
            <a:ext cx="3657600" cy="32004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KEY INNOVATIONS</a:t>
            </a:r>
            <a:endParaRPr lang="en-US" sz="1300" dirty="0"/>
          </a:p>
        </p:txBody>
      </p:sp>
      <p:sp>
        <p:nvSpPr>
          <p:cNvPr id="29" name="Text 27"/>
          <p:cNvSpPr/>
          <p:nvPr/>
        </p:nvSpPr>
        <p:spPr>
          <a:xfrm>
            <a:off x="274320" y="3063240"/>
            <a:ext cx="8595360" cy="1828800"/>
          </a:xfrm>
          <a:prstGeom prst="rect">
            <a:avLst/>
          </a:prstGeom>
          <a:noFill/>
          <a:ln/>
        </p:spPr>
        <p:txBody>
          <a:bodyPr wrap="square" rtlCol="0" anchor="t"/>
          <a:lstStyle/>
          <a:p>
            <a:pPr indent="0" marL="0">
              <a:buNone/>
            </a:pPr>
            <a:r>
              <a:rPr lang="en-US" sz="1200" dirty="0">
                <a:solidFill>
                  <a:srgbClr val="D1FAE5"/>
                </a:solidFill>
                <a:latin typeface="Calibri" pitchFamily="34" charset="0"/>
                <a:ea typeface="Calibri" pitchFamily="34" charset="-122"/>
                <a:cs typeface="Calibri" pitchFamily="34" charset="-120"/>
              </a:rPr>
              <a:t>• Federated Learning across smart meters preserves privacy while training demand models</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Digital Twin of power grid enables simulation of outage scenarios before deployment</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Differential Privacy applied to meter analytics — prevents household behaviour inference</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Graph Neural Networks (GNN) model grid topology for optimized power routing</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Edge computing nodes (Raspberry Pi clusters) pre-aggregate meter data to reduce latency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418"/>
          </a:solidFill>
          <a:ln w="12700">
            <a:solidFill>
              <a:srgbClr val="0D2418"/>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600" b="1" dirty="0">
                <a:solidFill>
                  <a:srgbClr val="22C55E"/>
                </a:solidFill>
                <a:latin typeface="Calibri" pitchFamily="34" charset="0"/>
                <a:ea typeface="Calibri" pitchFamily="34" charset="-122"/>
                <a:cs typeface="Calibri" pitchFamily="34" charset="-120"/>
              </a:rPr>
              <a:t>IMPLEMENTATION SUPPORT</a:t>
            </a:r>
            <a:endParaRPr lang="en-US" sz="2600" dirty="0"/>
          </a:p>
        </p:txBody>
      </p:sp>
      <p:sp>
        <p:nvSpPr>
          <p:cNvPr id="4" name="Shape 2"/>
          <p:cNvSpPr/>
          <p:nvPr/>
        </p:nvSpPr>
        <p:spPr>
          <a:xfrm>
            <a:off x="274320" y="960120"/>
            <a:ext cx="4114800" cy="1143000"/>
          </a:xfrm>
          <a:prstGeom prst="rect">
            <a:avLst/>
          </a:prstGeom>
          <a:solidFill>
            <a:srgbClr val="0D2418"/>
          </a:solidFill>
          <a:ln w="12700">
            <a:solidFill>
              <a:srgbClr val="22C55E"/>
            </a:solidFill>
            <a:prstDash val="solid"/>
          </a:ln>
        </p:spPr>
      </p:sp>
      <p:sp>
        <p:nvSpPr>
          <p:cNvPr id="5" name="Text 3"/>
          <p:cNvSpPr/>
          <p:nvPr/>
        </p:nvSpPr>
        <p:spPr>
          <a:xfrm>
            <a:off x="411480" y="1005840"/>
            <a:ext cx="3840480" cy="32004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Datasets Used</a:t>
            </a:r>
            <a:endParaRPr lang="en-US" sz="1300" dirty="0"/>
          </a:p>
        </p:txBody>
      </p:sp>
      <p:sp>
        <p:nvSpPr>
          <p:cNvPr id="6" name="Text 4"/>
          <p:cNvSpPr/>
          <p:nvPr/>
        </p:nvSpPr>
        <p:spPr>
          <a:xfrm>
            <a:off x="411480" y="1307592"/>
            <a:ext cx="3840480" cy="73152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UKPN Smart Meter Dataset (UK Power Networks)</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Pecan Street Dataport — 1,200 homes, 15-min intervals</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NREL Solar &amp; Wind Generation Dataset (USA)</a:t>
            </a:r>
            <a:endParaRPr lang="en-US" sz="1150" dirty="0"/>
          </a:p>
        </p:txBody>
      </p:sp>
      <p:sp>
        <p:nvSpPr>
          <p:cNvPr id="7" name="Shape 5"/>
          <p:cNvSpPr/>
          <p:nvPr/>
        </p:nvSpPr>
        <p:spPr>
          <a:xfrm>
            <a:off x="274320" y="2286000"/>
            <a:ext cx="4114800" cy="1143000"/>
          </a:xfrm>
          <a:prstGeom prst="rect">
            <a:avLst/>
          </a:prstGeom>
          <a:solidFill>
            <a:srgbClr val="0D2418"/>
          </a:solidFill>
          <a:ln w="12700">
            <a:solidFill>
              <a:srgbClr val="22C55E"/>
            </a:solidFill>
            <a:prstDash val="solid"/>
          </a:ln>
        </p:spPr>
      </p:sp>
      <p:sp>
        <p:nvSpPr>
          <p:cNvPr id="8" name="Text 6"/>
          <p:cNvSpPr/>
          <p:nvPr/>
        </p:nvSpPr>
        <p:spPr>
          <a:xfrm>
            <a:off x="411480" y="2331720"/>
            <a:ext cx="3840480" cy="32004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Big Data Stack</a:t>
            </a:r>
            <a:endParaRPr lang="en-US" sz="1300" dirty="0"/>
          </a:p>
        </p:txBody>
      </p:sp>
      <p:sp>
        <p:nvSpPr>
          <p:cNvPr id="9" name="Text 7"/>
          <p:cNvSpPr/>
          <p:nvPr/>
        </p:nvSpPr>
        <p:spPr>
          <a:xfrm>
            <a:off x="411480" y="2633472"/>
            <a:ext cx="3840480" cy="73152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Apache Kafka  •  Apache Spark (MLlib + Streaming)</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Hadoop HDFS  •  InfluxDB (time-series)</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Apache Flink — real-time event stream processing</a:t>
            </a:r>
            <a:endParaRPr lang="en-US" sz="1150" dirty="0"/>
          </a:p>
        </p:txBody>
      </p:sp>
      <p:sp>
        <p:nvSpPr>
          <p:cNvPr id="10" name="Shape 8"/>
          <p:cNvSpPr/>
          <p:nvPr/>
        </p:nvSpPr>
        <p:spPr>
          <a:xfrm>
            <a:off x="274320" y="3611880"/>
            <a:ext cx="4114800" cy="1143000"/>
          </a:xfrm>
          <a:prstGeom prst="rect">
            <a:avLst/>
          </a:prstGeom>
          <a:solidFill>
            <a:srgbClr val="0D2418"/>
          </a:solidFill>
          <a:ln w="12700">
            <a:solidFill>
              <a:srgbClr val="22C55E"/>
            </a:solidFill>
            <a:prstDash val="solid"/>
          </a:ln>
        </p:spPr>
      </p:sp>
      <p:sp>
        <p:nvSpPr>
          <p:cNvPr id="11" name="Text 9"/>
          <p:cNvSpPr/>
          <p:nvPr/>
        </p:nvSpPr>
        <p:spPr>
          <a:xfrm>
            <a:off x="411480" y="3657600"/>
            <a:ext cx="3840480" cy="32004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ML / AI Models</a:t>
            </a:r>
            <a:endParaRPr lang="en-US" sz="1300" dirty="0"/>
          </a:p>
        </p:txBody>
      </p:sp>
      <p:sp>
        <p:nvSpPr>
          <p:cNvPr id="12" name="Text 10"/>
          <p:cNvSpPr/>
          <p:nvPr/>
        </p:nvSpPr>
        <p:spPr>
          <a:xfrm>
            <a:off x="411480" y="3959352"/>
            <a:ext cx="3840480" cy="73152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LSTM — demand sequence forecasting</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XGBoost — short-term load prediction</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Isolation Forest — anomaly / theft detection</a:t>
            </a:r>
            <a:endParaRPr lang="en-US" sz="1150" dirty="0"/>
          </a:p>
        </p:txBody>
      </p:sp>
      <p:sp>
        <p:nvSpPr>
          <p:cNvPr id="13" name="Shape 11"/>
          <p:cNvSpPr/>
          <p:nvPr/>
        </p:nvSpPr>
        <p:spPr>
          <a:xfrm>
            <a:off x="4754880" y="960120"/>
            <a:ext cx="4114800" cy="1143000"/>
          </a:xfrm>
          <a:prstGeom prst="rect">
            <a:avLst/>
          </a:prstGeom>
          <a:solidFill>
            <a:srgbClr val="0D2418"/>
          </a:solidFill>
          <a:ln w="12700">
            <a:solidFill>
              <a:srgbClr val="A3E635"/>
            </a:solidFill>
            <a:prstDash val="solid"/>
          </a:ln>
        </p:spPr>
      </p:sp>
      <p:sp>
        <p:nvSpPr>
          <p:cNvPr id="14" name="Text 12"/>
          <p:cNvSpPr/>
          <p:nvPr/>
        </p:nvSpPr>
        <p:spPr>
          <a:xfrm>
            <a:off x="4892040" y="1005840"/>
            <a:ext cx="3840480" cy="32004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Cloud &amp; Deployment</a:t>
            </a:r>
            <a:endParaRPr lang="en-US" sz="1300" dirty="0"/>
          </a:p>
        </p:txBody>
      </p:sp>
      <p:sp>
        <p:nvSpPr>
          <p:cNvPr id="15" name="Text 13"/>
          <p:cNvSpPr/>
          <p:nvPr/>
        </p:nvSpPr>
        <p:spPr>
          <a:xfrm>
            <a:off x="4892040" y="1307592"/>
            <a:ext cx="3840480" cy="73152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AWS IoT Greengrass — edge data pre-processing</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Grafana + InfluxDB — grid monitoring dashboard</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Docker + Kubernetes — scalable microservices</a:t>
            </a:r>
            <a:endParaRPr lang="en-US" sz="1150" dirty="0"/>
          </a:p>
        </p:txBody>
      </p:sp>
      <p:sp>
        <p:nvSpPr>
          <p:cNvPr id="16" name="Shape 14"/>
          <p:cNvSpPr/>
          <p:nvPr/>
        </p:nvSpPr>
        <p:spPr>
          <a:xfrm>
            <a:off x="4754880" y="2286000"/>
            <a:ext cx="4114800" cy="1143000"/>
          </a:xfrm>
          <a:prstGeom prst="rect">
            <a:avLst/>
          </a:prstGeom>
          <a:solidFill>
            <a:srgbClr val="0D2418"/>
          </a:solidFill>
          <a:ln w="12700">
            <a:solidFill>
              <a:srgbClr val="A3E635"/>
            </a:solidFill>
            <a:prstDash val="solid"/>
          </a:ln>
        </p:spPr>
      </p:sp>
      <p:sp>
        <p:nvSpPr>
          <p:cNvPr id="17" name="Text 15"/>
          <p:cNvSpPr/>
          <p:nvPr/>
        </p:nvSpPr>
        <p:spPr>
          <a:xfrm>
            <a:off x="4892040" y="2331720"/>
            <a:ext cx="3840480" cy="32004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Evaluation Metrics</a:t>
            </a:r>
            <a:endParaRPr lang="en-US" sz="1300" dirty="0"/>
          </a:p>
        </p:txBody>
      </p:sp>
      <p:sp>
        <p:nvSpPr>
          <p:cNvPr id="18" name="Text 16"/>
          <p:cNvSpPr/>
          <p:nvPr/>
        </p:nvSpPr>
        <p:spPr>
          <a:xfrm>
            <a:off x="4892040" y="2633472"/>
            <a:ext cx="3840480" cy="73152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MAPE, RMSE — demand forecast accuracy</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F1-Score, AUC-ROC — anomaly detection</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Energy saved (kWh), CO₂ reduction (tons/year)</a:t>
            </a:r>
            <a:endParaRPr lang="en-US" sz="1150" dirty="0"/>
          </a:p>
        </p:txBody>
      </p:sp>
      <p:sp>
        <p:nvSpPr>
          <p:cNvPr id="19" name="Shape 17"/>
          <p:cNvSpPr/>
          <p:nvPr/>
        </p:nvSpPr>
        <p:spPr>
          <a:xfrm>
            <a:off x="4754880" y="3611880"/>
            <a:ext cx="4114800" cy="1143000"/>
          </a:xfrm>
          <a:prstGeom prst="rect">
            <a:avLst/>
          </a:prstGeom>
          <a:solidFill>
            <a:srgbClr val="0D2418"/>
          </a:solidFill>
          <a:ln w="12700">
            <a:solidFill>
              <a:srgbClr val="A3E635"/>
            </a:solidFill>
            <a:prstDash val="solid"/>
          </a:ln>
        </p:spPr>
      </p:sp>
      <p:sp>
        <p:nvSpPr>
          <p:cNvPr id="20" name="Text 18"/>
          <p:cNvSpPr/>
          <p:nvPr/>
        </p:nvSpPr>
        <p:spPr>
          <a:xfrm>
            <a:off x="4892040" y="3657600"/>
            <a:ext cx="3840480" cy="32004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Grid Hardware / Sensors</a:t>
            </a:r>
            <a:endParaRPr lang="en-US" sz="1300" dirty="0"/>
          </a:p>
        </p:txBody>
      </p:sp>
      <p:sp>
        <p:nvSpPr>
          <p:cNvPr id="21" name="Text 19"/>
          <p:cNvSpPr/>
          <p:nvPr/>
        </p:nvSpPr>
        <p:spPr>
          <a:xfrm>
            <a:off x="4892040" y="3959352"/>
            <a:ext cx="3840480" cy="73152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Smart meters (DLMS/COSEM standard)</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PMU (Phasor Measurement Units) @ 60 samples/sec</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SCADA + EMS (Energy Management System)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A2216"/>
          </a:solidFill>
          <a:ln w="12700">
            <a:solidFill>
              <a:srgbClr val="0A2216"/>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800" b="1" dirty="0">
                <a:solidFill>
                  <a:srgbClr val="22C55E"/>
                </a:solidFill>
                <a:latin typeface="Calibri" pitchFamily="34" charset="0"/>
                <a:ea typeface="Calibri" pitchFamily="34" charset="-122"/>
                <a:cs typeface="Calibri" pitchFamily="34" charset="-120"/>
              </a:rPr>
              <a:t>RESULTS</a:t>
            </a:r>
            <a:endParaRPr lang="en-US" sz="2800" dirty="0"/>
          </a:p>
        </p:txBody>
      </p:sp>
      <p:sp>
        <p:nvSpPr>
          <p:cNvPr id="4" name="Shape 2"/>
          <p:cNvSpPr/>
          <p:nvPr/>
        </p:nvSpPr>
        <p:spPr>
          <a:xfrm>
            <a:off x="228600" y="914400"/>
            <a:ext cx="1920240" cy="123444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228600" y="960120"/>
            <a:ext cx="19202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97.3%</a:t>
            </a:r>
            <a:endParaRPr lang="en-US" sz="3000" dirty="0"/>
          </a:p>
        </p:txBody>
      </p:sp>
      <p:sp>
        <p:nvSpPr>
          <p:cNvPr id="6" name="Text 4"/>
          <p:cNvSpPr/>
          <p:nvPr/>
        </p:nvSpPr>
        <p:spPr>
          <a:xfrm>
            <a:off x="228600" y="1508760"/>
            <a:ext cx="1920240" cy="54864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Demand Forecast</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Accuracy (LSTM)</a:t>
            </a:r>
            <a:endParaRPr lang="en-US" sz="1000" dirty="0"/>
          </a:p>
        </p:txBody>
      </p:sp>
      <p:sp>
        <p:nvSpPr>
          <p:cNvPr id="7" name="Shape 5"/>
          <p:cNvSpPr/>
          <p:nvPr/>
        </p:nvSpPr>
        <p:spPr>
          <a:xfrm>
            <a:off x="2404872" y="914400"/>
            <a:ext cx="1920240" cy="123444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2404872" y="960120"/>
            <a:ext cx="19202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40%</a:t>
            </a:r>
            <a:endParaRPr lang="en-US" sz="3000" dirty="0"/>
          </a:p>
        </p:txBody>
      </p:sp>
      <p:sp>
        <p:nvSpPr>
          <p:cNvPr id="9" name="Text 7"/>
          <p:cNvSpPr/>
          <p:nvPr/>
        </p:nvSpPr>
        <p:spPr>
          <a:xfrm>
            <a:off x="2404872" y="1508760"/>
            <a:ext cx="1920240" cy="54864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Grid Outage</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Duration Reduction</a:t>
            </a:r>
            <a:endParaRPr lang="en-US" sz="1000" dirty="0"/>
          </a:p>
        </p:txBody>
      </p:sp>
      <p:sp>
        <p:nvSpPr>
          <p:cNvPr id="10" name="Shape 8"/>
          <p:cNvSpPr/>
          <p:nvPr/>
        </p:nvSpPr>
        <p:spPr>
          <a:xfrm>
            <a:off x="4581144" y="914400"/>
            <a:ext cx="1920240" cy="123444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4581144" y="960120"/>
            <a:ext cx="19202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22%</a:t>
            </a:r>
            <a:endParaRPr lang="en-US" sz="3000" dirty="0"/>
          </a:p>
        </p:txBody>
      </p:sp>
      <p:sp>
        <p:nvSpPr>
          <p:cNvPr id="12" name="Text 10"/>
          <p:cNvSpPr/>
          <p:nvPr/>
        </p:nvSpPr>
        <p:spPr>
          <a:xfrm>
            <a:off x="4581144" y="1508760"/>
            <a:ext cx="1920240" cy="54864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Renewable Energy</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Curtailment Reduced</a:t>
            </a:r>
            <a:endParaRPr lang="en-US" sz="1000" dirty="0"/>
          </a:p>
        </p:txBody>
      </p:sp>
      <p:sp>
        <p:nvSpPr>
          <p:cNvPr id="13" name="Shape 11"/>
          <p:cNvSpPr/>
          <p:nvPr/>
        </p:nvSpPr>
        <p:spPr>
          <a:xfrm>
            <a:off x="6757416" y="914400"/>
            <a:ext cx="1920240" cy="123444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6757416" y="960120"/>
            <a:ext cx="19202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1.8s</a:t>
            </a:r>
            <a:endParaRPr lang="en-US" sz="3000" dirty="0"/>
          </a:p>
        </p:txBody>
      </p:sp>
      <p:sp>
        <p:nvSpPr>
          <p:cNvPr id="15" name="Text 13"/>
          <p:cNvSpPr/>
          <p:nvPr/>
        </p:nvSpPr>
        <p:spPr>
          <a:xfrm>
            <a:off x="6757416" y="1508760"/>
            <a:ext cx="1920240" cy="54864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Avg Fault Detection</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Latency (Kafka)</a:t>
            </a:r>
            <a:endParaRPr lang="en-US" sz="1000" dirty="0"/>
          </a:p>
        </p:txBody>
      </p:sp>
      <p:graphicFrame>
        <p:nvGraphicFramePr>
          <p:cNvPr id="16" name="Chart 0" descr=""/>
          <p:cNvGraphicFramePr/>
          <p:nvPr/>
        </p:nvGraphicFramePr>
        <p:xfrm>
          <a:off x="228600" y="2286000"/>
          <a:ext cx="5029200" cy="265176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486400" y="2286000"/>
            <a:ext cx="3383280" cy="566928"/>
          </a:xfrm>
          <a:prstGeom prst="rect">
            <a:avLst/>
          </a:prstGeom>
          <a:solidFill>
            <a:srgbClr val="0D2418"/>
          </a:solidFill>
          <a:ln w="12700">
            <a:solidFill>
              <a:srgbClr val="A3E635"/>
            </a:solidFill>
            <a:prstDash val="solid"/>
          </a:ln>
        </p:spPr>
      </p:sp>
      <p:sp>
        <p:nvSpPr>
          <p:cNvPr id="18" name="Text 15"/>
          <p:cNvSpPr/>
          <p:nvPr/>
        </p:nvSpPr>
        <p:spPr>
          <a:xfrm>
            <a:off x="5577840" y="2304288"/>
            <a:ext cx="3200400" cy="228600"/>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Energy Theft Detection:</a:t>
            </a:r>
            <a:endParaRPr lang="en-US" sz="1100" dirty="0"/>
          </a:p>
        </p:txBody>
      </p:sp>
      <p:sp>
        <p:nvSpPr>
          <p:cNvPr id="19" name="Text 16"/>
          <p:cNvSpPr/>
          <p:nvPr/>
        </p:nvSpPr>
        <p:spPr>
          <a:xfrm>
            <a:off x="5577840" y="2532888"/>
            <a:ext cx="3200400" cy="25603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Isolation Forest detects 94.8% of theft cases; false positive rate &lt; 3%</a:t>
            </a:r>
            <a:endParaRPr lang="en-US" sz="1050" dirty="0"/>
          </a:p>
        </p:txBody>
      </p:sp>
      <p:sp>
        <p:nvSpPr>
          <p:cNvPr id="20" name="Shape 17"/>
          <p:cNvSpPr/>
          <p:nvPr/>
        </p:nvSpPr>
        <p:spPr>
          <a:xfrm>
            <a:off x="5486400" y="2953512"/>
            <a:ext cx="3383280" cy="566928"/>
          </a:xfrm>
          <a:prstGeom prst="rect">
            <a:avLst/>
          </a:prstGeom>
          <a:solidFill>
            <a:srgbClr val="0D2418"/>
          </a:solidFill>
          <a:ln w="12700">
            <a:solidFill>
              <a:srgbClr val="A3E635"/>
            </a:solidFill>
            <a:prstDash val="solid"/>
          </a:ln>
        </p:spPr>
      </p:sp>
      <p:sp>
        <p:nvSpPr>
          <p:cNvPr id="21" name="Text 18"/>
          <p:cNvSpPr/>
          <p:nvPr/>
        </p:nvSpPr>
        <p:spPr>
          <a:xfrm>
            <a:off x="5577840" y="2971800"/>
            <a:ext cx="3200400" cy="228600"/>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CO₂ Emissions Saved:</a:t>
            </a:r>
            <a:endParaRPr lang="en-US" sz="1100" dirty="0"/>
          </a:p>
        </p:txBody>
      </p:sp>
      <p:sp>
        <p:nvSpPr>
          <p:cNvPr id="22" name="Text 19"/>
          <p:cNvSpPr/>
          <p:nvPr/>
        </p:nvSpPr>
        <p:spPr>
          <a:xfrm>
            <a:off x="5577840" y="3200400"/>
            <a:ext cx="3200400" cy="25603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18,500 tons/year CO₂ reduction in pilot deployment (3 districts)</a:t>
            </a:r>
            <a:endParaRPr lang="en-US" sz="1050" dirty="0"/>
          </a:p>
        </p:txBody>
      </p:sp>
      <p:sp>
        <p:nvSpPr>
          <p:cNvPr id="23" name="Shape 20"/>
          <p:cNvSpPr/>
          <p:nvPr/>
        </p:nvSpPr>
        <p:spPr>
          <a:xfrm>
            <a:off x="5486400" y="3621024"/>
            <a:ext cx="3383280" cy="566928"/>
          </a:xfrm>
          <a:prstGeom prst="rect">
            <a:avLst/>
          </a:prstGeom>
          <a:solidFill>
            <a:srgbClr val="0D2418"/>
          </a:solidFill>
          <a:ln w="12700">
            <a:solidFill>
              <a:srgbClr val="A3E635"/>
            </a:solidFill>
            <a:prstDash val="solid"/>
          </a:ln>
        </p:spPr>
      </p:sp>
      <p:sp>
        <p:nvSpPr>
          <p:cNvPr id="24" name="Text 21"/>
          <p:cNvSpPr/>
          <p:nvPr/>
        </p:nvSpPr>
        <p:spPr>
          <a:xfrm>
            <a:off x="5577840" y="3639312"/>
            <a:ext cx="3200400" cy="228600"/>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Load Balancing:</a:t>
            </a:r>
            <a:endParaRPr lang="en-US" sz="1100" dirty="0"/>
          </a:p>
        </p:txBody>
      </p:sp>
      <p:sp>
        <p:nvSpPr>
          <p:cNvPr id="25" name="Text 22"/>
          <p:cNvSpPr/>
          <p:nvPr/>
        </p:nvSpPr>
        <p:spPr>
          <a:xfrm>
            <a:off x="5577840" y="3867912"/>
            <a:ext cx="3200400" cy="25603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Peak demand shifted by 15% using real-time pricing signals from Kafka</a:t>
            </a:r>
            <a:endParaRPr lang="en-US" sz="1050" dirty="0"/>
          </a:p>
        </p:txBody>
      </p:sp>
      <p:sp>
        <p:nvSpPr>
          <p:cNvPr id="26" name="Shape 23"/>
          <p:cNvSpPr/>
          <p:nvPr/>
        </p:nvSpPr>
        <p:spPr>
          <a:xfrm>
            <a:off x="5486400" y="4288536"/>
            <a:ext cx="3383280" cy="566928"/>
          </a:xfrm>
          <a:prstGeom prst="rect">
            <a:avLst/>
          </a:prstGeom>
          <a:solidFill>
            <a:srgbClr val="0D2418"/>
          </a:solidFill>
          <a:ln w="12700">
            <a:solidFill>
              <a:srgbClr val="A3E635"/>
            </a:solidFill>
            <a:prstDash val="solid"/>
          </a:ln>
        </p:spPr>
      </p:sp>
      <p:sp>
        <p:nvSpPr>
          <p:cNvPr id="27" name="Text 24"/>
          <p:cNvSpPr/>
          <p:nvPr/>
        </p:nvSpPr>
        <p:spPr>
          <a:xfrm>
            <a:off x="5577840" y="4306824"/>
            <a:ext cx="3200400" cy="228600"/>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Self-Healing Grid:</a:t>
            </a:r>
            <a:endParaRPr lang="en-US" sz="1100" dirty="0"/>
          </a:p>
        </p:txBody>
      </p:sp>
      <p:sp>
        <p:nvSpPr>
          <p:cNvPr id="28" name="Text 25"/>
          <p:cNvSpPr/>
          <p:nvPr/>
        </p:nvSpPr>
        <p:spPr>
          <a:xfrm>
            <a:off x="5577840" y="4535424"/>
            <a:ext cx="3200400" cy="25603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Automated rerouting restores power in avg 4.2 min vs 47 min manually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F0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2C55E"/>
          </a:solidFill>
          <a:ln w="12700">
            <a:solidFill>
              <a:srgbClr val="22C55E"/>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600" b="1" dirty="0">
                <a:solidFill>
                  <a:srgbClr val="071A0F"/>
                </a:solidFill>
                <a:latin typeface="Calibri" pitchFamily="34" charset="0"/>
                <a:ea typeface="Calibri" pitchFamily="34" charset="-122"/>
                <a:cs typeface="Calibri" pitchFamily="34" charset="-120"/>
              </a:rPr>
              <a:t>CONCLUSION &amp; FUTURE WORK</a:t>
            </a:r>
            <a:endParaRPr lang="en-US" sz="2600" dirty="0"/>
          </a:p>
        </p:txBody>
      </p:sp>
      <p:sp>
        <p:nvSpPr>
          <p:cNvPr id="4" name="Text 2"/>
          <p:cNvSpPr/>
          <p:nvPr/>
        </p:nvSpPr>
        <p:spPr>
          <a:xfrm>
            <a:off x="274320" y="914400"/>
            <a:ext cx="4114800" cy="365760"/>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CONCLUSION</a:t>
            </a:r>
            <a:endParaRPr lang="en-US" sz="1600" dirty="0"/>
          </a:p>
        </p:txBody>
      </p:sp>
      <p:sp>
        <p:nvSpPr>
          <p:cNvPr id="5" name="Text 3"/>
          <p:cNvSpPr/>
          <p:nvPr/>
        </p:nvSpPr>
        <p:spPr>
          <a:xfrm>
            <a:off x="274320" y="1298448"/>
            <a:ext cx="4114800" cy="3291840"/>
          </a:xfrm>
          <a:prstGeom prst="rect">
            <a:avLst/>
          </a:prstGeom>
          <a:noFill/>
          <a:ln/>
        </p:spPr>
        <p:txBody>
          <a:bodyPr wrap="square" rtlCol="0" anchor="t"/>
          <a:lstStyle/>
          <a:p>
            <a:pPr indent="0" marL="0">
              <a:buNone/>
            </a:pPr>
            <a:r>
              <a:rPr lang="en-US" sz="1200" b="1" dirty="0">
                <a:solidFill>
                  <a:srgbClr val="22C55E"/>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Big Data Analytics transforms smart grids from passive infrastructure to intelligent, adaptive energy ecosystems.
</a:t>
            </a:r>
            <a:pPr indent="0" marL="0">
              <a:buNone/>
            </a:pPr>
            <a:r>
              <a:rPr lang="en-US" sz="1200" b="1" dirty="0">
                <a:solidFill>
                  <a:srgbClr val="22C55E"/>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The proposed LSTM + Spark pipeline achieves 97.3% demand forecast accuracy, enabling precise, proactive load dispatch.
</a:t>
            </a:r>
            <a:pPr indent="0" marL="0">
              <a:buNone/>
            </a:pPr>
            <a:r>
              <a:rPr lang="en-US" sz="1200" b="1" dirty="0">
                <a:solidFill>
                  <a:srgbClr val="22C55E"/>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Energy theft detection using Isolation Forest reduces revenue leakage by up to 30% in pilot zones.
</a:t>
            </a:r>
            <a:pPr indent="0" marL="0">
              <a:buNone/>
            </a:pPr>
            <a:r>
              <a:rPr lang="en-US" sz="1200" b="1" dirty="0">
                <a:solidFill>
                  <a:srgbClr val="22C55E"/>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Deployment results confirm 40% reduction in outage duration and 22% cut in renewable curtailment — advancing Net Zero goals.</a:t>
            </a:r>
            <a:endParaRPr lang="en-US" sz="1200" dirty="0"/>
          </a:p>
        </p:txBody>
      </p:sp>
      <p:sp>
        <p:nvSpPr>
          <p:cNvPr id="6" name="Shape 4"/>
          <p:cNvSpPr/>
          <p:nvPr/>
        </p:nvSpPr>
        <p:spPr>
          <a:xfrm>
            <a:off x="4572000" y="914400"/>
            <a:ext cx="45720" cy="3931920"/>
          </a:xfrm>
          <a:prstGeom prst="rect">
            <a:avLst/>
          </a:prstGeom>
          <a:solidFill>
            <a:srgbClr val="1C3B2A"/>
          </a:solidFill>
          <a:ln w="12700">
            <a:solidFill>
              <a:srgbClr val="1C3B2A"/>
            </a:solidFill>
            <a:prstDash val="solid"/>
          </a:ln>
        </p:spPr>
      </p:sp>
      <p:sp>
        <p:nvSpPr>
          <p:cNvPr id="7" name="Text 5"/>
          <p:cNvSpPr/>
          <p:nvPr/>
        </p:nvSpPr>
        <p:spPr>
          <a:xfrm>
            <a:off x="4754880" y="914400"/>
            <a:ext cx="4114800" cy="365760"/>
          </a:xfrm>
          <a:prstGeom prst="rect">
            <a:avLst/>
          </a:prstGeom>
          <a:noFill/>
          <a:ln/>
        </p:spPr>
        <p:txBody>
          <a:bodyPr wrap="square" lIns="0" tIns="0" rIns="0" bIns="0" rtlCol="0" anchor="ctr"/>
          <a:lstStyle/>
          <a:p>
            <a:pPr indent="0" marL="0">
              <a:buNone/>
            </a:pPr>
            <a:r>
              <a:rPr lang="en-US" sz="1600" b="1" dirty="0">
                <a:solidFill>
                  <a:srgbClr val="A3E635"/>
                </a:solidFill>
                <a:latin typeface="Calibri" pitchFamily="34" charset="0"/>
                <a:ea typeface="Calibri" pitchFamily="34" charset="-122"/>
                <a:cs typeface="Calibri" pitchFamily="34" charset="-120"/>
              </a:rPr>
              <a:t>FUTURE WORK</a:t>
            </a:r>
            <a:endParaRPr lang="en-US" sz="1600" dirty="0"/>
          </a:p>
        </p:txBody>
      </p:sp>
      <p:sp>
        <p:nvSpPr>
          <p:cNvPr id="8" name="Text 6"/>
          <p:cNvSpPr/>
          <p:nvPr/>
        </p:nvSpPr>
        <p:spPr>
          <a:xfrm>
            <a:off x="4754880" y="1298448"/>
            <a:ext cx="4114800" cy="3291840"/>
          </a:xfrm>
          <a:prstGeom prst="rect">
            <a:avLst/>
          </a:prstGeom>
          <a:noFill/>
          <a:ln/>
        </p:spPr>
        <p:txBody>
          <a:bodyPr wrap="square" rtlCol="0" anchor="t"/>
          <a:lstStyle/>
          <a:p>
            <a:pPr indent="0" marL="0">
              <a:buNone/>
            </a:pPr>
            <a:r>
              <a:rPr lang="en-US" sz="1200" b="1" dirty="0">
                <a:solidFill>
                  <a:srgbClr val="A3E635"/>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Blockchain-based peer-to-peer energy trading marketplace using smart contracts for prosumer settlements.
</a:t>
            </a:r>
            <a:pPr indent="0" marL="0">
              <a:buNone/>
            </a:pPr>
            <a:r>
              <a:rPr lang="en-US" sz="1200" b="1" dirty="0">
                <a:solidFill>
                  <a:srgbClr val="A3E635"/>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Vehicle-to-Grid (V2G) analytics — leverage EV batteries as dynamic storage in demand response programs.
</a:t>
            </a:r>
            <a:pPr indent="0" marL="0">
              <a:buNone/>
            </a:pPr>
            <a:r>
              <a:rPr lang="en-US" sz="1200" b="1" dirty="0">
                <a:solidFill>
                  <a:srgbClr val="A3E635"/>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Quantum computing integration for solving large-scale grid optimization problems in real time.
</a:t>
            </a:r>
            <a:pPr indent="0" marL="0">
              <a:buNone/>
            </a:pPr>
            <a:r>
              <a:rPr lang="en-US" sz="1200" b="1" dirty="0">
                <a:solidFill>
                  <a:srgbClr val="A3E635"/>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Advanced privacy-preserving federated learning models across multiple grid operators without data sharing.
</a:t>
            </a:r>
            <a:pPr indent="0" marL="0">
              <a:buNone/>
            </a:pPr>
            <a:r>
              <a:rPr lang="en-US" sz="1200" b="1" dirty="0">
                <a:solidFill>
                  <a:srgbClr val="A3E635"/>
                </a:solidFill>
                <a:latin typeface="Calibri" pitchFamily="34" charset="0"/>
                <a:ea typeface="Calibri" pitchFamily="34" charset="-122"/>
                <a:cs typeface="Calibri" pitchFamily="34" charset="-120"/>
              </a:rPr>
              <a:t>→  </a:t>
            </a:r>
            <a:pPr indent="0" marL="0">
              <a:buNone/>
            </a:pPr>
            <a:r>
              <a:rPr lang="en-US" sz="1200" dirty="0">
                <a:solidFill>
                  <a:srgbClr val="D1FAE5"/>
                </a:solidFill>
                <a:latin typeface="Calibri" pitchFamily="34" charset="0"/>
                <a:ea typeface="Calibri" pitchFamily="34" charset="-122"/>
                <a:cs typeface="Calibri" pitchFamily="34" charset="-120"/>
              </a:rPr>
              <a:t>Digital Twin + Reinforcement Learning for autonomous grid self-healing and topology reconfiguration.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418"/>
          </a:solidFill>
          <a:ln w="12700">
            <a:solidFill>
              <a:srgbClr val="0D2418"/>
            </a:solidFill>
            <a:prstDash val="solid"/>
          </a:ln>
        </p:spPr>
      </p:sp>
      <p:sp>
        <p:nvSpPr>
          <p:cNvPr id="3" name="Text 1"/>
          <p:cNvSpPr/>
          <p:nvPr/>
        </p:nvSpPr>
        <p:spPr>
          <a:xfrm>
            <a:off x="365760" y="91440"/>
            <a:ext cx="8229600" cy="640080"/>
          </a:xfrm>
          <a:prstGeom prst="rect">
            <a:avLst/>
          </a:prstGeom>
          <a:noFill/>
          <a:ln/>
        </p:spPr>
        <p:txBody>
          <a:bodyPr wrap="square" lIns="0" tIns="0" rIns="0" bIns="0" rtlCol="0" anchor="ctr"/>
          <a:lstStyle/>
          <a:p>
            <a:pPr indent="0" marL="0">
              <a:buNone/>
            </a:pPr>
            <a:r>
              <a:rPr lang="en-US" sz="2400" b="1" dirty="0">
                <a:solidFill>
                  <a:srgbClr val="22C55E"/>
                </a:solidFill>
                <a:latin typeface="Calibri" pitchFamily="34" charset="0"/>
                <a:ea typeface="Calibri" pitchFamily="34" charset="-122"/>
                <a:cs typeface="Calibri" pitchFamily="34" charset="-120"/>
              </a:rPr>
              <a:t>REFERENCES (APA Style)</a:t>
            </a:r>
            <a:endParaRPr lang="en-US" sz="2400" dirty="0"/>
          </a:p>
        </p:txBody>
      </p:sp>
      <p:sp>
        <p:nvSpPr>
          <p:cNvPr id="4" name="Text 2"/>
          <p:cNvSpPr/>
          <p:nvPr/>
        </p:nvSpPr>
        <p:spPr>
          <a:xfrm>
            <a:off x="320040" y="914400"/>
            <a:ext cx="6583680" cy="658368"/>
          </a:xfrm>
          <a:prstGeom prst="rect">
            <a:avLst/>
          </a:prstGeom>
          <a:noFill/>
          <a:ln/>
        </p:spPr>
        <p:txBody>
          <a:bodyPr wrap="square" rtlCol="0" anchor="t"/>
          <a:lstStyle/>
          <a:p>
            <a:pPr indent="0" marL="0">
              <a:buNone/>
            </a:pPr>
            <a:r>
              <a:rPr lang="en-US" sz="1050" dirty="0">
                <a:solidFill>
                  <a:srgbClr val="D1FAE5"/>
                </a:solidFill>
                <a:latin typeface="Calibri" pitchFamily="34" charset="0"/>
                <a:ea typeface="Calibri" pitchFamily="34" charset="-122"/>
                <a:cs typeface="Calibri" pitchFamily="34" charset="-120"/>
              </a:rPr>
              <a:t>[1] Fang, X., Misra, S., Xue, G., &amp; Yang, D. (2012). Smart grid — The new and improved power grid: A survey. IEEE Communications Surveys &amp; Tutorials, 14(4), 944–980.</a:t>
            </a:r>
            <a:endParaRPr lang="en-US" sz="1050" dirty="0"/>
          </a:p>
        </p:txBody>
      </p:sp>
      <p:sp>
        <p:nvSpPr>
          <p:cNvPr id="5" name="Text 3">
            <a:hlinkClick r:id="rId1" tooltip=""/>
          </p:cNvPr>
          <p:cNvSpPr/>
          <p:nvPr/>
        </p:nvSpPr>
        <p:spPr>
          <a:xfrm>
            <a:off x="6995160" y="1051560"/>
            <a:ext cx="1874520" cy="365760"/>
          </a:xfrm>
          <a:prstGeom prst="rect">
            <a:avLst/>
          </a:prstGeom>
          <a:noFill/>
          <a:ln/>
        </p:spPr>
        <p:txBody>
          <a:bodyPr wrap="square" rtlCol="0" anchor="ctr"/>
          <a:lstStyle/>
          <a:p>
            <a:pPr indent="0" marL="0">
              <a:buNone/>
            </a:pPr>
            <a:r>
              <a:rPr lang="en-US" sz="950" u="sng" dirty="0">
                <a:solidFill>
                  <a:srgbClr val="2DD4B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https://doi.org/10.1109/SURV.2011.101911.00087</a:t>
            </a:r>
            <a:endParaRPr lang="en-US" sz="950" dirty="0"/>
          </a:p>
        </p:txBody>
      </p:sp>
      <p:sp>
        <p:nvSpPr>
          <p:cNvPr id="6" name="Text 4"/>
          <p:cNvSpPr/>
          <p:nvPr/>
        </p:nvSpPr>
        <p:spPr>
          <a:xfrm>
            <a:off x="320040" y="1719072"/>
            <a:ext cx="6583680" cy="658368"/>
          </a:xfrm>
          <a:prstGeom prst="rect">
            <a:avLst/>
          </a:prstGeom>
          <a:noFill/>
          <a:ln/>
        </p:spPr>
        <p:txBody>
          <a:bodyPr wrap="square" rtlCol="0" anchor="t"/>
          <a:lstStyle/>
          <a:p>
            <a:pPr indent="0" marL="0">
              <a:buNone/>
            </a:pPr>
            <a:r>
              <a:rPr lang="en-US" sz="1050" dirty="0">
                <a:solidFill>
                  <a:srgbClr val="D1FAE5"/>
                </a:solidFill>
                <a:latin typeface="Calibri" pitchFamily="34" charset="0"/>
                <a:ea typeface="Calibri" pitchFamily="34" charset="-122"/>
                <a:cs typeface="Calibri" pitchFamily="34" charset="-120"/>
              </a:rPr>
              <a:t>[2] Fadlullah, Z. M., Tang, F., Mao, B., Kato, N., Akashi, O., Inoue, T., &amp; Mizutani, K. (2017). State-of-the-art deep learning: Evolving machine intelligence toward tomorrow's intelligent network traffic control systems. IEEE Communications Surveys &amp; Tutorials, 19(4), 2432–2455.</a:t>
            </a:r>
            <a:endParaRPr lang="en-US" sz="1050" dirty="0"/>
          </a:p>
        </p:txBody>
      </p:sp>
      <p:sp>
        <p:nvSpPr>
          <p:cNvPr id="7" name="Text 5">
            <a:hlinkClick r:id="rId2" tooltip=""/>
          </p:cNvPr>
          <p:cNvSpPr/>
          <p:nvPr/>
        </p:nvSpPr>
        <p:spPr>
          <a:xfrm>
            <a:off x="6995160" y="1856232"/>
            <a:ext cx="1874520" cy="365760"/>
          </a:xfrm>
          <a:prstGeom prst="rect">
            <a:avLst/>
          </a:prstGeom>
          <a:noFill/>
          <a:ln/>
        </p:spPr>
        <p:txBody>
          <a:bodyPr wrap="square" rtlCol="0" anchor="ctr"/>
          <a:lstStyle/>
          <a:p>
            <a:pPr indent="0" marL="0">
              <a:buNone/>
            </a:pPr>
            <a:r>
              <a:rPr lang="en-US" sz="950" u="sng" dirty="0">
                <a:solidFill>
                  <a:srgbClr val="2DD4B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https://doi.org/10.1109/COMST.2017.2707140</a:t>
            </a:r>
            <a:endParaRPr lang="en-US" sz="950" dirty="0"/>
          </a:p>
        </p:txBody>
      </p:sp>
      <p:sp>
        <p:nvSpPr>
          <p:cNvPr id="8" name="Text 6"/>
          <p:cNvSpPr/>
          <p:nvPr/>
        </p:nvSpPr>
        <p:spPr>
          <a:xfrm>
            <a:off x="320040" y="2523744"/>
            <a:ext cx="6583680" cy="658368"/>
          </a:xfrm>
          <a:prstGeom prst="rect">
            <a:avLst/>
          </a:prstGeom>
          <a:noFill/>
          <a:ln/>
        </p:spPr>
        <p:txBody>
          <a:bodyPr wrap="square" rtlCol="0" anchor="t"/>
          <a:lstStyle/>
          <a:p>
            <a:pPr indent="0" marL="0">
              <a:buNone/>
            </a:pPr>
            <a:r>
              <a:rPr lang="en-US" sz="1050" dirty="0">
                <a:solidFill>
                  <a:srgbClr val="D1FAE5"/>
                </a:solidFill>
                <a:latin typeface="Calibri" pitchFamily="34" charset="0"/>
                <a:ea typeface="Calibri" pitchFamily="34" charset="-122"/>
                <a:cs typeface="Calibri" pitchFamily="34" charset="-120"/>
              </a:rPr>
              <a:t>[3] Kong, W., Dong, Z. Y., Jia, Y., Hill, D. J., Xu, Y., &amp; Zhang, Y. (2017). Short-term residential load forecasting based on LSTM recurrent neural network. IEEE Transactions on Smart Grid, 10(1), 841–851.</a:t>
            </a:r>
            <a:endParaRPr lang="en-US" sz="1050" dirty="0"/>
          </a:p>
        </p:txBody>
      </p:sp>
      <p:sp>
        <p:nvSpPr>
          <p:cNvPr id="9" name="Text 7">
            <a:hlinkClick r:id="rId3" tooltip=""/>
          </p:cNvPr>
          <p:cNvSpPr/>
          <p:nvPr/>
        </p:nvSpPr>
        <p:spPr>
          <a:xfrm>
            <a:off x="6995160" y="2660904"/>
            <a:ext cx="1874520" cy="365760"/>
          </a:xfrm>
          <a:prstGeom prst="rect">
            <a:avLst/>
          </a:prstGeom>
          <a:noFill/>
          <a:ln/>
        </p:spPr>
        <p:txBody>
          <a:bodyPr wrap="square" rtlCol="0" anchor="ctr"/>
          <a:lstStyle/>
          <a:p>
            <a:pPr indent="0" marL="0">
              <a:buNone/>
            </a:pPr>
            <a:r>
              <a:rPr lang="en-US" sz="950" u="sng" dirty="0">
                <a:solidFill>
                  <a:srgbClr val="2DD4B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https://doi.org/10.1109/TSG.2017.2753802</a:t>
            </a:r>
            <a:endParaRPr lang="en-US" sz="950" dirty="0"/>
          </a:p>
        </p:txBody>
      </p:sp>
      <p:sp>
        <p:nvSpPr>
          <p:cNvPr id="10" name="Text 8"/>
          <p:cNvSpPr/>
          <p:nvPr/>
        </p:nvSpPr>
        <p:spPr>
          <a:xfrm>
            <a:off x="320040" y="3328416"/>
            <a:ext cx="6583680" cy="658368"/>
          </a:xfrm>
          <a:prstGeom prst="rect">
            <a:avLst/>
          </a:prstGeom>
          <a:noFill/>
          <a:ln/>
        </p:spPr>
        <p:txBody>
          <a:bodyPr wrap="square" rtlCol="0" anchor="t"/>
          <a:lstStyle/>
          <a:p>
            <a:pPr indent="0" marL="0">
              <a:buNone/>
            </a:pPr>
            <a:r>
              <a:rPr lang="en-US" sz="1050" dirty="0">
                <a:solidFill>
                  <a:srgbClr val="D1FAE5"/>
                </a:solidFill>
                <a:latin typeface="Calibri" pitchFamily="34" charset="0"/>
                <a:ea typeface="Calibri" pitchFamily="34" charset="-122"/>
                <a:cs typeface="Calibri" pitchFamily="34" charset="-120"/>
              </a:rPr>
              <a:t>[4] Tuballa, M. L., &amp; Abundo, M. L. (2016). A review of the development of smart grid technology. Renewable and Sustainable Energy Reviews, 59, 710–725.</a:t>
            </a:r>
            <a:endParaRPr lang="en-US" sz="1050" dirty="0"/>
          </a:p>
        </p:txBody>
      </p:sp>
      <p:sp>
        <p:nvSpPr>
          <p:cNvPr id="11" name="Text 9">
            <a:hlinkClick r:id="rId4" tooltip=""/>
          </p:cNvPr>
          <p:cNvSpPr/>
          <p:nvPr/>
        </p:nvSpPr>
        <p:spPr>
          <a:xfrm>
            <a:off x="6995160" y="3465576"/>
            <a:ext cx="1874520" cy="365760"/>
          </a:xfrm>
          <a:prstGeom prst="rect">
            <a:avLst/>
          </a:prstGeom>
          <a:noFill/>
          <a:ln/>
        </p:spPr>
        <p:txBody>
          <a:bodyPr wrap="square" rtlCol="0" anchor="ctr"/>
          <a:lstStyle/>
          <a:p>
            <a:pPr indent="0" marL="0">
              <a:buNone/>
            </a:pPr>
            <a:r>
              <a:rPr lang="en-US" sz="950" u="sng" dirty="0">
                <a:solidFill>
                  <a:srgbClr val="2DD4B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https://doi.org/10.1016/j.rser.2016.01.011</a:t>
            </a:r>
            <a:endParaRPr lang="en-US" sz="950" dirty="0"/>
          </a:p>
        </p:txBody>
      </p:sp>
      <p:sp>
        <p:nvSpPr>
          <p:cNvPr id="12" name="Text 10"/>
          <p:cNvSpPr/>
          <p:nvPr/>
        </p:nvSpPr>
        <p:spPr>
          <a:xfrm>
            <a:off x="320040" y="4133088"/>
            <a:ext cx="6583680" cy="658368"/>
          </a:xfrm>
          <a:prstGeom prst="rect">
            <a:avLst/>
          </a:prstGeom>
          <a:noFill/>
          <a:ln/>
        </p:spPr>
        <p:txBody>
          <a:bodyPr wrap="square" rtlCol="0" anchor="t"/>
          <a:lstStyle/>
          <a:p>
            <a:pPr indent="0" marL="0">
              <a:buNone/>
            </a:pPr>
            <a:r>
              <a:rPr lang="en-US" sz="1050" dirty="0">
                <a:solidFill>
                  <a:srgbClr val="D1FAE5"/>
                </a:solidFill>
                <a:latin typeface="Calibri" pitchFamily="34" charset="0"/>
                <a:ea typeface="Calibri" pitchFamily="34" charset="-122"/>
                <a:cs typeface="Calibri" pitchFamily="34" charset="-120"/>
              </a:rPr>
              <a:t>[5] Yildiz, B., Bilbao, J. I., &amp; Sproul, A. B. (2017). A review and analysis of regression and machine learning models on commercial building electricity load forecasting. Renewable and Sustainable Energy Reviews, 73, 1104–1122.</a:t>
            </a:r>
            <a:endParaRPr lang="en-US" sz="1050" dirty="0"/>
          </a:p>
        </p:txBody>
      </p:sp>
      <p:sp>
        <p:nvSpPr>
          <p:cNvPr id="13" name="Text 11">
            <a:hlinkClick r:id="rId5" tooltip=""/>
          </p:cNvPr>
          <p:cNvSpPr/>
          <p:nvPr/>
        </p:nvSpPr>
        <p:spPr>
          <a:xfrm>
            <a:off x="6995160" y="4270248"/>
            <a:ext cx="1874520" cy="365760"/>
          </a:xfrm>
          <a:prstGeom prst="rect">
            <a:avLst/>
          </a:prstGeom>
          <a:noFill/>
          <a:ln/>
        </p:spPr>
        <p:txBody>
          <a:bodyPr wrap="square" rtlCol="0" anchor="ctr"/>
          <a:lstStyle/>
          <a:p>
            <a:pPr indent="0" marL="0">
              <a:buNone/>
            </a:pPr>
            <a:r>
              <a:rPr lang="en-US" sz="950" u="sng" dirty="0">
                <a:solidFill>
                  <a:srgbClr val="2DD4B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https://doi.org/10.1016/j.rser.2017.02.023</a:t>
            </a:r>
            <a:endParaRPr lang="en-US" sz="950" dirty="0"/>
          </a:p>
        </p:txBody>
      </p:sp>
      <p:sp>
        <p:nvSpPr>
          <p:cNvPr id="14" name="Shape 12"/>
          <p:cNvSpPr/>
          <p:nvPr/>
        </p:nvSpPr>
        <p:spPr>
          <a:xfrm>
            <a:off x="0" y="4754880"/>
            <a:ext cx="9144000" cy="388620"/>
          </a:xfrm>
          <a:prstGeom prst="rect">
            <a:avLst/>
          </a:prstGeom>
          <a:solidFill>
            <a:srgbClr val="0D2418"/>
          </a:solidFill>
          <a:ln w="12700">
            <a:solidFill>
              <a:srgbClr val="0D2418"/>
            </a:solidFill>
            <a:prstDash val="solid"/>
          </a:ln>
        </p:spPr>
      </p:sp>
      <p:sp>
        <p:nvSpPr>
          <p:cNvPr id="15" name="Text 13"/>
          <p:cNvSpPr/>
          <p:nvPr/>
        </p:nvSpPr>
        <p:spPr>
          <a:xfrm>
            <a:off x="274320" y="4773168"/>
            <a:ext cx="8595360" cy="320040"/>
          </a:xfrm>
          <a:prstGeom prst="rect">
            <a:avLst/>
          </a:prstGeom>
          <a:noFill/>
          <a:ln/>
        </p:spPr>
        <p:txBody>
          <a:bodyPr wrap="square" rtlCol="0" anchor="ctr"/>
          <a:lstStyle/>
          <a:p>
            <a:pPr algn="ctr" indent="0" marL="0">
              <a:buNone/>
            </a:pPr>
            <a:r>
              <a:rPr lang="en-US" sz="1000" dirty="0">
                <a:solidFill>
                  <a:srgbClr val="6EE7B7"/>
                </a:solidFill>
                <a:latin typeface="Calibri" pitchFamily="34" charset="0"/>
                <a:ea typeface="Calibri" pitchFamily="34" charset="-122"/>
                <a:cs typeface="Calibri" pitchFamily="34" charset="-120"/>
              </a:rPr>
              <a:t>All DOI links are clickable and lead to the original research papers.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F08"/>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22C55E"/>
          </a:solidFill>
          <a:ln w="12700">
            <a:solidFill>
              <a:srgbClr val="22C55E"/>
            </a:solidFill>
            <a:prstDash val="solid"/>
          </a:ln>
        </p:spPr>
      </p:sp>
      <p:sp>
        <p:nvSpPr>
          <p:cNvPr id="3" name="Text 1"/>
          <p:cNvSpPr/>
          <p:nvPr/>
        </p:nvSpPr>
        <p:spPr>
          <a:xfrm>
            <a:off x="182880" y="1371600"/>
            <a:ext cx="3749040" cy="2286000"/>
          </a:xfrm>
          <a:prstGeom prst="rect">
            <a:avLst/>
          </a:prstGeom>
          <a:noFill/>
          <a:ln/>
        </p:spPr>
        <p:txBody>
          <a:bodyPr wrap="square" rtlCol="0" anchor="ctr"/>
          <a:lstStyle/>
          <a:p>
            <a:pPr algn="ctr" indent="0" marL="0">
              <a:buNone/>
            </a:pPr>
            <a:r>
              <a:rPr lang="en-US" sz="5200" b="1" dirty="0">
                <a:solidFill>
                  <a:srgbClr val="071A0F"/>
                </a:solidFill>
                <a:latin typeface="Calibri" pitchFamily="34" charset="0"/>
                <a:ea typeface="Calibri" pitchFamily="34" charset="-122"/>
                <a:cs typeface="Calibri" pitchFamily="34" charset="-120"/>
              </a:rPr>
              <a:t>THANK</a:t>
            </a:r>
            <a:endParaRPr lang="en-US" sz="5200" dirty="0"/>
          </a:p>
          <a:p>
            <a:pPr algn="ctr" indent="0" marL="0">
              <a:buNone/>
            </a:pPr>
            <a:r>
              <a:rPr lang="en-US" sz="5200" b="1" dirty="0">
                <a:solidFill>
                  <a:srgbClr val="071A0F"/>
                </a:solidFill>
                <a:latin typeface="Calibri" pitchFamily="34" charset="0"/>
                <a:ea typeface="Calibri" pitchFamily="34" charset="-122"/>
                <a:cs typeface="Calibri" pitchFamily="34" charset="-120"/>
              </a:rPr>
              <a:t>YOU</a:t>
            </a:r>
            <a:endParaRPr lang="en-US" sz="5200" dirty="0"/>
          </a:p>
        </p:txBody>
      </p:sp>
      <p:sp>
        <p:nvSpPr>
          <p:cNvPr id="4" name="Text 2"/>
          <p:cNvSpPr/>
          <p:nvPr/>
        </p:nvSpPr>
        <p:spPr>
          <a:xfrm>
            <a:off x="4572000" y="1188720"/>
            <a:ext cx="4114800" cy="1097280"/>
          </a:xfrm>
          <a:prstGeom prst="rect">
            <a:avLst/>
          </a:prstGeom>
          <a:noFill/>
          <a:ln/>
        </p:spPr>
        <p:txBody>
          <a:bodyPr wrap="square" rtlCol="0" anchor="ctr"/>
          <a:lstStyle/>
          <a:p>
            <a:pPr indent="0" marL="0">
              <a:buNone/>
            </a:pPr>
            <a:r>
              <a:rPr lang="en-US" sz="1800" b="1" dirty="0">
                <a:solidFill>
                  <a:srgbClr val="22C55E"/>
                </a:solidFill>
                <a:latin typeface="Calibri" pitchFamily="34" charset="0"/>
                <a:ea typeface="Calibri" pitchFamily="34" charset="-122"/>
                <a:cs typeface="Calibri" pitchFamily="34" charset="-120"/>
              </a:rPr>
              <a:t>Smart Energy Grids</a:t>
            </a:r>
            <a:endParaRPr lang="en-US" sz="1800" dirty="0"/>
          </a:p>
          <a:p>
            <a:pPr indent="0" marL="0">
              <a:buNone/>
            </a:pPr>
            <a:r>
              <a:rPr lang="en-US" sz="1800" b="1" dirty="0">
                <a:solidFill>
                  <a:srgbClr val="22C55E"/>
                </a:solidFill>
                <a:latin typeface="Calibri" pitchFamily="34" charset="0"/>
                <a:ea typeface="Calibri" pitchFamily="34" charset="-122"/>
                <a:cs typeface="Calibri" pitchFamily="34" charset="-120"/>
              </a:rPr>
              <a:t>&amp; Sustainability</a:t>
            </a:r>
            <a:endParaRPr lang="en-US" sz="1800" dirty="0"/>
          </a:p>
        </p:txBody>
      </p:sp>
      <p:sp>
        <p:nvSpPr>
          <p:cNvPr id="5" name="Text 3"/>
          <p:cNvSpPr/>
          <p:nvPr/>
        </p:nvSpPr>
        <p:spPr>
          <a:xfrm>
            <a:off x="4572000" y="2331720"/>
            <a:ext cx="4114800" cy="411480"/>
          </a:xfrm>
          <a:prstGeom prst="rect">
            <a:avLst/>
          </a:prstGeom>
          <a:noFill/>
          <a:ln/>
        </p:spPr>
        <p:txBody>
          <a:bodyPr wrap="square" rtlCol="0" anchor="ctr"/>
          <a:lstStyle/>
          <a:p>
            <a:pPr indent="0" marL="0">
              <a:buNone/>
            </a:pPr>
            <a:r>
              <a:rPr lang="en-US" sz="1300" i="1" dirty="0">
                <a:solidFill>
                  <a:srgbClr val="6EE7B7"/>
                </a:solidFill>
                <a:latin typeface="Calibri" pitchFamily="34" charset="0"/>
                <a:ea typeface="Calibri" pitchFamily="34" charset="-122"/>
                <a:cs typeface="Calibri" pitchFamily="34" charset="-120"/>
              </a:rPr>
              <a:t>Topic 9 | BDA Case Study</a:t>
            </a:r>
            <a:endParaRPr lang="en-US" sz="1300" dirty="0"/>
          </a:p>
        </p:txBody>
      </p:sp>
      <p:sp>
        <p:nvSpPr>
          <p:cNvPr id="6" name="Shape 4"/>
          <p:cNvSpPr/>
          <p:nvPr/>
        </p:nvSpPr>
        <p:spPr>
          <a:xfrm>
            <a:off x="4572000" y="2834640"/>
            <a:ext cx="4114800" cy="36576"/>
          </a:xfrm>
          <a:prstGeom prst="rect">
            <a:avLst/>
          </a:prstGeom>
          <a:solidFill>
            <a:srgbClr val="A3E635"/>
          </a:solidFill>
          <a:ln w="12700">
            <a:solidFill>
              <a:srgbClr val="A3E635"/>
            </a:solidFill>
            <a:prstDash val="solid"/>
          </a:ln>
        </p:spPr>
      </p:sp>
      <p:sp>
        <p:nvSpPr>
          <p:cNvPr id="7" name="Text 5"/>
          <p:cNvSpPr/>
          <p:nvPr/>
        </p:nvSpPr>
        <p:spPr>
          <a:xfrm>
            <a:off x="4572000" y="2971800"/>
            <a:ext cx="4114800" cy="914400"/>
          </a:xfrm>
          <a:prstGeom prst="rect">
            <a:avLst/>
          </a:prstGeom>
          <a:noFill/>
          <a:ln/>
        </p:spPr>
        <p:txBody>
          <a:bodyPr wrap="square" rtlCol="0" anchor="ctr"/>
          <a:lstStyle/>
          <a:p>
            <a:pPr indent="0" marL="0">
              <a:buNone/>
            </a:pPr>
            <a:r>
              <a:rPr lang="en-US" sz="1250" dirty="0">
                <a:solidFill>
                  <a:srgbClr val="D1FAE5"/>
                </a:solidFill>
                <a:latin typeface="Calibri" pitchFamily="34" charset="0"/>
                <a:ea typeface="Calibri" pitchFamily="34" charset="-122"/>
                <a:cs typeface="Calibri" pitchFamily="34" charset="-120"/>
              </a:rPr>
              <a:t>Y Eswar</a:t>
            </a:r>
            <a:endParaRPr lang="en-US" sz="1250" dirty="0"/>
          </a:p>
          <a:p>
            <a:pPr indent="0" marL="0">
              <a:buNone/>
            </a:pPr>
            <a:r>
              <a:rPr lang="en-US" sz="1250" dirty="0">
                <a:solidFill>
                  <a:srgbClr val="D1FAE5"/>
                </a:solidFill>
                <a:latin typeface="Calibri" pitchFamily="34" charset="0"/>
                <a:ea typeface="Calibri" pitchFamily="34" charset="-122"/>
                <a:cs typeface="Calibri" pitchFamily="34" charset="-120"/>
              </a:rPr>
              <a:t>M.Tech Data Science (2025–2027)</a:t>
            </a:r>
            <a:endParaRPr lang="en-US" sz="1250" dirty="0"/>
          </a:p>
          <a:p>
            <a:pPr indent="0" marL="0">
              <a:buNone/>
            </a:pPr>
            <a:r>
              <a:rPr lang="en-US" sz="1250" dirty="0">
                <a:solidFill>
                  <a:srgbClr val="D1FAE5"/>
                </a:solidFill>
                <a:latin typeface="Calibri" pitchFamily="34" charset="0"/>
                <a:ea typeface="Calibri" pitchFamily="34" charset="-122"/>
                <a:cs typeface="Calibri" pitchFamily="34" charset="-120"/>
              </a:rPr>
              <a:t>GITAM University, Hyderabad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Energy Grids &amp; Sustainability</dc:title>
  <dc:subject>PptxGenJS Presentation</dc:subject>
  <dc:creator>PptxGenJS</dc:creator>
  <cp:lastModifiedBy>PptxGenJS</cp:lastModifiedBy>
  <cp:revision>1</cp:revision>
  <dcterms:created xsi:type="dcterms:W3CDTF">2026-03-11T16:22:35Z</dcterms:created>
  <dcterms:modified xsi:type="dcterms:W3CDTF">2026-03-11T16:22:35Z</dcterms:modified>
</cp:coreProperties>
</file>
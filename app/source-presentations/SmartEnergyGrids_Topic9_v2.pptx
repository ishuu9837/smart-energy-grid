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200" b="0" i="0" u="none" strike="noStrike">
                <a:solidFill>
                  <a:srgbClr val="6EE7B7"/>
                </a:solidFill>
                <a:latin typeface="Arial"/>
              </a:defRPr>
            </a:pPr>
            <a:r>
              <a:rPr sz="1200" b="0" i="0" u="none" strike="noStrike">
                <a:solidFill>
                  <a:srgbClr val="6EE7B7"/>
                </a:solidFill>
                <a:latin typeface="Arial"/>
              </a:rPr>
              <a:t>Demand Forecast Model Accuracy (%)</a:t>
            </a:r>
          </a:p>
        </c:rich>
      </c:tx>
      <c:layout/>
      <c:overlay val="0"/>
    </c:title>
    <c:autoTitleDeleted val="0"/>
    <c:plotArea>
      <c:layout/>
      <c:barChart>
        <c:barDir val="col"/>
        <c:grouping val="clustered"/>
        <c:varyColors val="0"/>
        <c:ser>
          <c:idx val="0"/>
          <c:order val="0"/>
          <c:tx>
            <c:strRef>
              <c:f>Sheet1!$B$1</c:f>
              <c:strCache>
                <c:ptCount val="1"/>
                <c:pt idx="0">
                  <c:v>Accuracy (%)</c:v>
                </c:pt>
              </c:strCache>
            </c:strRef>
          </c:tx>
          <c:spPr>
            <a:solidFill>
              <a:srgbClr val="6EE7B7"/>
            </a:solidFill>
            <a:effectLst/>
          </c:spPr>
          <c:invertIfNegative val="0"/>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6EE7B7"/>
              </a:solidFill>
              <a:effectLst/>
            </c:spPr>
          </c:dPt>
          <c:dPt>
            <c:idx val="1"/>
            <c:invertIfNegative val="0"/>
            <c:bubble3D val="0"/>
            <c:spPr>
              <a:solidFill>
                <a:srgbClr val="22C55E"/>
              </a:solidFill>
              <a:effectLst/>
            </c:spPr>
          </c:dPt>
          <c:dPt>
            <c:idx val="2"/>
            <c:invertIfNegative val="0"/>
            <c:bubble3D val="0"/>
            <c:spPr>
              <a:solidFill>
                <a:srgbClr val="A3E635"/>
              </a:solidFill>
              <a:effectLst/>
            </c:spPr>
          </c:dPt>
          <c:dPt>
            <c:idx val="3"/>
            <c:invertIfNegative val="0"/>
            <c:bubble3D val="0"/>
            <c:spPr>
              <a:solidFill>
                <a:srgbClr val="2DD4BF"/>
              </a:solidFill>
              <a:effectLst/>
            </c:spPr>
          </c:dPt>
          <c:cat>
            <c:multiLvlStrRef>
              <c:f>Sheet1!$A$2:$A$5</c:f>
              <c:multiLvlStrCache>
                <c:ptCount val="4"/>
                <c:lvl>
                  <c:pt idx="0">
                    <c:v>ARIMA</c:v>
                  </c:pt>
                  <c:pt idx="1">
                    <c:v>SVM</c:v>
                  </c:pt>
                  <c:pt idx="2">
                    <c:v>Random Forest</c:v>
                  </c:pt>
                  <c:pt idx="3">
                    <c:v>LSTM</c:v>
                  </c:pt>
                </c:lvl>
              </c:multiLvlStrCache>
            </c:multiLvlStrRef>
          </c:cat>
          <c:val>
            <c:numRef>
              <c:f>Sheet1!$B$2:$B$5</c:f>
              <c:numCache>
                <c:formatCode>General</c:formatCode>
                <c:ptCount val="4"/>
                <c:pt idx="0">
                  <c:v>81.4</c:v>
                </c:pt>
                <c:pt idx="1">
                  <c:v>88.7</c:v>
                </c:pt>
                <c:pt idx="2">
                  <c:v>93.2</c:v>
                </c:pt>
                <c:pt idx="3">
                  <c:v>97.3</c:v>
                </c:pt>
              </c:numCache>
            </c:numRef>
          </c:val>
        </c:ser>
        <c:dLbls>
          <c:numFmt formatCode="#,##0" sourceLinked="0"/>
          <c:txPr>
            <a:bodyPr/>
            <a:lstStyle/>
            <a:p>
              <a:pPr>
                <a:defRPr b="0" i="0" strike="noStrike" sz="11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EE7B7"/>
                </a:solidFill>
                <a:latin typeface="Arial"/>
              </a:defRPr>
            </a:pPr>
            <a:endParaRPr lang="en-US"/>
          </a:p>
        </c:txPr>
        <c:crossAx val="2094734552"/>
        <c:crosses val="autoZero"/>
        <c:auto val="1"/>
        <c:lblAlgn val="ctr"/>
        <c:noMultiLvlLbl val="1"/>
      </c:catAx>
      <c:valAx>
        <c:axId val="2094734552"/>
        <c:scaling>
          <c:orientation val="minMax"/>
          <c:min val="75"/>
        </c:scaling>
        <c:delete val="0"/>
        <c:axPos val="l"/>
        <c:majorGridlines>
          <c:spPr>
            <a:ln w="6350" cap="flat">
              <a:solidFill>
                <a:srgbClr val="1C3B2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EE7B7"/>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0D2418"/>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A0F"/>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22C55E"/>
          </a:solidFill>
          <a:ln w="12700">
            <a:solidFill>
              <a:srgbClr val="22C55E"/>
            </a:solidFill>
            <a:prstDash val="solid"/>
          </a:ln>
        </p:spPr>
      </p:sp>
      <p:sp>
        <p:nvSpPr>
          <p:cNvPr id="3" name="Text 1"/>
          <p:cNvSpPr/>
          <p:nvPr/>
        </p:nvSpPr>
        <p:spPr>
          <a:xfrm>
            <a:off x="365760" y="685800"/>
            <a:ext cx="8412480" cy="868680"/>
          </a:xfrm>
          <a:prstGeom prst="rect">
            <a:avLst/>
          </a:prstGeom>
          <a:noFill/>
          <a:ln/>
        </p:spPr>
        <p:txBody>
          <a:bodyPr wrap="square" lIns="0" tIns="0" rIns="0" bIns="0" rtlCol="0" anchor="ctr"/>
          <a:lstStyle/>
          <a:p>
            <a:pPr algn="l" indent="0" marL="0">
              <a:buNone/>
            </a:pPr>
            <a:r>
              <a:rPr lang="en-US" sz="3800" b="1" dirty="0">
                <a:solidFill>
                  <a:srgbClr val="FFFFFF"/>
                </a:solidFill>
                <a:latin typeface="Calibri" pitchFamily="34" charset="0"/>
                <a:ea typeface="Calibri" pitchFamily="34" charset="-122"/>
                <a:cs typeface="Calibri" pitchFamily="34" charset="-120"/>
              </a:rPr>
              <a:t>SMART ENERGY GRIDS</a:t>
            </a:r>
            <a:endParaRPr lang="en-US" sz="3800" dirty="0"/>
          </a:p>
        </p:txBody>
      </p:sp>
      <p:sp>
        <p:nvSpPr>
          <p:cNvPr id="4" name="Text 2"/>
          <p:cNvSpPr/>
          <p:nvPr/>
        </p:nvSpPr>
        <p:spPr>
          <a:xfrm>
            <a:off x="365760" y="1508760"/>
            <a:ext cx="8412480" cy="777240"/>
          </a:xfrm>
          <a:prstGeom prst="rect">
            <a:avLst/>
          </a:prstGeom>
          <a:noFill/>
          <a:ln/>
        </p:spPr>
        <p:txBody>
          <a:bodyPr wrap="square" lIns="0" tIns="0" rIns="0" bIns="0" rtlCol="0" anchor="ctr"/>
          <a:lstStyle/>
          <a:p>
            <a:pPr algn="l" indent="0" marL="0">
              <a:buNone/>
            </a:pPr>
            <a:r>
              <a:rPr lang="en-US" sz="3800" b="1" dirty="0">
                <a:solidFill>
                  <a:srgbClr val="22C55E"/>
                </a:solidFill>
                <a:latin typeface="Calibri" pitchFamily="34" charset="0"/>
                <a:ea typeface="Calibri" pitchFamily="34" charset="-122"/>
                <a:cs typeface="Calibri" pitchFamily="34" charset="-120"/>
              </a:rPr>
              <a:t>&amp; SUSTAINABILITY</a:t>
            </a:r>
            <a:endParaRPr lang="en-US" sz="3800" dirty="0"/>
          </a:p>
        </p:txBody>
      </p:sp>
      <p:sp>
        <p:nvSpPr>
          <p:cNvPr id="5" name="Text 3"/>
          <p:cNvSpPr/>
          <p:nvPr/>
        </p:nvSpPr>
        <p:spPr>
          <a:xfrm>
            <a:off x="365760" y="2377440"/>
            <a:ext cx="7315200" cy="457200"/>
          </a:xfrm>
          <a:prstGeom prst="rect">
            <a:avLst/>
          </a:prstGeom>
          <a:noFill/>
          <a:ln/>
        </p:spPr>
        <p:txBody>
          <a:bodyPr wrap="square" lIns="0" tIns="0" rIns="0" bIns="0" rtlCol="0" anchor="ctr"/>
          <a:lstStyle/>
          <a:p>
            <a:pPr indent="0" marL="0">
              <a:buNone/>
            </a:pPr>
            <a:r>
              <a:rPr lang="en-US" sz="1500" i="1" dirty="0">
                <a:solidFill>
                  <a:srgbClr val="D1FAE5"/>
                </a:solidFill>
                <a:latin typeface="Calibri" pitchFamily="34" charset="0"/>
                <a:ea typeface="Calibri" pitchFamily="34" charset="-122"/>
                <a:cs typeface="Calibri" pitchFamily="34" charset="-120"/>
              </a:rPr>
              <a:t>Data-Driven Power Distribution Optimization</a:t>
            </a:r>
            <a:endParaRPr lang="en-US" sz="1500" dirty="0"/>
          </a:p>
        </p:txBody>
      </p:sp>
      <p:sp>
        <p:nvSpPr>
          <p:cNvPr id="6" name="Shape 4"/>
          <p:cNvSpPr/>
          <p:nvPr/>
        </p:nvSpPr>
        <p:spPr>
          <a:xfrm>
            <a:off x="365760" y="2926080"/>
            <a:ext cx="4114800" cy="36576"/>
          </a:xfrm>
          <a:prstGeom prst="rect">
            <a:avLst/>
          </a:prstGeom>
          <a:solidFill>
            <a:srgbClr val="A3E635"/>
          </a:solidFill>
          <a:ln w="12700">
            <a:solidFill>
              <a:srgbClr val="A3E635"/>
            </a:solidFill>
            <a:prstDash val="solid"/>
          </a:ln>
        </p:spPr>
      </p:sp>
      <p:sp>
        <p:nvSpPr>
          <p:cNvPr id="7" name="Text 5"/>
          <p:cNvSpPr/>
          <p:nvPr/>
        </p:nvSpPr>
        <p:spPr>
          <a:xfrm>
            <a:off x="365760" y="3063240"/>
            <a:ext cx="5486400" cy="365760"/>
          </a:xfrm>
          <a:prstGeom prst="rect">
            <a:avLst/>
          </a:prstGeom>
          <a:noFill/>
          <a:ln/>
        </p:spPr>
        <p:txBody>
          <a:bodyPr wrap="square" lIns="0" tIns="0" rIns="0" bIns="0" rtlCol="0" anchor="ctr"/>
          <a:lstStyle/>
          <a:p>
            <a:pPr indent="0" marL="0">
              <a:buNone/>
            </a:pPr>
            <a:r>
              <a:rPr lang="en-US" sz="1300" b="1" dirty="0">
                <a:solidFill>
                  <a:srgbClr val="A3E635"/>
                </a:solidFill>
                <a:latin typeface="Calibri" pitchFamily="34" charset="0"/>
                <a:ea typeface="Calibri" pitchFamily="34" charset="-122"/>
                <a:cs typeface="Calibri" pitchFamily="34" charset="-120"/>
              </a:rPr>
              <a:t>TOPIC 9  |  Big Data Analytics — Case Study</a:t>
            </a:r>
            <a:endParaRPr lang="en-US" sz="1300" dirty="0"/>
          </a:p>
        </p:txBody>
      </p:sp>
      <p:sp>
        <p:nvSpPr>
          <p:cNvPr id="8" name="Shape 6"/>
          <p:cNvSpPr/>
          <p:nvPr/>
        </p:nvSpPr>
        <p:spPr>
          <a:xfrm>
            <a:off x="0" y="4663440"/>
            <a:ext cx="9144000" cy="480060"/>
          </a:xfrm>
          <a:prstGeom prst="rect">
            <a:avLst/>
          </a:prstGeom>
          <a:solidFill>
            <a:srgbClr val="0D2418"/>
          </a:solidFill>
          <a:ln w="12700">
            <a:solidFill>
              <a:srgbClr val="0D2418"/>
            </a:solidFill>
            <a:prstDash val="solid"/>
          </a:ln>
        </p:spPr>
      </p:sp>
      <p:sp>
        <p:nvSpPr>
          <p:cNvPr id="9" name="Text 7"/>
          <p:cNvSpPr/>
          <p:nvPr/>
        </p:nvSpPr>
        <p:spPr>
          <a:xfrm>
            <a:off x="274320" y="4681728"/>
            <a:ext cx="8595360" cy="365760"/>
          </a:xfrm>
          <a:prstGeom prst="rect">
            <a:avLst/>
          </a:prstGeom>
          <a:noFill/>
          <a:ln/>
        </p:spPr>
        <p:txBody>
          <a:bodyPr wrap="square" rtlCol="0" anchor="ctr"/>
          <a:lstStyle/>
          <a:p>
            <a:pPr algn="ctr" indent="0" marL="0">
              <a:buNone/>
            </a:pPr>
            <a:r>
              <a:rPr lang="en-US" sz="1100" dirty="0">
                <a:solidFill>
                  <a:srgbClr val="6EE7B7"/>
                </a:solidFill>
                <a:latin typeface="Calibri" pitchFamily="34" charset="0"/>
                <a:ea typeface="Calibri" pitchFamily="34" charset="-122"/>
                <a:cs typeface="Calibri" pitchFamily="34" charset="-120"/>
              </a:rPr>
              <a:t>Big Data Analytics (BDA) | M.Tech Data Science | GITAM University, Hyderabad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A0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22C55E"/>
          </a:solidFill>
          <a:ln w="12700">
            <a:solidFill>
              <a:srgbClr val="22C55E"/>
            </a:solidFill>
            <a:prstDash val="solid"/>
          </a:ln>
        </p:spPr>
      </p:sp>
      <p:sp>
        <p:nvSpPr>
          <p:cNvPr id="3" name="Text 1"/>
          <p:cNvSpPr/>
          <p:nvPr/>
        </p:nvSpPr>
        <p:spPr>
          <a:xfrm>
            <a:off x="365760" y="73152"/>
            <a:ext cx="8229600" cy="594360"/>
          </a:xfrm>
          <a:prstGeom prst="rect">
            <a:avLst/>
          </a:prstGeom>
          <a:noFill/>
          <a:ln/>
        </p:spPr>
        <p:txBody>
          <a:bodyPr wrap="square" lIns="0" tIns="0" rIns="0" bIns="0" rtlCol="0" anchor="ctr"/>
          <a:lstStyle/>
          <a:p>
            <a:pPr indent="0" marL="0">
              <a:buNone/>
            </a:pPr>
            <a:r>
              <a:rPr lang="en-US" sz="2600" b="1" dirty="0">
                <a:solidFill>
                  <a:srgbClr val="071A0F"/>
                </a:solidFill>
                <a:latin typeface="Calibri" pitchFamily="34" charset="0"/>
                <a:ea typeface="Calibri" pitchFamily="34" charset="-122"/>
                <a:cs typeface="Calibri" pitchFamily="34" charset="-120"/>
              </a:rPr>
              <a:t>ABSTRACT &amp; KEYWORDS</a:t>
            </a:r>
            <a:endParaRPr lang="en-US" sz="2600" dirty="0"/>
          </a:p>
        </p:txBody>
      </p:sp>
      <p:sp>
        <p:nvSpPr>
          <p:cNvPr id="4" name="Shape 2"/>
          <p:cNvSpPr/>
          <p:nvPr/>
        </p:nvSpPr>
        <p:spPr>
          <a:xfrm>
            <a:off x="274320" y="868680"/>
            <a:ext cx="5394960" cy="4069080"/>
          </a:xfrm>
          <a:prstGeom prst="rect">
            <a:avLst/>
          </a:prstGeom>
          <a:solidFill>
            <a:srgbClr val="0D2418"/>
          </a:solidFill>
          <a:ln w="12700">
            <a:solidFill>
              <a:srgbClr val="22C55E"/>
            </a:solidFill>
            <a:prstDash val="solid"/>
          </a:ln>
        </p:spPr>
      </p:sp>
      <p:sp>
        <p:nvSpPr>
          <p:cNvPr id="5" name="Text 3"/>
          <p:cNvSpPr/>
          <p:nvPr/>
        </p:nvSpPr>
        <p:spPr>
          <a:xfrm>
            <a:off x="411480" y="932688"/>
            <a:ext cx="5120640" cy="292608"/>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ABSTRACT</a:t>
            </a:r>
            <a:endParaRPr lang="en-US" sz="1300" dirty="0"/>
          </a:p>
        </p:txBody>
      </p:sp>
      <p:sp>
        <p:nvSpPr>
          <p:cNvPr id="6" name="Text 4"/>
          <p:cNvSpPr/>
          <p:nvPr/>
        </p:nvSpPr>
        <p:spPr>
          <a:xfrm>
            <a:off x="411480" y="1234440"/>
            <a:ext cx="5120640" cy="3566160"/>
          </a:xfrm>
          <a:prstGeom prst="rect">
            <a:avLst/>
          </a:prstGeom>
          <a:noFill/>
          <a:ln/>
        </p:spPr>
        <p:txBody>
          <a:bodyPr wrap="square" rtlCol="0" anchor="t"/>
          <a:lstStyle/>
          <a:p>
            <a:pPr indent="0" marL="0">
              <a:buNone/>
            </a:pPr>
            <a:r>
              <a:rPr lang="en-US" sz="1150" dirty="0">
                <a:solidFill>
                  <a:srgbClr val="D1FAE5"/>
                </a:solidFill>
                <a:latin typeface="Calibri" pitchFamily="34" charset="0"/>
                <a:ea typeface="Calibri" pitchFamily="34" charset="-122"/>
                <a:cs typeface="Calibri" pitchFamily="34" charset="-120"/>
              </a:rPr>
              <a:t>Traditional power grids are ill-equipped to handle the complexity of distributed energy resources and dynamic consumption patterns.</a:t>
            </a:r>
            <a:endParaRPr lang="en-US" sz="1150" dirty="0"/>
          </a:p>
          <a:p>
            <a:pPr indent="0" marL="0">
              <a:buNone/>
            </a:pP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Smart Energy Grids leverage Big Data Analytics, IoT sensors, and machine learning with platforms like Apache Kafka and Spark to enable intelligent, adaptive power distribution. Terabytes of smart meter data, weather feeds, and grid sensor streams are analyzed to optimize load balancing, predict demand, detect faults, and maximize renewable energy utilization.</a:t>
            </a:r>
            <a:endParaRPr lang="en-US" sz="1150" dirty="0"/>
          </a:p>
          <a:p>
            <a:pPr indent="0" marL="0">
              <a:buNone/>
            </a:pP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Results show 18–25% energy efficiency gains, 40% reduction in outage duration, and significant CO₂ savings — making Big Data the cornerstone of Net Zero energy infrastructure.</a:t>
            </a:r>
            <a:endParaRPr lang="en-US" sz="1150" dirty="0"/>
          </a:p>
        </p:txBody>
      </p:sp>
      <p:sp>
        <p:nvSpPr>
          <p:cNvPr id="7" name="Shape 5"/>
          <p:cNvSpPr/>
          <p:nvPr/>
        </p:nvSpPr>
        <p:spPr>
          <a:xfrm>
            <a:off x="5852160" y="868680"/>
            <a:ext cx="3017520" cy="4069080"/>
          </a:xfrm>
          <a:prstGeom prst="rect">
            <a:avLst/>
          </a:prstGeom>
          <a:solidFill>
            <a:srgbClr val="0D2418"/>
          </a:solidFill>
          <a:ln w="12700">
            <a:solidFill>
              <a:srgbClr val="A3E635"/>
            </a:solidFill>
            <a:prstDash val="solid"/>
          </a:ln>
        </p:spPr>
      </p:sp>
      <p:sp>
        <p:nvSpPr>
          <p:cNvPr id="8" name="Text 6"/>
          <p:cNvSpPr/>
          <p:nvPr/>
        </p:nvSpPr>
        <p:spPr>
          <a:xfrm>
            <a:off x="5989320" y="932688"/>
            <a:ext cx="2743200" cy="292608"/>
          </a:xfrm>
          <a:prstGeom prst="rect">
            <a:avLst/>
          </a:prstGeom>
          <a:noFill/>
          <a:ln/>
        </p:spPr>
        <p:txBody>
          <a:bodyPr wrap="square" lIns="0" tIns="0" rIns="0" bIns="0" rtlCol="0" anchor="ctr"/>
          <a:lstStyle/>
          <a:p>
            <a:pPr indent="0" marL="0">
              <a:buNone/>
            </a:pPr>
            <a:r>
              <a:rPr lang="en-US" sz="1300" b="1" dirty="0">
                <a:solidFill>
                  <a:srgbClr val="A3E635"/>
                </a:solidFill>
                <a:latin typeface="Calibri" pitchFamily="34" charset="0"/>
                <a:ea typeface="Calibri" pitchFamily="34" charset="-122"/>
                <a:cs typeface="Calibri" pitchFamily="34" charset="-120"/>
              </a:rPr>
              <a:t>KEYWORDS</a:t>
            </a:r>
            <a:endParaRPr lang="en-US" sz="1300" dirty="0"/>
          </a:p>
        </p:txBody>
      </p:sp>
      <p:sp>
        <p:nvSpPr>
          <p:cNvPr id="9" name="Shape 7"/>
          <p:cNvSpPr/>
          <p:nvPr/>
        </p:nvSpPr>
        <p:spPr>
          <a:xfrm>
            <a:off x="5989320" y="1280160"/>
            <a:ext cx="2651760" cy="274320"/>
          </a:xfrm>
          <a:prstGeom prst="rect">
            <a:avLst/>
          </a:prstGeom>
          <a:solidFill>
            <a:srgbClr val="112B1A"/>
          </a:solidFill>
          <a:ln w="12700">
            <a:solidFill>
              <a:srgbClr val="22C55E"/>
            </a:solidFill>
            <a:prstDash val="solid"/>
          </a:ln>
        </p:spPr>
      </p:sp>
      <p:sp>
        <p:nvSpPr>
          <p:cNvPr id="10" name="Text 8"/>
          <p:cNvSpPr/>
          <p:nvPr/>
        </p:nvSpPr>
        <p:spPr>
          <a:xfrm>
            <a:off x="6035040" y="1307592"/>
            <a:ext cx="2560320" cy="219456"/>
          </a:xfrm>
          <a:prstGeom prst="rect">
            <a:avLst/>
          </a:prstGeom>
          <a:noFill/>
          <a:ln/>
        </p:spPr>
        <p:txBody>
          <a:bodyPr wrap="square" lIns="0" tIns="0" rIns="0" bIns="0" rtlCol="0" anchor="ctr"/>
          <a:lstStyle/>
          <a:p>
            <a:pPr algn="ctr" indent="0" marL="0">
              <a:buNone/>
            </a:pPr>
            <a:r>
              <a:rPr lang="en-US" sz="1050" b="1" dirty="0">
                <a:solidFill>
                  <a:srgbClr val="22C55E"/>
                </a:solidFill>
                <a:latin typeface="Calibri" pitchFamily="34" charset="0"/>
                <a:ea typeface="Calibri" pitchFamily="34" charset="-122"/>
                <a:cs typeface="Calibri" pitchFamily="34" charset="-120"/>
              </a:rPr>
              <a:t>Smart Energy Grid</a:t>
            </a:r>
            <a:endParaRPr lang="en-US" sz="1050" dirty="0"/>
          </a:p>
        </p:txBody>
      </p:sp>
      <p:sp>
        <p:nvSpPr>
          <p:cNvPr id="11" name="Shape 9"/>
          <p:cNvSpPr/>
          <p:nvPr/>
        </p:nvSpPr>
        <p:spPr>
          <a:xfrm>
            <a:off x="5989320" y="1627632"/>
            <a:ext cx="2651760" cy="274320"/>
          </a:xfrm>
          <a:prstGeom prst="rect">
            <a:avLst/>
          </a:prstGeom>
          <a:solidFill>
            <a:srgbClr val="112B1A"/>
          </a:solidFill>
          <a:ln w="12700">
            <a:solidFill>
              <a:srgbClr val="22C55E"/>
            </a:solidFill>
            <a:prstDash val="solid"/>
          </a:ln>
        </p:spPr>
      </p:sp>
      <p:sp>
        <p:nvSpPr>
          <p:cNvPr id="12" name="Text 10"/>
          <p:cNvSpPr/>
          <p:nvPr/>
        </p:nvSpPr>
        <p:spPr>
          <a:xfrm>
            <a:off x="6035040" y="1655064"/>
            <a:ext cx="2560320" cy="219456"/>
          </a:xfrm>
          <a:prstGeom prst="rect">
            <a:avLst/>
          </a:prstGeom>
          <a:noFill/>
          <a:ln/>
        </p:spPr>
        <p:txBody>
          <a:bodyPr wrap="square" lIns="0" tIns="0" rIns="0" bIns="0" rtlCol="0" anchor="ctr"/>
          <a:lstStyle/>
          <a:p>
            <a:pPr algn="ctr" indent="0" marL="0">
              <a:buNone/>
            </a:pPr>
            <a:r>
              <a:rPr lang="en-US" sz="1050" b="1" dirty="0">
                <a:solidFill>
                  <a:srgbClr val="22C55E"/>
                </a:solidFill>
                <a:latin typeface="Calibri" pitchFamily="34" charset="0"/>
                <a:ea typeface="Calibri" pitchFamily="34" charset="-122"/>
                <a:cs typeface="Calibri" pitchFamily="34" charset="-120"/>
              </a:rPr>
              <a:t>Big Data Analytics</a:t>
            </a:r>
            <a:endParaRPr lang="en-US" sz="1050" dirty="0"/>
          </a:p>
        </p:txBody>
      </p:sp>
      <p:sp>
        <p:nvSpPr>
          <p:cNvPr id="13" name="Shape 11"/>
          <p:cNvSpPr/>
          <p:nvPr/>
        </p:nvSpPr>
        <p:spPr>
          <a:xfrm>
            <a:off x="5989320" y="1975104"/>
            <a:ext cx="2651760" cy="274320"/>
          </a:xfrm>
          <a:prstGeom prst="rect">
            <a:avLst/>
          </a:prstGeom>
          <a:solidFill>
            <a:srgbClr val="112B1A"/>
          </a:solidFill>
          <a:ln w="12700">
            <a:solidFill>
              <a:srgbClr val="22C55E"/>
            </a:solidFill>
            <a:prstDash val="solid"/>
          </a:ln>
        </p:spPr>
      </p:sp>
      <p:sp>
        <p:nvSpPr>
          <p:cNvPr id="14" name="Text 12"/>
          <p:cNvSpPr/>
          <p:nvPr/>
        </p:nvSpPr>
        <p:spPr>
          <a:xfrm>
            <a:off x="6035040" y="2002536"/>
            <a:ext cx="2560320" cy="219456"/>
          </a:xfrm>
          <a:prstGeom prst="rect">
            <a:avLst/>
          </a:prstGeom>
          <a:noFill/>
          <a:ln/>
        </p:spPr>
        <p:txBody>
          <a:bodyPr wrap="square" lIns="0" tIns="0" rIns="0" bIns="0" rtlCol="0" anchor="ctr"/>
          <a:lstStyle/>
          <a:p>
            <a:pPr algn="ctr" indent="0" marL="0">
              <a:buNone/>
            </a:pPr>
            <a:r>
              <a:rPr lang="en-US" sz="1050" b="1" dirty="0">
                <a:solidFill>
                  <a:srgbClr val="22C55E"/>
                </a:solidFill>
                <a:latin typeface="Calibri" pitchFamily="34" charset="0"/>
                <a:ea typeface="Calibri" pitchFamily="34" charset="-122"/>
                <a:cs typeface="Calibri" pitchFamily="34" charset="-120"/>
              </a:rPr>
              <a:t>IoT Sensor Networks</a:t>
            </a:r>
            <a:endParaRPr lang="en-US" sz="1050" dirty="0"/>
          </a:p>
        </p:txBody>
      </p:sp>
      <p:sp>
        <p:nvSpPr>
          <p:cNvPr id="15" name="Shape 13"/>
          <p:cNvSpPr/>
          <p:nvPr/>
        </p:nvSpPr>
        <p:spPr>
          <a:xfrm>
            <a:off x="5989320" y="2322576"/>
            <a:ext cx="2651760" cy="274320"/>
          </a:xfrm>
          <a:prstGeom prst="rect">
            <a:avLst/>
          </a:prstGeom>
          <a:solidFill>
            <a:srgbClr val="112B1A"/>
          </a:solidFill>
          <a:ln w="12700">
            <a:solidFill>
              <a:srgbClr val="22C55E"/>
            </a:solidFill>
            <a:prstDash val="solid"/>
          </a:ln>
        </p:spPr>
      </p:sp>
      <p:sp>
        <p:nvSpPr>
          <p:cNvPr id="16" name="Text 14"/>
          <p:cNvSpPr/>
          <p:nvPr/>
        </p:nvSpPr>
        <p:spPr>
          <a:xfrm>
            <a:off x="6035040" y="2350008"/>
            <a:ext cx="2560320" cy="219456"/>
          </a:xfrm>
          <a:prstGeom prst="rect">
            <a:avLst/>
          </a:prstGeom>
          <a:noFill/>
          <a:ln/>
        </p:spPr>
        <p:txBody>
          <a:bodyPr wrap="square" lIns="0" tIns="0" rIns="0" bIns="0" rtlCol="0" anchor="ctr"/>
          <a:lstStyle/>
          <a:p>
            <a:pPr algn="ctr" indent="0" marL="0">
              <a:buNone/>
            </a:pPr>
            <a:r>
              <a:rPr lang="en-US" sz="1050" b="1" dirty="0">
                <a:solidFill>
                  <a:srgbClr val="22C55E"/>
                </a:solidFill>
                <a:latin typeface="Calibri" pitchFamily="34" charset="0"/>
                <a:ea typeface="Calibri" pitchFamily="34" charset="-122"/>
                <a:cs typeface="Calibri" pitchFamily="34" charset="-120"/>
              </a:rPr>
              <a:t>Demand Forecasting</a:t>
            </a:r>
            <a:endParaRPr lang="en-US" sz="1050" dirty="0"/>
          </a:p>
        </p:txBody>
      </p:sp>
      <p:sp>
        <p:nvSpPr>
          <p:cNvPr id="17" name="Shape 15"/>
          <p:cNvSpPr/>
          <p:nvPr/>
        </p:nvSpPr>
        <p:spPr>
          <a:xfrm>
            <a:off x="5989320" y="2670048"/>
            <a:ext cx="2651760" cy="274320"/>
          </a:xfrm>
          <a:prstGeom prst="rect">
            <a:avLst/>
          </a:prstGeom>
          <a:solidFill>
            <a:srgbClr val="112B1A"/>
          </a:solidFill>
          <a:ln w="12700">
            <a:solidFill>
              <a:srgbClr val="22C55E"/>
            </a:solidFill>
            <a:prstDash val="solid"/>
          </a:ln>
        </p:spPr>
      </p:sp>
      <p:sp>
        <p:nvSpPr>
          <p:cNvPr id="18" name="Text 16"/>
          <p:cNvSpPr/>
          <p:nvPr/>
        </p:nvSpPr>
        <p:spPr>
          <a:xfrm>
            <a:off x="6035040" y="2697480"/>
            <a:ext cx="2560320" cy="219456"/>
          </a:xfrm>
          <a:prstGeom prst="rect">
            <a:avLst/>
          </a:prstGeom>
          <a:noFill/>
          <a:ln/>
        </p:spPr>
        <p:txBody>
          <a:bodyPr wrap="square" lIns="0" tIns="0" rIns="0" bIns="0" rtlCol="0" anchor="ctr"/>
          <a:lstStyle/>
          <a:p>
            <a:pPr algn="ctr" indent="0" marL="0">
              <a:buNone/>
            </a:pPr>
            <a:r>
              <a:rPr lang="en-US" sz="1050" b="1" dirty="0">
                <a:solidFill>
                  <a:srgbClr val="22C55E"/>
                </a:solidFill>
                <a:latin typeface="Calibri" pitchFamily="34" charset="0"/>
                <a:ea typeface="Calibri" pitchFamily="34" charset="-122"/>
                <a:cs typeface="Calibri" pitchFamily="34" charset="-120"/>
              </a:rPr>
              <a:t>Load Balancing</a:t>
            </a:r>
            <a:endParaRPr lang="en-US" sz="1050" dirty="0"/>
          </a:p>
        </p:txBody>
      </p:sp>
      <p:sp>
        <p:nvSpPr>
          <p:cNvPr id="19" name="Shape 17"/>
          <p:cNvSpPr/>
          <p:nvPr/>
        </p:nvSpPr>
        <p:spPr>
          <a:xfrm>
            <a:off x="5989320" y="3017520"/>
            <a:ext cx="2651760" cy="274320"/>
          </a:xfrm>
          <a:prstGeom prst="rect">
            <a:avLst/>
          </a:prstGeom>
          <a:solidFill>
            <a:srgbClr val="112B1A"/>
          </a:solidFill>
          <a:ln w="12700">
            <a:solidFill>
              <a:srgbClr val="22C55E"/>
            </a:solidFill>
            <a:prstDash val="solid"/>
          </a:ln>
        </p:spPr>
      </p:sp>
      <p:sp>
        <p:nvSpPr>
          <p:cNvPr id="20" name="Text 18"/>
          <p:cNvSpPr/>
          <p:nvPr/>
        </p:nvSpPr>
        <p:spPr>
          <a:xfrm>
            <a:off x="6035040" y="3044952"/>
            <a:ext cx="2560320" cy="219456"/>
          </a:xfrm>
          <a:prstGeom prst="rect">
            <a:avLst/>
          </a:prstGeom>
          <a:noFill/>
          <a:ln/>
        </p:spPr>
        <p:txBody>
          <a:bodyPr wrap="square" lIns="0" tIns="0" rIns="0" bIns="0" rtlCol="0" anchor="ctr"/>
          <a:lstStyle/>
          <a:p>
            <a:pPr algn="ctr" indent="0" marL="0">
              <a:buNone/>
            </a:pPr>
            <a:r>
              <a:rPr lang="en-US" sz="1050" b="1" dirty="0">
                <a:solidFill>
                  <a:srgbClr val="22C55E"/>
                </a:solidFill>
                <a:latin typeface="Calibri" pitchFamily="34" charset="0"/>
                <a:ea typeface="Calibri" pitchFamily="34" charset="-122"/>
                <a:cs typeface="Calibri" pitchFamily="34" charset="-120"/>
              </a:rPr>
              <a:t>LSTM Neural Network</a:t>
            </a:r>
            <a:endParaRPr lang="en-US" sz="1050" dirty="0"/>
          </a:p>
        </p:txBody>
      </p:sp>
      <p:sp>
        <p:nvSpPr>
          <p:cNvPr id="21" name="Shape 19"/>
          <p:cNvSpPr/>
          <p:nvPr/>
        </p:nvSpPr>
        <p:spPr>
          <a:xfrm>
            <a:off x="5989320" y="3364992"/>
            <a:ext cx="2651760" cy="274320"/>
          </a:xfrm>
          <a:prstGeom prst="rect">
            <a:avLst/>
          </a:prstGeom>
          <a:solidFill>
            <a:srgbClr val="112B1A"/>
          </a:solidFill>
          <a:ln w="12700">
            <a:solidFill>
              <a:srgbClr val="22C55E"/>
            </a:solidFill>
            <a:prstDash val="solid"/>
          </a:ln>
        </p:spPr>
      </p:sp>
      <p:sp>
        <p:nvSpPr>
          <p:cNvPr id="22" name="Text 20"/>
          <p:cNvSpPr/>
          <p:nvPr/>
        </p:nvSpPr>
        <p:spPr>
          <a:xfrm>
            <a:off x="6035040" y="3392424"/>
            <a:ext cx="2560320" cy="219456"/>
          </a:xfrm>
          <a:prstGeom prst="rect">
            <a:avLst/>
          </a:prstGeom>
          <a:noFill/>
          <a:ln/>
        </p:spPr>
        <p:txBody>
          <a:bodyPr wrap="square" lIns="0" tIns="0" rIns="0" bIns="0" rtlCol="0" anchor="ctr"/>
          <a:lstStyle/>
          <a:p>
            <a:pPr algn="ctr" indent="0" marL="0">
              <a:buNone/>
            </a:pPr>
            <a:r>
              <a:rPr lang="en-US" sz="1050" b="1" dirty="0">
                <a:solidFill>
                  <a:srgbClr val="22C55E"/>
                </a:solidFill>
                <a:latin typeface="Calibri" pitchFamily="34" charset="0"/>
                <a:ea typeface="Calibri" pitchFamily="34" charset="-122"/>
                <a:cs typeface="Calibri" pitchFamily="34" charset="-120"/>
              </a:rPr>
              <a:t>Apache Kafka / Spark</a:t>
            </a:r>
            <a:endParaRPr lang="en-US" sz="1050" dirty="0"/>
          </a:p>
        </p:txBody>
      </p:sp>
      <p:sp>
        <p:nvSpPr>
          <p:cNvPr id="23" name="Shape 21"/>
          <p:cNvSpPr/>
          <p:nvPr/>
        </p:nvSpPr>
        <p:spPr>
          <a:xfrm>
            <a:off x="5989320" y="3712464"/>
            <a:ext cx="2651760" cy="274320"/>
          </a:xfrm>
          <a:prstGeom prst="rect">
            <a:avLst/>
          </a:prstGeom>
          <a:solidFill>
            <a:srgbClr val="112B1A"/>
          </a:solidFill>
          <a:ln w="12700">
            <a:solidFill>
              <a:srgbClr val="22C55E"/>
            </a:solidFill>
            <a:prstDash val="solid"/>
          </a:ln>
        </p:spPr>
      </p:sp>
      <p:sp>
        <p:nvSpPr>
          <p:cNvPr id="24" name="Text 22"/>
          <p:cNvSpPr/>
          <p:nvPr/>
        </p:nvSpPr>
        <p:spPr>
          <a:xfrm>
            <a:off x="6035040" y="3739896"/>
            <a:ext cx="2560320" cy="219456"/>
          </a:xfrm>
          <a:prstGeom prst="rect">
            <a:avLst/>
          </a:prstGeom>
          <a:noFill/>
          <a:ln/>
        </p:spPr>
        <p:txBody>
          <a:bodyPr wrap="square" lIns="0" tIns="0" rIns="0" bIns="0" rtlCol="0" anchor="ctr"/>
          <a:lstStyle/>
          <a:p>
            <a:pPr algn="ctr" indent="0" marL="0">
              <a:buNone/>
            </a:pPr>
            <a:r>
              <a:rPr lang="en-US" sz="1050" b="1" dirty="0">
                <a:solidFill>
                  <a:srgbClr val="22C55E"/>
                </a:solidFill>
                <a:latin typeface="Calibri" pitchFamily="34" charset="0"/>
                <a:ea typeface="Calibri" pitchFamily="34" charset="-122"/>
                <a:cs typeface="Calibri" pitchFamily="34" charset="-120"/>
              </a:rPr>
              <a:t>Anomaly Detection</a:t>
            </a:r>
            <a:endParaRPr lang="en-US" sz="1050" dirty="0"/>
          </a:p>
        </p:txBody>
      </p:sp>
      <p:sp>
        <p:nvSpPr>
          <p:cNvPr id="25" name="Shape 23"/>
          <p:cNvSpPr/>
          <p:nvPr/>
        </p:nvSpPr>
        <p:spPr>
          <a:xfrm>
            <a:off x="5989320" y="4059936"/>
            <a:ext cx="2651760" cy="274320"/>
          </a:xfrm>
          <a:prstGeom prst="rect">
            <a:avLst/>
          </a:prstGeom>
          <a:solidFill>
            <a:srgbClr val="112B1A"/>
          </a:solidFill>
          <a:ln w="12700">
            <a:solidFill>
              <a:srgbClr val="22C55E"/>
            </a:solidFill>
            <a:prstDash val="solid"/>
          </a:ln>
        </p:spPr>
      </p:sp>
      <p:sp>
        <p:nvSpPr>
          <p:cNvPr id="26" name="Text 24"/>
          <p:cNvSpPr/>
          <p:nvPr/>
        </p:nvSpPr>
        <p:spPr>
          <a:xfrm>
            <a:off x="6035040" y="4087368"/>
            <a:ext cx="2560320" cy="219456"/>
          </a:xfrm>
          <a:prstGeom prst="rect">
            <a:avLst/>
          </a:prstGeom>
          <a:noFill/>
          <a:ln/>
        </p:spPr>
        <p:txBody>
          <a:bodyPr wrap="square" lIns="0" tIns="0" rIns="0" bIns="0" rtlCol="0" anchor="ctr"/>
          <a:lstStyle/>
          <a:p>
            <a:pPr algn="ctr" indent="0" marL="0">
              <a:buNone/>
            </a:pPr>
            <a:r>
              <a:rPr lang="en-US" sz="1050" b="1" dirty="0">
                <a:solidFill>
                  <a:srgbClr val="22C55E"/>
                </a:solidFill>
                <a:latin typeface="Calibri" pitchFamily="34" charset="0"/>
                <a:ea typeface="Calibri" pitchFamily="34" charset="-122"/>
                <a:cs typeface="Calibri" pitchFamily="34" charset="-120"/>
              </a:rPr>
              <a:t>Renewable Energy</a:t>
            </a:r>
            <a:endParaRPr lang="en-US" sz="1050" dirty="0"/>
          </a:p>
        </p:txBody>
      </p:sp>
      <p:sp>
        <p:nvSpPr>
          <p:cNvPr id="27" name="Shape 25"/>
          <p:cNvSpPr/>
          <p:nvPr/>
        </p:nvSpPr>
        <p:spPr>
          <a:xfrm>
            <a:off x="5989320" y="4407408"/>
            <a:ext cx="2651760" cy="274320"/>
          </a:xfrm>
          <a:prstGeom prst="rect">
            <a:avLst/>
          </a:prstGeom>
          <a:solidFill>
            <a:srgbClr val="112B1A"/>
          </a:solidFill>
          <a:ln w="12700">
            <a:solidFill>
              <a:srgbClr val="22C55E"/>
            </a:solidFill>
            <a:prstDash val="solid"/>
          </a:ln>
        </p:spPr>
      </p:sp>
      <p:sp>
        <p:nvSpPr>
          <p:cNvPr id="28" name="Text 26"/>
          <p:cNvSpPr/>
          <p:nvPr/>
        </p:nvSpPr>
        <p:spPr>
          <a:xfrm>
            <a:off x="6035040" y="4434840"/>
            <a:ext cx="2560320" cy="219456"/>
          </a:xfrm>
          <a:prstGeom prst="rect">
            <a:avLst/>
          </a:prstGeom>
          <a:noFill/>
          <a:ln/>
        </p:spPr>
        <p:txBody>
          <a:bodyPr wrap="square" lIns="0" tIns="0" rIns="0" bIns="0" rtlCol="0" anchor="ctr"/>
          <a:lstStyle/>
          <a:p>
            <a:pPr algn="ctr" indent="0" marL="0">
              <a:buNone/>
            </a:pPr>
            <a:r>
              <a:rPr lang="en-US" sz="1050" b="1" dirty="0">
                <a:solidFill>
                  <a:srgbClr val="22C55E"/>
                </a:solidFill>
                <a:latin typeface="Calibri" pitchFamily="34" charset="0"/>
                <a:ea typeface="Calibri" pitchFamily="34" charset="-122"/>
                <a:cs typeface="Calibri" pitchFamily="34" charset="-120"/>
              </a:rPr>
              <a:t>Net Zero Emissions</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A0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2418"/>
          </a:solidFill>
          <a:ln w="12700">
            <a:solidFill>
              <a:srgbClr val="0D2418"/>
            </a:solidFill>
            <a:prstDash val="solid"/>
          </a:ln>
        </p:spPr>
      </p:sp>
      <p:sp>
        <p:nvSpPr>
          <p:cNvPr id="3" name="Text 1"/>
          <p:cNvSpPr/>
          <p:nvPr/>
        </p:nvSpPr>
        <p:spPr>
          <a:xfrm>
            <a:off x="365760" y="73152"/>
            <a:ext cx="8229600" cy="594360"/>
          </a:xfrm>
          <a:prstGeom prst="rect">
            <a:avLst/>
          </a:prstGeom>
          <a:noFill/>
          <a:ln/>
        </p:spPr>
        <p:txBody>
          <a:bodyPr wrap="square" lIns="0" tIns="0" rIns="0" bIns="0" rtlCol="0" anchor="ctr"/>
          <a:lstStyle/>
          <a:p>
            <a:pPr indent="0" marL="0">
              <a:buNone/>
            </a:pPr>
            <a:r>
              <a:rPr lang="en-US" sz="2800" b="1" dirty="0">
                <a:solidFill>
                  <a:srgbClr val="22C55E"/>
                </a:solidFill>
                <a:latin typeface="Calibri" pitchFamily="34" charset="0"/>
                <a:ea typeface="Calibri" pitchFamily="34" charset="-122"/>
                <a:cs typeface="Calibri" pitchFamily="34" charset="-120"/>
              </a:rPr>
              <a:t>INTRODUCTION</a:t>
            </a:r>
            <a:endParaRPr lang="en-US" sz="2800" dirty="0"/>
          </a:p>
        </p:txBody>
      </p:sp>
      <p:sp>
        <p:nvSpPr>
          <p:cNvPr id="4" name="Text 2"/>
          <p:cNvSpPr/>
          <p:nvPr/>
        </p:nvSpPr>
        <p:spPr>
          <a:xfrm>
            <a:off x="365760" y="868680"/>
            <a:ext cx="5349240" cy="4023360"/>
          </a:xfrm>
          <a:prstGeom prst="rect">
            <a:avLst/>
          </a:prstGeom>
          <a:noFill/>
          <a:ln/>
        </p:spPr>
        <p:txBody>
          <a:bodyPr wrap="square" rtlCol="0" anchor="t"/>
          <a:lstStyle/>
          <a:p>
            <a:pPr indent="0" marL="0">
              <a:buNone/>
            </a:pPr>
            <a:r>
              <a:rPr lang="en-US" sz="1250" b="1" dirty="0">
                <a:solidFill>
                  <a:srgbClr val="A3E635"/>
                </a:solidFill>
                <a:latin typeface="Calibri" pitchFamily="34" charset="0"/>
                <a:ea typeface="Calibri" pitchFamily="34" charset="-122"/>
                <a:cs typeface="Calibri" pitchFamily="34" charset="-120"/>
              </a:rPr>
              <a:t>1.  </a:t>
            </a:r>
            <a:pPr indent="0" marL="0">
              <a:buNone/>
            </a:pPr>
            <a:r>
              <a:rPr lang="en-US" sz="1250" dirty="0">
                <a:solidFill>
                  <a:srgbClr val="D1FAE5"/>
                </a:solidFill>
                <a:latin typeface="Calibri" pitchFamily="34" charset="0"/>
                <a:ea typeface="Calibri" pitchFamily="34" charset="-122"/>
                <a:cs typeface="Calibri" pitchFamily="34" charset="-120"/>
              </a:rPr>
              <a:t>Global electricity demand projected to grow by 60% by 2040 (IEA, 2023), stressing legacy grid infrastructure.
</a:t>
            </a:r>
            <a:pPr indent="0" marL="0">
              <a:buNone/>
            </a:pPr>
            <a:r>
              <a:rPr lang="en-US" sz="1250" b="1" dirty="0">
                <a:solidFill>
                  <a:srgbClr val="A3E635"/>
                </a:solidFill>
                <a:latin typeface="Calibri" pitchFamily="34" charset="0"/>
                <a:ea typeface="Calibri" pitchFamily="34" charset="-122"/>
                <a:cs typeface="Calibri" pitchFamily="34" charset="-120"/>
              </a:rPr>
              <a:t>2.  </a:t>
            </a:r>
            <a:pPr indent="0" marL="0">
              <a:buNone/>
            </a:pPr>
            <a:r>
              <a:rPr lang="en-US" sz="1250" dirty="0">
                <a:solidFill>
                  <a:srgbClr val="D1FAE5"/>
                </a:solidFill>
                <a:latin typeface="Calibri" pitchFamily="34" charset="0"/>
                <a:ea typeface="Calibri" pitchFamily="34" charset="-122"/>
                <a:cs typeface="Calibri" pitchFamily="34" charset="-120"/>
              </a:rPr>
              <a:t>Traditional grids are centralized and unidirectional — unable to handle renewable energy variability from solar/wind.
</a:t>
            </a:r>
            <a:pPr indent="0" marL="0">
              <a:buNone/>
            </a:pPr>
            <a:r>
              <a:rPr lang="en-US" sz="1250" b="1" dirty="0">
                <a:solidFill>
                  <a:srgbClr val="A3E635"/>
                </a:solidFill>
                <a:latin typeface="Calibri" pitchFamily="34" charset="0"/>
                <a:ea typeface="Calibri" pitchFamily="34" charset="-122"/>
                <a:cs typeface="Calibri" pitchFamily="34" charset="-120"/>
              </a:rPr>
              <a:t>3.  </a:t>
            </a:r>
            <a:pPr indent="0" marL="0">
              <a:buNone/>
            </a:pPr>
            <a:r>
              <a:rPr lang="en-US" sz="1250" dirty="0">
                <a:solidFill>
                  <a:srgbClr val="D1FAE5"/>
                </a:solidFill>
                <a:latin typeface="Calibri" pitchFamily="34" charset="0"/>
                <a:ea typeface="Calibri" pitchFamily="34" charset="-122"/>
                <a:cs typeface="Calibri" pitchFamily="34" charset="-120"/>
              </a:rPr>
              <a:t>Smart Grids integrate IoT sensors, smart meters, and real-time analytics for two-way power and data flow.
</a:t>
            </a:r>
            <a:pPr indent="0" marL="0">
              <a:buNone/>
            </a:pPr>
            <a:r>
              <a:rPr lang="en-US" sz="1250" b="1" dirty="0">
                <a:solidFill>
                  <a:srgbClr val="A3E635"/>
                </a:solidFill>
                <a:latin typeface="Calibri" pitchFamily="34" charset="0"/>
                <a:ea typeface="Calibri" pitchFamily="34" charset="-122"/>
                <a:cs typeface="Calibri" pitchFamily="34" charset="-120"/>
              </a:rPr>
              <a:t>4.  </a:t>
            </a:r>
            <a:pPr indent="0" marL="0">
              <a:buNone/>
            </a:pPr>
            <a:r>
              <a:rPr lang="en-US" sz="1250" dirty="0">
                <a:solidFill>
                  <a:srgbClr val="D1FAE5"/>
                </a:solidFill>
                <a:latin typeface="Calibri" pitchFamily="34" charset="0"/>
                <a:ea typeface="Calibri" pitchFamily="34" charset="-122"/>
                <a:cs typeface="Calibri" pitchFamily="34" charset="-120"/>
              </a:rPr>
              <a:t>Big Data generated by millions of smart meters — 15-min interval readings, events, alerts — petabytes annually.
</a:t>
            </a:r>
            <a:pPr indent="0" marL="0">
              <a:buNone/>
            </a:pPr>
            <a:r>
              <a:rPr lang="en-US" sz="1250" b="1" dirty="0">
                <a:solidFill>
                  <a:srgbClr val="A3E635"/>
                </a:solidFill>
                <a:latin typeface="Calibri" pitchFamily="34" charset="0"/>
                <a:ea typeface="Calibri" pitchFamily="34" charset="-122"/>
                <a:cs typeface="Calibri" pitchFamily="34" charset="-120"/>
              </a:rPr>
              <a:t>5.  </a:t>
            </a:r>
            <a:pPr indent="0" marL="0">
              <a:buNone/>
            </a:pPr>
            <a:r>
              <a:rPr lang="en-US" sz="1250" dirty="0">
                <a:solidFill>
                  <a:srgbClr val="D1FAE5"/>
                </a:solidFill>
                <a:latin typeface="Calibri" pitchFamily="34" charset="0"/>
                <a:ea typeface="Calibri" pitchFamily="34" charset="-122"/>
                <a:cs typeface="Calibri" pitchFamily="34" charset="-120"/>
              </a:rPr>
              <a:t>Key tools: Apache Kafka (streaming), Hadoop/Spark (batch + real-time processing), InfluxDB (time-series storage).
</a:t>
            </a:r>
            <a:pPr indent="0" marL="0">
              <a:buNone/>
            </a:pPr>
            <a:r>
              <a:rPr lang="en-US" sz="1250" b="1" dirty="0">
                <a:solidFill>
                  <a:srgbClr val="A3E635"/>
                </a:solidFill>
                <a:latin typeface="Calibri" pitchFamily="34" charset="0"/>
                <a:ea typeface="Calibri" pitchFamily="34" charset="-122"/>
                <a:cs typeface="Calibri" pitchFamily="34" charset="-120"/>
              </a:rPr>
              <a:t>6.  </a:t>
            </a:r>
            <a:pPr indent="0" marL="0">
              <a:buNone/>
            </a:pPr>
            <a:r>
              <a:rPr lang="en-US" sz="1250" dirty="0">
                <a:solidFill>
                  <a:srgbClr val="D1FAE5"/>
                </a:solidFill>
                <a:latin typeface="Calibri" pitchFamily="34" charset="0"/>
                <a:ea typeface="Calibri" pitchFamily="34" charset="-122"/>
                <a:cs typeface="Calibri" pitchFamily="34" charset="-120"/>
              </a:rPr>
              <a:t>Sustainability goals (Paris Agreement, Net Zero 2050) demand data-driven optimization of energy distribution.</a:t>
            </a:r>
            <a:endParaRPr lang="en-US" sz="1250" dirty="0"/>
          </a:p>
        </p:txBody>
      </p:sp>
      <p:sp>
        <p:nvSpPr>
          <p:cNvPr id="5" name="Shape 3"/>
          <p:cNvSpPr/>
          <p:nvPr/>
        </p:nvSpPr>
        <p:spPr>
          <a:xfrm>
            <a:off x="5989320" y="868680"/>
            <a:ext cx="2834640" cy="1143000"/>
          </a:xfrm>
          <a:prstGeom prst="rect">
            <a:avLst/>
          </a:prstGeom>
          <a:solidFill>
            <a:srgbClr val="0D2418"/>
          </a:solidFill>
          <a:ln w="12700">
            <a:solidFill>
              <a:srgbClr val="22C55E"/>
            </a:solidFill>
            <a:prstDash val="solid"/>
          </a:ln>
        </p:spPr>
      </p:sp>
      <p:sp>
        <p:nvSpPr>
          <p:cNvPr id="6" name="Text 4"/>
          <p:cNvSpPr/>
          <p:nvPr/>
        </p:nvSpPr>
        <p:spPr>
          <a:xfrm>
            <a:off x="5989320" y="941832"/>
            <a:ext cx="2834640" cy="594360"/>
          </a:xfrm>
          <a:prstGeom prst="rect">
            <a:avLst/>
          </a:prstGeom>
          <a:noFill/>
          <a:ln/>
        </p:spPr>
        <p:txBody>
          <a:bodyPr wrap="square" lIns="0" tIns="0" rIns="0" bIns="0" rtlCol="0" anchor="ctr"/>
          <a:lstStyle/>
          <a:p>
            <a:pPr algn="ctr" indent="0" marL="0">
              <a:buNone/>
            </a:pPr>
            <a:r>
              <a:rPr lang="en-US" sz="3000" b="1" dirty="0">
                <a:solidFill>
                  <a:srgbClr val="22C55E"/>
                </a:solidFill>
                <a:latin typeface="Calibri" pitchFamily="34" charset="0"/>
                <a:ea typeface="Calibri" pitchFamily="34" charset="-122"/>
                <a:cs typeface="Calibri" pitchFamily="34" charset="-120"/>
              </a:rPr>
              <a:t>60%</a:t>
            </a:r>
            <a:endParaRPr lang="en-US" sz="3000" dirty="0"/>
          </a:p>
        </p:txBody>
      </p:sp>
      <p:sp>
        <p:nvSpPr>
          <p:cNvPr id="7" name="Text 5"/>
          <p:cNvSpPr/>
          <p:nvPr/>
        </p:nvSpPr>
        <p:spPr>
          <a:xfrm>
            <a:off x="5989320" y="1508760"/>
            <a:ext cx="2834640" cy="438912"/>
          </a:xfrm>
          <a:prstGeom prst="rect">
            <a:avLst/>
          </a:prstGeom>
          <a:noFill/>
          <a:ln/>
        </p:spPr>
        <p:txBody>
          <a:bodyPr wrap="square" lIns="0" tIns="0" rIns="0" bIns="0" rtlCol="0" anchor="ctr"/>
          <a:lstStyle/>
          <a:p>
            <a:pPr algn="ctr" indent="0" marL="0">
              <a:buNone/>
            </a:pPr>
            <a:r>
              <a:rPr lang="en-US" sz="1100" dirty="0">
                <a:solidFill>
                  <a:srgbClr val="6EE7B7"/>
                </a:solidFill>
                <a:latin typeface="Calibri" pitchFamily="34" charset="0"/>
                <a:ea typeface="Calibri" pitchFamily="34" charset="-122"/>
                <a:cs typeface="Calibri" pitchFamily="34" charset="-120"/>
              </a:rPr>
              <a:t>Energy demand</a:t>
            </a:r>
            <a:endParaRPr lang="en-US" sz="1100" dirty="0"/>
          </a:p>
          <a:p>
            <a:pPr algn="ctr" indent="0" marL="0">
              <a:buNone/>
            </a:pPr>
            <a:r>
              <a:rPr lang="en-US" sz="1100" dirty="0">
                <a:solidFill>
                  <a:srgbClr val="6EE7B7"/>
                </a:solidFill>
                <a:latin typeface="Calibri" pitchFamily="34" charset="0"/>
                <a:ea typeface="Calibri" pitchFamily="34" charset="-122"/>
                <a:cs typeface="Calibri" pitchFamily="34" charset="-120"/>
              </a:rPr>
              <a:t>growth by 2040</a:t>
            </a:r>
            <a:endParaRPr lang="en-US" sz="1100" dirty="0"/>
          </a:p>
        </p:txBody>
      </p:sp>
      <p:sp>
        <p:nvSpPr>
          <p:cNvPr id="8" name="Shape 6"/>
          <p:cNvSpPr/>
          <p:nvPr/>
        </p:nvSpPr>
        <p:spPr>
          <a:xfrm>
            <a:off x="5989320" y="2240280"/>
            <a:ext cx="2834640" cy="1143000"/>
          </a:xfrm>
          <a:prstGeom prst="rect">
            <a:avLst/>
          </a:prstGeom>
          <a:solidFill>
            <a:srgbClr val="0D2418"/>
          </a:solidFill>
          <a:ln w="12700">
            <a:solidFill>
              <a:srgbClr val="22C55E"/>
            </a:solidFill>
            <a:prstDash val="solid"/>
          </a:ln>
        </p:spPr>
      </p:sp>
      <p:sp>
        <p:nvSpPr>
          <p:cNvPr id="9" name="Text 7"/>
          <p:cNvSpPr/>
          <p:nvPr/>
        </p:nvSpPr>
        <p:spPr>
          <a:xfrm>
            <a:off x="5989320" y="2313432"/>
            <a:ext cx="2834640" cy="594360"/>
          </a:xfrm>
          <a:prstGeom prst="rect">
            <a:avLst/>
          </a:prstGeom>
          <a:noFill/>
          <a:ln/>
        </p:spPr>
        <p:txBody>
          <a:bodyPr wrap="square" lIns="0" tIns="0" rIns="0" bIns="0" rtlCol="0" anchor="ctr"/>
          <a:lstStyle/>
          <a:p>
            <a:pPr algn="ctr" indent="0" marL="0">
              <a:buNone/>
            </a:pPr>
            <a:r>
              <a:rPr lang="en-US" sz="3000" b="1" dirty="0">
                <a:solidFill>
                  <a:srgbClr val="22C55E"/>
                </a:solidFill>
                <a:latin typeface="Calibri" pitchFamily="34" charset="0"/>
                <a:ea typeface="Calibri" pitchFamily="34" charset="-122"/>
                <a:cs typeface="Calibri" pitchFamily="34" charset="-120"/>
              </a:rPr>
              <a:t>40%</a:t>
            </a:r>
            <a:endParaRPr lang="en-US" sz="3000" dirty="0"/>
          </a:p>
        </p:txBody>
      </p:sp>
      <p:sp>
        <p:nvSpPr>
          <p:cNvPr id="10" name="Text 8"/>
          <p:cNvSpPr/>
          <p:nvPr/>
        </p:nvSpPr>
        <p:spPr>
          <a:xfrm>
            <a:off x="5989320" y="2880360"/>
            <a:ext cx="2834640" cy="438912"/>
          </a:xfrm>
          <a:prstGeom prst="rect">
            <a:avLst/>
          </a:prstGeom>
          <a:noFill/>
          <a:ln/>
        </p:spPr>
        <p:txBody>
          <a:bodyPr wrap="square" lIns="0" tIns="0" rIns="0" bIns="0" rtlCol="0" anchor="ctr"/>
          <a:lstStyle/>
          <a:p>
            <a:pPr algn="ctr" indent="0" marL="0">
              <a:buNone/>
            </a:pPr>
            <a:r>
              <a:rPr lang="en-US" sz="1100" dirty="0">
                <a:solidFill>
                  <a:srgbClr val="6EE7B7"/>
                </a:solidFill>
                <a:latin typeface="Calibri" pitchFamily="34" charset="0"/>
                <a:ea typeface="Calibri" pitchFamily="34" charset="-122"/>
                <a:cs typeface="Calibri" pitchFamily="34" charset="-120"/>
              </a:rPr>
              <a:t>Grid outage</a:t>
            </a:r>
            <a:endParaRPr lang="en-US" sz="1100" dirty="0"/>
          </a:p>
          <a:p>
            <a:pPr algn="ctr" indent="0" marL="0">
              <a:buNone/>
            </a:pPr>
            <a:r>
              <a:rPr lang="en-US" sz="1100" dirty="0">
                <a:solidFill>
                  <a:srgbClr val="6EE7B7"/>
                </a:solidFill>
                <a:latin typeface="Calibri" pitchFamily="34" charset="0"/>
                <a:ea typeface="Calibri" pitchFamily="34" charset="-122"/>
                <a:cs typeface="Calibri" pitchFamily="34" charset="-120"/>
              </a:rPr>
              <a:t>reduction</a:t>
            </a:r>
            <a:endParaRPr lang="en-US" sz="1100" dirty="0"/>
          </a:p>
        </p:txBody>
      </p:sp>
      <p:sp>
        <p:nvSpPr>
          <p:cNvPr id="11" name="Shape 9"/>
          <p:cNvSpPr/>
          <p:nvPr/>
        </p:nvSpPr>
        <p:spPr>
          <a:xfrm>
            <a:off x="5989320" y="3611880"/>
            <a:ext cx="2834640" cy="1143000"/>
          </a:xfrm>
          <a:prstGeom prst="rect">
            <a:avLst/>
          </a:prstGeom>
          <a:solidFill>
            <a:srgbClr val="0D2418"/>
          </a:solidFill>
          <a:ln w="12700">
            <a:solidFill>
              <a:srgbClr val="22C55E"/>
            </a:solidFill>
            <a:prstDash val="solid"/>
          </a:ln>
        </p:spPr>
      </p:sp>
      <p:sp>
        <p:nvSpPr>
          <p:cNvPr id="12" name="Text 10"/>
          <p:cNvSpPr/>
          <p:nvPr/>
        </p:nvSpPr>
        <p:spPr>
          <a:xfrm>
            <a:off x="5989320" y="3685032"/>
            <a:ext cx="2834640" cy="594360"/>
          </a:xfrm>
          <a:prstGeom prst="rect">
            <a:avLst/>
          </a:prstGeom>
          <a:noFill/>
          <a:ln/>
        </p:spPr>
        <p:txBody>
          <a:bodyPr wrap="square" lIns="0" tIns="0" rIns="0" bIns="0" rtlCol="0" anchor="ctr"/>
          <a:lstStyle/>
          <a:p>
            <a:pPr algn="ctr" indent="0" marL="0">
              <a:buNone/>
            </a:pPr>
            <a:r>
              <a:rPr lang="en-US" sz="3000" b="1" dirty="0">
                <a:solidFill>
                  <a:srgbClr val="22C55E"/>
                </a:solidFill>
                <a:latin typeface="Calibri" pitchFamily="34" charset="0"/>
                <a:ea typeface="Calibri" pitchFamily="34" charset="-122"/>
                <a:cs typeface="Calibri" pitchFamily="34" charset="-120"/>
              </a:rPr>
              <a:t>25%</a:t>
            </a:r>
            <a:endParaRPr lang="en-US" sz="3000" dirty="0"/>
          </a:p>
        </p:txBody>
      </p:sp>
      <p:sp>
        <p:nvSpPr>
          <p:cNvPr id="13" name="Text 11"/>
          <p:cNvSpPr/>
          <p:nvPr/>
        </p:nvSpPr>
        <p:spPr>
          <a:xfrm>
            <a:off x="5989320" y="4251960"/>
            <a:ext cx="2834640" cy="438912"/>
          </a:xfrm>
          <a:prstGeom prst="rect">
            <a:avLst/>
          </a:prstGeom>
          <a:noFill/>
          <a:ln/>
        </p:spPr>
        <p:txBody>
          <a:bodyPr wrap="square" lIns="0" tIns="0" rIns="0" bIns="0" rtlCol="0" anchor="ctr"/>
          <a:lstStyle/>
          <a:p>
            <a:pPr algn="ctr" indent="0" marL="0">
              <a:buNone/>
            </a:pPr>
            <a:r>
              <a:rPr lang="en-US" sz="1100" dirty="0">
                <a:solidFill>
                  <a:srgbClr val="6EE7B7"/>
                </a:solidFill>
                <a:latin typeface="Calibri" pitchFamily="34" charset="0"/>
                <a:ea typeface="Calibri" pitchFamily="34" charset="-122"/>
                <a:cs typeface="Calibri" pitchFamily="34" charset="-120"/>
              </a:rPr>
              <a:t>Efficiency gain</a:t>
            </a:r>
            <a:endParaRPr lang="en-US" sz="1100" dirty="0"/>
          </a:p>
          <a:p>
            <a:pPr algn="ctr" indent="0" marL="0">
              <a:buNone/>
            </a:pPr>
            <a:r>
              <a:rPr lang="en-US" sz="1100" dirty="0">
                <a:solidFill>
                  <a:srgbClr val="6EE7B7"/>
                </a:solidFill>
                <a:latin typeface="Calibri" pitchFamily="34" charset="0"/>
                <a:ea typeface="Calibri" pitchFamily="34" charset="-122"/>
                <a:cs typeface="Calibri" pitchFamily="34" charset="-120"/>
              </a:rPr>
              <a:t>with analytics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A0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2E1A"/>
          </a:solidFill>
          <a:ln w="12700">
            <a:solidFill>
              <a:srgbClr val="0A2E1A"/>
            </a:solidFill>
            <a:prstDash val="solid"/>
          </a:ln>
        </p:spPr>
      </p:sp>
      <p:sp>
        <p:nvSpPr>
          <p:cNvPr id="3" name="Text 1"/>
          <p:cNvSpPr/>
          <p:nvPr/>
        </p:nvSpPr>
        <p:spPr>
          <a:xfrm>
            <a:off x="365760" y="73152"/>
            <a:ext cx="8229600" cy="594360"/>
          </a:xfrm>
          <a:prstGeom prst="rect">
            <a:avLst/>
          </a:prstGeom>
          <a:noFill/>
          <a:ln/>
        </p:spPr>
        <p:txBody>
          <a:bodyPr wrap="square" lIns="0" tIns="0" rIns="0" bIns="0" rtlCol="0" anchor="ctr"/>
          <a:lstStyle/>
          <a:p>
            <a:pPr indent="0" marL="0">
              <a:buNone/>
            </a:pPr>
            <a:r>
              <a:rPr lang="en-US" sz="2400" b="1" dirty="0">
                <a:solidFill>
                  <a:srgbClr val="22C55E"/>
                </a:solidFill>
                <a:latin typeface="Calibri" pitchFamily="34" charset="0"/>
                <a:ea typeface="Calibri" pitchFamily="34" charset="-122"/>
                <a:cs typeface="Calibri" pitchFamily="34" charset="-120"/>
              </a:rPr>
              <a:t>LITERATURE SURVEY  (Part 1 of 2)</a:t>
            </a:r>
            <a:endParaRPr lang="en-US" sz="2400" dirty="0"/>
          </a:p>
        </p:txBody>
      </p:sp>
      <p:sp>
        <p:nvSpPr>
          <p:cNvPr id="4" name="Shape 2"/>
          <p:cNvSpPr/>
          <p:nvPr/>
        </p:nvSpPr>
        <p:spPr>
          <a:xfrm>
            <a:off x="228600" y="841248"/>
            <a:ext cx="8686800" cy="987552"/>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228600" y="841248"/>
            <a:ext cx="438912" cy="987552"/>
          </a:xfrm>
          <a:prstGeom prst="rect">
            <a:avLst/>
          </a:prstGeom>
          <a:solidFill>
            <a:srgbClr val="22C55E"/>
          </a:solidFill>
          <a:ln w="12700">
            <a:solidFill>
              <a:srgbClr val="22C55E"/>
            </a:solidFill>
            <a:prstDash val="solid"/>
          </a:ln>
        </p:spPr>
      </p:sp>
      <p:sp>
        <p:nvSpPr>
          <p:cNvPr id="6" name="Text 4"/>
          <p:cNvSpPr/>
          <p:nvPr/>
        </p:nvSpPr>
        <p:spPr>
          <a:xfrm>
            <a:off x="228600" y="1161288"/>
            <a:ext cx="438912" cy="347472"/>
          </a:xfrm>
          <a:prstGeom prst="rect">
            <a:avLst/>
          </a:prstGeom>
          <a:noFill/>
          <a:ln/>
        </p:spPr>
        <p:txBody>
          <a:bodyPr wrap="square" lIns="0" tIns="0" rIns="0" bIns="0" rtlCol="0" anchor="ctr"/>
          <a:lstStyle/>
          <a:p>
            <a:pPr algn="ctr" indent="0" marL="0">
              <a:buNone/>
            </a:pPr>
            <a:r>
              <a:rPr lang="en-US" sz="1400" b="1" dirty="0">
                <a:solidFill>
                  <a:srgbClr val="071A0F"/>
                </a:solidFill>
                <a:latin typeface="Calibri" pitchFamily="34" charset="0"/>
                <a:ea typeface="Calibri" pitchFamily="34" charset="-122"/>
                <a:cs typeface="Calibri" pitchFamily="34" charset="-120"/>
              </a:rPr>
              <a:t>01</a:t>
            </a:r>
            <a:endParaRPr lang="en-US" sz="1400" dirty="0"/>
          </a:p>
        </p:txBody>
      </p:sp>
      <p:sp>
        <p:nvSpPr>
          <p:cNvPr id="7" name="Text 5"/>
          <p:cNvSpPr/>
          <p:nvPr/>
        </p:nvSpPr>
        <p:spPr>
          <a:xfrm>
            <a:off x="749808" y="859536"/>
            <a:ext cx="8046720" cy="256032"/>
          </a:xfrm>
          <a:prstGeom prst="rect">
            <a:avLst/>
          </a:prstGeom>
          <a:noFill/>
          <a:ln/>
        </p:spPr>
        <p:txBody>
          <a:bodyPr wrap="square" lIns="0" tIns="0" rIns="0" bIns="0" rtlCol="0" anchor="ctr"/>
          <a:lstStyle/>
          <a:p>
            <a:pPr indent="0" marL="0">
              <a:buNone/>
            </a:pPr>
            <a:r>
              <a:rPr lang="en-US" sz="1150" b="1" dirty="0">
                <a:solidFill>
                  <a:srgbClr val="A3E635"/>
                </a:solidFill>
                <a:latin typeface="Calibri" pitchFamily="34" charset="0"/>
                <a:ea typeface="Calibri" pitchFamily="34" charset="-122"/>
                <a:cs typeface="Calibri" pitchFamily="34" charset="-120"/>
              </a:rPr>
              <a:t>Smart Grid — The New and Improved Power Grid: A Survey</a:t>
            </a:r>
            <a:endParaRPr lang="en-US" sz="1150" dirty="0"/>
          </a:p>
        </p:txBody>
      </p:sp>
      <p:sp>
        <p:nvSpPr>
          <p:cNvPr id="8" name="Text 6"/>
          <p:cNvSpPr/>
          <p:nvPr/>
        </p:nvSpPr>
        <p:spPr>
          <a:xfrm>
            <a:off x="749808" y="1097280"/>
            <a:ext cx="8046720" cy="182880"/>
          </a:xfrm>
          <a:prstGeom prst="rect">
            <a:avLst/>
          </a:prstGeom>
          <a:noFill/>
          <a:ln/>
        </p:spPr>
        <p:txBody>
          <a:bodyPr wrap="square" lIns="0" tIns="0" rIns="0" bIns="0" rtlCol="0" anchor="ctr"/>
          <a:lstStyle/>
          <a:p>
            <a:pPr indent="0" marL="0">
              <a:buNone/>
            </a:pPr>
            <a:r>
              <a:rPr lang="en-US" sz="950" i="1" dirty="0">
                <a:solidFill>
                  <a:srgbClr val="6EE7B7"/>
                </a:solidFill>
                <a:latin typeface="Calibri" pitchFamily="34" charset="0"/>
                <a:ea typeface="Calibri" pitchFamily="34" charset="-122"/>
                <a:cs typeface="Calibri" pitchFamily="34" charset="-120"/>
              </a:rPr>
              <a:t>Fang, X., Misra, S., Xue, G., &amp; Yang, D. (2012)  |  IEEE Communications Surveys &amp; Tutorials, 14(4), 944–980</a:t>
            </a:r>
            <a:endParaRPr lang="en-US" sz="950" dirty="0"/>
          </a:p>
        </p:txBody>
      </p:sp>
      <p:sp>
        <p:nvSpPr>
          <p:cNvPr id="9" name="Text 7"/>
          <p:cNvSpPr/>
          <p:nvPr/>
        </p:nvSpPr>
        <p:spPr>
          <a:xfrm>
            <a:off x="749808" y="1271016"/>
            <a:ext cx="8046720" cy="182880"/>
          </a:xfrm>
          <a:prstGeom prst="rect">
            <a:avLst/>
          </a:prstGeom>
          <a:noFill/>
          <a:ln/>
        </p:spPr>
        <p:txBody>
          <a:bodyPr wrap="square" lIns="0" tIns="0" rIns="0" bIns="0" rtlCol="0" anchor="ctr"/>
          <a:lstStyle/>
          <a:p>
            <a:pPr indent="0" marL="0">
              <a:buNone/>
            </a:pPr>
            <a:r>
              <a:rPr lang="en-US" sz="1000" dirty="0">
                <a:solidFill>
                  <a:srgbClr val="D1FAE5"/>
                </a:solidFill>
                <a:latin typeface="Calibri" pitchFamily="34" charset="0"/>
                <a:ea typeface="Calibri" pitchFamily="34" charset="-122"/>
                <a:cs typeface="Calibri" pitchFamily="34" charset="-120"/>
              </a:rPr>
              <a:t>About: Comprehensive survey of smart grid architecture covering communication networks, sensing, computing, and power management integration.</a:t>
            </a:r>
            <a:endParaRPr lang="en-US" sz="1000" dirty="0"/>
          </a:p>
        </p:txBody>
      </p:sp>
      <p:sp>
        <p:nvSpPr>
          <p:cNvPr id="10" name="Text 8"/>
          <p:cNvSpPr/>
          <p:nvPr/>
        </p:nvSpPr>
        <p:spPr>
          <a:xfrm>
            <a:off x="749808" y="1444752"/>
            <a:ext cx="8046720" cy="329184"/>
          </a:xfrm>
          <a:prstGeom prst="rect">
            <a:avLst/>
          </a:prstGeom>
          <a:noFill/>
          <a:ln/>
        </p:spPr>
        <p:txBody>
          <a:bodyPr wrap="square" lIns="0" tIns="0" rIns="0" bIns="0" rtlCol="0" anchor="ctr"/>
          <a:lstStyle/>
          <a:p>
            <a:pPr indent="0" marL="0">
              <a:buNone/>
            </a:pPr>
            <a:r>
              <a:rPr lang="en-US" sz="1000" b="1" dirty="0">
                <a:solidFill>
                  <a:srgbClr val="22C55E"/>
                </a:solidFill>
                <a:latin typeface="Calibri" pitchFamily="34" charset="0"/>
                <a:ea typeface="Calibri" pitchFamily="34" charset="-122"/>
                <a:cs typeface="Calibri" pitchFamily="34" charset="-120"/>
              </a:rPr>
              <a:t>✔ </a:t>
            </a:r>
            <a:pPr indent="0" marL="0">
              <a:buNone/>
            </a:pPr>
            <a:r>
              <a:rPr lang="en-US" sz="1000" dirty="0">
                <a:solidFill>
                  <a:srgbClr val="D1FAE5"/>
                </a:solidFill>
                <a:latin typeface="Calibri" pitchFamily="34" charset="0"/>
                <a:ea typeface="Calibri" pitchFamily="34" charset="-122"/>
                <a:cs typeface="Calibri" pitchFamily="34" charset="-120"/>
              </a:rPr>
              <a:t>Establishes foundational framework; shows integrating sensing &amp; computing cuts grid operational costs by up to 30%.   </a:t>
            </a:r>
            <a:pPr indent="0" marL="0">
              <a:buNone/>
            </a:pPr>
            <a:r>
              <a:rPr lang="en-US" sz="1000" b="1" dirty="0">
                <a:solidFill>
                  <a:srgbClr val="F87171"/>
                </a:solidFill>
                <a:latin typeface="Calibri" pitchFamily="34" charset="0"/>
                <a:ea typeface="Calibri" pitchFamily="34" charset="-122"/>
                <a:cs typeface="Calibri" pitchFamily="34" charset="-120"/>
              </a:rPr>
              <a:t>✘ </a:t>
            </a:r>
            <a:pPr indent="0" marL="0">
              <a:buNone/>
            </a:pPr>
            <a:r>
              <a:rPr lang="en-US" sz="1000" dirty="0">
                <a:solidFill>
                  <a:srgbClr val="FCA5A5"/>
                </a:solidFill>
                <a:latin typeface="Calibri" pitchFamily="34" charset="0"/>
                <a:ea typeface="Calibri" pitchFamily="34" charset="-122"/>
                <a:cs typeface="Calibri" pitchFamily="34" charset="-120"/>
              </a:rPr>
              <a:t>Focuses mostly on architecture; limited discussion of Big Data analytics pipelines and ML-based optimization.</a:t>
            </a:r>
            <a:endParaRPr lang="en-US" sz="1000" dirty="0"/>
          </a:p>
        </p:txBody>
      </p:sp>
      <p:sp>
        <p:nvSpPr>
          <p:cNvPr id="11" name="Shape 9"/>
          <p:cNvSpPr/>
          <p:nvPr/>
        </p:nvSpPr>
        <p:spPr>
          <a:xfrm>
            <a:off x="228600" y="1911096"/>
            <a:ext cx="8686800" cy="987552"/>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12" name="Shape 10"/>
          <p:cNvSpPr/>
          <p:nvPr/>
        </p:nvSpPr>
        <p:spPr>
          <a:xfrm>
            <a:off x="228600" y="1911096"/>
            <a:ext cx="438912" cy="987552"/>
          </a:xfrm>
          <a:prstGeom prst="rect">
            <a:avLst/>
          </a:prstGeom>
          <a:solidFill>
            <a:srgbClr val="22C55E"/>
          </a:solidFill>
          <a:ln w="12700">
            <a:solidFill>
              <a:srgbClr val="22C55E"/>
            </a:solidFill>
            <a:prstDash val="solid"/>
          </a:ln>
        </p:spPr>
      </p:sp>
      <p:sp>
        <p:nvSpPr>
          <p:cNvPr id="13" name="Text 11"/>
          <p:cNvSpPr/>
          <p:nvPr/>
        </p:nvSpPr>
        <p:spPr>
          <a:xfrm>
            <a:off x="228600" y="2231136"/>
            <a:ext cx="438912" cy="347472"/>
          </a:xfrm>
          <a:prstGeom prst="rect">
            <a:avLst/>
          </a:prstGeom>
          <a:noFill/>
          <a:ln/>
        </p:spPr>
        <p:txBody>
          <a:bodyPr wrap="square" lIns="0" tIns="0" rIns="0" bIns="0" rtlCol="0" anchor="ctr"/>
          <a:lstStyle/>
          <a:p>
            <a:pPr algn="ctr" indent="0" marL="0">
              <a:buNone/>
            </a:pPr>
            <a:r>
              <a:rPr lang="en-US" sz="1400" b="1" dirty="0">
                <a:solidFill>
                  <a:srgbClr val="071A0F"/>
                </a:solidFill>
                <a:latin typeface="Calibri" pitchFamily="34" charset="0"/>
                <a:ea typeface="Calibri" pitchFamily="34" charset="-122"/>
                <a:cs typeface="Calibri" pitchFamily="34" charset="-120"/>
              </a:rPr>
              <a:t>02</a:t>
            </a:r>
            <a:endParaRPr lang="en-US" sz="1400" dirty="0"/>
          </a:p>
        </p:txBody>
      </p:sp>
      <p:sp>
        <p:nvSpPr>
          <p:cNvPr id="14" name="Text 12"/>
          <p:cNvSpPr/>
          <p:nvPr/>
        </p:nvSpPr>
        <p:spPr>
          <a:xfrm>
            <a:off x="749808" y="1929384"/>
            <a:ext cx="8046720" cy="256032"/>
          </a:xfrm>
          <a:prstGeom prst="rect">
            <a:avLst/>
          </a:prstGeom>
          <a:noFill/>
          <a:ln/>
        </p:spPr>
        <p:txBody>
          <a:bodyPr wrap="square" lIns="0" tIns="0" rIns="0" bIns="0" rtlCol="0" anchor="ctr"/>
          <a:lstStyle/>
          <a:p>
            <a:pPr indent="0" marL="0">
              <a:buNone/>
            </a:pPr>
            <a:r>
              <a:rPr lang="en-US" sz="1150" b="1" dirty="0">
                <a:solidFill>
                  <a:srgbClr val="A3E635"/>
                </a:solidFill>
                <a:latin typeface="Calibri" pitchFamily="34" charset="0"/>
                <a:ea typeface="Calibri" pitchFamily="34" charset="-122"/>
                <a:cs typeface="Calibri" pitchFamily="34" charset="-120"/>
              </a:rPr>
              <a:t>State-of-the-Art Deep Learning: Evolving Machine Intelligence Toward Tomorrow's Intelligent Network Traffic Control Systems</a:t>
            </a:r>
            <a:endParaRPr lang="en-US" sz="1150" dirty="0"/>
          </a:p>
        </p:txBody>
      </p:sp>
      <p:sp>
        <p:nvSpPr>
          <p:cNvPr id="15" name="Text 13"/>
          <p:cNvSpPr/>
          <p:nvPr/>
        </p:nvSpPr>
        <p:spPr>
          <a:xfrm>
            <a:off x="749808" y="2167128"/>
            <a:ext cx="8046720" cy="182880"/>
          </a:xfrm>
          <a:prstGeom prst="rect">
            <a:avLst/>
          </a:prstGeom>
          <a:noFill/>
          <a:ln/>
        </p:spPr>
        <p:txBody>
          <a:bodyPr wrap="square" lIns="0" tIns="0" rIns="0" bIns="0" rtlCol="0" anchor="ctr"/>
          <a:lstStyle/>
          <a:p>
            <a:pPr indent="0" marL="0">
              <a:buNone/>
            </a:pPr>
            <a:r>
              <a:rPr lang="en-US" sz="950" i="1" dirty="0">
                <a:solidFill>
                  <a:srgbClr val="6EE7B7"/>
                </a:solidFill>
                <a:latin typeface="Calibri" pitchFamily="34" charset="0"/>
                <a:ea typeface="Calibri" pitchFamily="34" charset="-122"/>
                <a:cs typeface="Calibri" pitchFamily="34" charset="-120"/>
              </a:rPr>
              <a:t>Fadlullah, Z. M., Tang, F., Mao, B., et al. (2017)  |  IEEE Communications Surveys &amp; Tutorials, 19(4), 2432–2455</a:t>
            </a:r>
            <a:endParaRPr lang="en-US" sz="950" dirty="0"/>
          </a:p>
        </p:txBody>
      </p:sp>
      <p:sp>
        <p:nvSpPr>
          <p:cNvPr id="16" name="Text 14"/>
          <p:cNvSpPr/>
          <p:nvPr/>
        </p:nvSpPr>
        <p:spPr>
          <a:xfrm>
            <a:off x="749808" y="2340864"/>
            <a:ext cx="8046720" cy="182880"/>
          </a:xfrm>
          <a:prstGeom prst="rect">
            <a:avLst/>
          </a:prstGeom>
          <a:noFill/>
          <a:ln/>
        </p:spPr>
        <p:txBody>
          <a:bodyPr wrap="square" lIns="0" tIns="0" rIns="0" bIns="0" rtlCol="0" anchor="ctr"/>
          <a:lstStyle/>
          <a:p>
            <a:pPr indent="0" marL="0">
              <a:buNone/>
            </a:pPr>
            <a:r>
              <a:rPr lang="en-US" sz="1000" dirty="0">
                <a:solidFill>
                  <a:srgbClr val="D1FAE5"/>
                </a:solidFill>
                <a:latin typeface="Calibri" pitchFamily="34" charset="0"/>
                <a:ea typeface="Calibri" pitchFamily="34" charset="-122"/>
                <a:cs typeface="Calibri" pitchFamily="34" charset="-120"/>
              </a:rPr>
              <a:t>About: Reviews deep learning techniques (LSTM, CNN) applied to smart grid data for energy theft detection and demand prediction.</a:t>
            </a:r>
            <a:endParaRPr lang="en-US" sz="1000" dirty="0"/>
          </a:p>
        </p:txBody>
      </p:sp>
      <p:sp>
        <p:nvSpPr>
          <p:cNvPr id="17" name="Text 15"/>
          <p:cNvSpPr/>
          <p:nvPr/>
        </p:nvSpPr>
        <p:spPr>
          <a:xfrm>
            <a:off x="749808" y="2514600"/>
            <a:ext cx="8046720" cy="329184"/>
          </a:xfrm>
          <a:prstGeom prst="rect">
            <a:avLst/>
          </a:prstGeom>
          <a:noFill/>
          <a:ln/>
        </p:spPr>
        <p:txBody>
          <a:bodyPr wrap="square" lIns="0" tIns="0" rIns="0" bIns="0" rtlCol="0" anchor="ctr"/>
          <a:lstStyle/>
          <a:p>
            <a:pPr indent="0" marL="0">
              <a:buNone/>
            </a:pPr>
            <a:r>
              <a:rPr lang="en-US" sz="1000" b="1" dirty="0">
                <a:solidFill>
                  <a:srgbClr val="22C55E"/>
                </a:solidFill>
                <a:latin typeface="Calibri" pitchFamily="34" charset="0"/>
                <a:ea typeface="Calibri" pitchFamily="34" charset="-122"/>
                <a:cs typeface="Calibri" pitchFamily="34" charset="-120"/>
              </a:rPr>
              <a:t>✔ </a:t>
            </a:r>
            <a:pPr indent="0" marL="0">
              <a:buNone/>
            </a:pPr>
            <a:r>
              <a:rPr lang="en-US" sz="1000" dirty="0">
                <a:solidFill>
                  <a:srgbClr val="D1FAE5"/>
                </a:solidFill>
                <a:latin typeface="Calibri" pitchFamily="34" charset="0"/>
                <a:ea typeface="Calibri" pitchFamily="34" charset="-122"/>
                <a:cs typeface="Calibri" pitchFamily="34" charset="-120"/>
              </a:rPr>
              <a:t>Achieves 97% accuracy in energy theft detection; demonstrates DL outperforms traditional ML on smart meter streams.   </a:t>
            </a:r>
            <a:pPr indent="0" marL="0">
              <a:buNone/>
            </a:pPr>
            <a:r>
              <a:rPr lang="en-US" sz="1000" b="1" dirty="0">
                <a:solidFill>
                  <a:srgbClr val="F87171"/>
                </a:solidFill>
                <a:latin typeface="Calibri" pitchFamily="34" charset="0"/>
                <a:ea typeface="Calibri" pitchFamily="34" charset="-122"/>
                <a:cs typeface="Calibri" pitchFamily="34" charset="-120"/>
              </a:rPr>
              <a:t>✘ </a:t>
            </a:r>
            <a:pPr indent="0" marL="0">
              <a:buNone/>
            </a:pPr>
            <a:r>
              <a:rPr lang="en-US" sz="1000" dirty="0">
                <a:solidFill>
                  <a:srgbClr val="FCA5A5"/>
                </a:solidFill>
                <a:latin typeface="Calibri" pitchFamily="34" charset="0"/>
                <a:ea typeface="Calibri" pitchFamily="34" charset="-122"/>
                <a:cs typeface="Calibri" pitchFamily="34" charset="-120"/>
              </a:rPr>
              <a:t>High computational cost; model training requires large labeled datasets that are often unavailable in real grid deployments.</a:t>
            </a:r>
            <a:endParaRPr lang="en-US" sz="1000" dirty="0"/>
          </a:p>
        </p:txBody>
      </p:sp>
      <p:sp>
        <p:nvSpPr>
          <p:cNvPr id="18" name="Shape 16"/>
          <p:cNvSpPr/>
          <p:nvPr/>
        </p:nvSpPr>
        <p:spPr>
          <a:xfrm>
            <a:off x="228600" y="2980944"/>
            <a:ext cx="8686800" cy="987552"/>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19" name="Shape 17"/>
          <p:cNvSpPr/>
          <p:nvPr/>
        </p:nvSpPr>
        <p:spPr>
          <a:xfrm>
            <a:off x="228600" y="2980944"/>
            <a:ext cx="438912" cy="987552"/>
          </a:xfrm>
          <a:prstGeom prst="rect">
            <a:avLst/>
          </a:prstGeom>
          <a:solidFill>
            <a:srgbClr val="22C55E"/>
          </a:solidFill>
          <a:ln w="12700">
            <a:solidFill>
              <a:srgbClr val="22C55E"/>
            </a:solidFill>
            <a:prstDash val="solid"/>
          </a:ln>
        </p:spPr>
      </p:sp>
      <p:sp>
        <p:nvSpPr>
          <p:cNvPr id="20" name="Text 18"/>
          <p:cNvSpPr/>
          <p:nvPr/>
        </p:nvSpPr>
        <p:spPr>
          <a:xfrm>
            <a:off x="228600" y="3300984"/>
            <a:ext cx="438912" cy="347472"/>
          </a:xfrm>
          <a:prstGeom prst="rect">
            <a:avLst/>
          </a:prstGeom>
          <a:noFill/>
          <a:ln/>
        </p:spPr>
        <p:txBody>
          <a:bodyPr wrap="square" lIns="0" tIns="0" rIns="0" bIns="0" rtlCol="0" anchor="ctr"/>
          <a:lstStyle/>
          <a:p>
            <a:pPr algn="ctr" indent="0" marL="0">
              <a:buNone/>
            </a:pPr>
            <a:r>
              <a:rPr lang="en-US" sz="1400" b="1" dirty="0">
                <a:solidFill>
                  <a:srgbClr val="071A0F"/>
                </a:solidFill>
                <a:latin typeface="Calibri" pitchFamily="34" charset="0"/>
                <a:ea typeface="Calibri" pitchFamily="34" charset="-122"/>
                <a:cs typeface="Calibri" pitchFamily="34" charset="-120"/>
              </a:rPr>
              <a:t>03</a:t>
            </a:r>
            <a:endParaRPr lang="en-US" sz="1400" dirty="0"/>
          </a:p>
        </p:txBody>
      </p:sp>
      <p:sp>
        <p:nvSpPr>
          <p:cNvPr id="21" name="Text 19"/>
          <p:cNvSpPr/>
          <p:nvPr/>
        </p:nvSpPr>
        <p:spPr>
          <a:xfrm>
            <a:off x="749808" y="2999232"/>
            <a:ext cx="8046720" cy="256032"/>
          </a:xfrm>
          <a:prstGeom prst="rect">
            <a:avLst/>
          </a:prstGeom>
          <a:noFill/>
          <a:ln/>
        </p:spPr>
        <p:txBody>
          <a:bodyPr wrap="square" lIns="0" tIns="0" rIns="0" bIns="0" rtlCol="0" anchor="ctr"/>
          <a:lstStyle/>
          <a:p>
            <a:pPr indent="0" marL="0">
              <a:buNone/>
            </a:pPr>
            <a:r>
              <a:rPr lang="en-US" sz="1150" b="1" dirty="0">
                <a:solidFill>
                  <a:srgbClr val="A3E635"/>
                </a:solidFill>
                <a:latin typeface="Calibri" pitchFamily="34" charset="0"/>
                <a:ea typeface="Calibri" pitchFamily="34" charset="-122"/>
                <a:cs typeface="Calibri" pitchFamily="34" charset="-120"/>
              </a:rPr>
              <a:t>Short-Term Residential Load Forecasting Based on LSTM Recurrent Neural Network</a:t>
            </a:r>
            <a:endParaRPr lang="en-US" sz="1150" dirty="0"/>
          </a:p>
        </p:txBody>
      </p:sp>
      <p:sp>
        <p:nvSpPr>
          <p:cNvPr id="22" name="Text 20"/>
          <p:cNvSpPr/>
          <p:nvPr/>
        </p:nvSpPr>
        <p:spPr>
          <a:xfrm>
            <a:off x="749808" y="3236976"/>
            <a:ext cx="8046720" cy="182880"/>
          </a:xfrm>
          <a:prstGeom prst="rect">
            <a:avLst/>
          </a:prstGeom>
          <a:noFill/>
          <a:ln/>
        </p:spPr>
        <p:txBody>
          <a:bodyPr wrap="square" lIns="0" tIns="0" rIns="0" bIns="0" rtlCol="0" anchor="ctr"/>
          <a:lstStyle/>
          <a:p>
            <a:pPr indent="0" marL="0">
              <a:buNone/>
            </a:pPr>
            <a:r>
              <a:rPr lang="en-US" sz="950" i="1" dirty="0">
                <a:solidFill>
                  <a:srgbClr val="6EE7B7"/>
                </a:solidFill>
                <a:latin typeface="Calibri" pitchFamily="34" charset="0"/>
                <a:ea typeface="Calibri" pitchFamily="34" charset="-122"/>
                <a:cs typeface="Calibri" pitchFamily="34" charset="-120"/>
              </a:rPr>
              <a:t>Kong, W., Dong, Z. Y., Jia, Y., Hill, D. J., et al. (2017)  |  IEEE Transactions on Smart Grid, 10(1), 841–851</a:t>
            </a:r>
            <a:endParaRPr lang="en-US" sz="950" dirty="0"/>
          </a:p>
        </p:txBody>
      </p:sp>
      <p:sp>
        <p:nvSpPr>
          <p:cNvPr id="23" name="Text 21"/>
          <p:cNvSpPr/>
          <p:nvPr/>
        </p:nvSpPr>
        <p:spPr>
          <a:xfrm>
            <a:off x="749808" y="3410712"/>
            <a:ext cx="8046720" cy="182880"/>
          </a:xfrm>
          <a:prstGeom prst="rect">
            <a:avLst/>
          </a:prstGeom>
          <a:noFill/>
          <a:ln/>
        </p:spPr>
        <p:txBody>
          <a:bodyPr wrap="square" lIns="0" tIns="0" rIns="0" bIns="0" rtlCol="0" anchor="ctr"/>
          <a:lstStyle/>
          <a:p>
            <a:pPr indent="0" marL="0">
              <a:buNone/>
            </a:pPr>
            <a:r>
              <a:rPr lang="en-US" sz="1000" dirty="0">
                <a:solidFill>
                  <a:srgbClr val="D1FAE5"/>
                </a:solidFill>
                <a:latin typeface="Calibri" pitchFamily="34" charset="0"/>
                <a:ea typeface="Calibri" pitchFamily="34" charset="-122"/>
                <a:cs typeface="Calibri" pitchFamily="34" charset="-120"/>
              </a:rPr>
              <a:t>About: Proposes LSTM-based model using 30-minute interval smart meter data to forecast short-term residential electricity load.</a:t>
            </a:r>
            <a:endParaRPr lang="en-US" sz="1000" dirty="0"/>
          </a:p>
        </p:txBody>
      </p:sp>
      <p:sp>
        <p:nvSpPr>
          <p:cNvPr id="24" name="Text 22"/>
          <p:cNvSpPr/>
          <p:nvPr/>
        </p:nvSpPr>
        <p:spPr>
          <a:xfrm>
            <a:off x="749808" y="3584448"/>
            <a:ext cx="8046720" cy="329184"/>
          </a:xfrm>
          <a:prstGeom prst="rect">
            <a:avLst/>
          </a:prstGeom>
          <a:noFill/>
          <a:ln/>
        </p:spPr>
        <p:txBody>
          <a:bodyPr wrap="square" lIns="0" tIns="0" rIns="0" bIns="0" rtlCol="0" anchor="ctr"/>
          <a:lstStyle/>
          <a:p>
            <a:pPr indent="0" marL="0">
              <a:buNone/>
            </a:pPr>
            <a:r>
              <a:rPr lang="en-US" sz="1000" b="1" dirty="0">
                <a:solidFill>
                  <a:srgbClr val="22C55E"/>
                </a:solidFill>
                <a:latin typeface="Calibri" pitchFamily="34" charset="0"/>
                <a:ea typeface="Calibri" pitchFamily="34" charset="-122"/>
                <a:cs typeface="Calibri" pitchFamily="34" charset="-120"/>
              </a:rPr>
              <a:t>✔ </a:t>
            </a:r>
            <a:pPr indent="0" marL="0">
              <a:buNone/>
            </a:pPr>
            <a:r>
              <a:rPr lang="en-US" sz="1000" dirty="0">
                <a:solidFill>
                  <a:srgbClr val="D1FAE5"/>
                </a:solidFill>
                <a:latin typeface="Calibri" pitchFamily="34" charset="0"/>
                <a:ea typeface="Calibri" pitchFamily="34" charset="-122"/>
                <a:cs typeface="Calibri" pitchFamily="34" charset="-120"/>
              </a:rPr>
              <a:t>LSTM reduces MAPE to 4.2%, outperforming ARIMA and SVM; captures temporal dependencies in consumption patterns effectively.   </a:t>
            </a:r>
            <a:pPr indent="0" marL="0">
              <a:buNone/>
            </a:pPr>
            <a:r>
              <a:rPr lang="en-US" sz="1000" b="1" dirty="0">
                <a:solidFill>
                  <a:srgbClr val="F87171"/>
                </a:solidFill>
                <a:latin typeface="Calibri" pitchFamily="34" charset="0"/>
                <a:ea typeface="Calibri" pitchFamily="34" charset="-122"/>
                <a:cs typeface="Calibri" pitchFamily="34" charset="-120"/>
              </a:rPr>
              <a:t>✘ </a:t>
            </a:r>
            <a:pPr indent="0" marL="0">
              <a:buNone/>
            </a:pPr>
            <a:r>
              <a:rPr lang="en-US" sz="1000" dirty="0">
                <a:solidFill>
                  <a:srgbClr val="FCA5A5"/>
                </a:solidFill>
                <a:latin typeface="Calibri" pitchFamily="34" charset="0"/>
                <a:ea typeface="Calibri" pitchFamily="34" charset="-122"/>
                <a:cs typeface="Calibri" pitchFamily="34" charset="-120"/>
              </a:rPr>
              <a:t>Model tuned for residential loads only; does not generalize well to industrial or commercial load profiles without retraining.</a:t>
            </a:r>
            <a:endParaRPr lang="en-US" sz="1000" dirty="0"/>
          </a:p>
        </p:txBody>
      </p:sp>
      <p:sp>
        <p:nvSpPr>
          <p:cNvPr id="25" name="Shape 23"/>
          <p:cNvSpPr/>
          <p:nvPr/>
        </p:nvSpPr>
        <p:spPr>
          <a:xfrm>
            <a:off x="228600" y="4050792"/>
            <a:ext cx="8686800" cy="987552"/>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26" name="Shape 24"/>
          <p:cNvSpPr/>
          <p:nvPr/>
        </p:nvSpPr>
        <p:spPr>
          <a:xfrm>
            <a:off x="228600" y="4050792"/>
            <a:ext cx="438912" cy="987552"/>
          </a:xfrm>
          <a:prstGeom prst="rect">
            <a:avLst/>
          </a:prstGeom>
          <a:solidFill>
            <a:srgbClr val="22C55E"/>
          </a:solidFill>
          <a:ln w="12700">
            <a:solidFill>
              <a:srgbClr val="22C55E"/>
            </a:solidFill>
            <a:prstDash val="solid"/>
          </a:ln>
        </p:spPr>
      </p:sp>
      <p:sp>
        <p:nvSpPr>
          <p:cNvPr id="27" name="Text 25"/>
          <p:cNvSpPr/>
          <p:nvPr/>
        </p:nvSpPr>
        <p:spPr>
          <a:xfrm>
            <a:off x="228600" y="4370832"/>
            <a:ext cx="438912" cy="347472"/>
          </a:xfrm>
          <a:prstGeom prst="rect">
            <a:avLst/>
          </a:prstGeom>
          <a:noFill/>
          <a:ln/>
        </p:spPr>
        <p:txBody>
          <a:bodyPr wrap="square" lIns="0" tIns="0" rIns="0" bIns="0" rtlCol="0" anchor="ctr"/>
          <a:lstStyle/>
          <a:p>
            <a:pPr algn="ctr" indent="0" marL="0">
              <a:buNone/>
            </a:pPr>
            <a:r>
              <a:rPr lang="en-US" sz="1400" b="1" dirty="0">
                <a:solidFill>
                  <a:srgbClr val="071A0F"/>
                </a:solidFill>
                <a:latin typeface="Calibri" pitchFamily="34" charset="0"/>
                <a:ea typeface="Calibri" pitchFamily="34" charset="-122"/>
                <a:cs typeface="Calibri" pitchFamily="34" charset="-120"/>
              </a:rPr>
              <a:t>04</a:t>
            </a:r>
            <a:endParaRPr lang="en-US" sz="1400" dirty="0"/>
          </a:p>
        </p:txBody>
      </p:sp>
      <p:sp>
        <p:nvSpPr>
          <p:cNvPr id="28" name="Text 26"/>
          <p:cNvSpPr/>
          <p:nvPr/>
        </p:nvSpPr>
        <p:spPr>
          <a:xfrm>
            <a:off x="749808" y="4069080"/>
            <a:ext cx="8046720" cy="256032"/>
          </a:xfrm>
          <a:prstGeom prst="rect">
            <a:avLst/>
          </a:prstGeom>
          <a:noFill/>
          <a:ln/>
        </p:spPr>
        <p:txBody>
          <a:bodyPr wrap="square" lIns="0" tIns="0" rIns="0" bIns="0" rtlCol="0" anchor="ctr"/>
          <a:lstStyle/>
          <a:p>
            <a:pPr indent="0" marL="0">
              <a:buNone/>
            </a:pPr>
            <a:r>
              <a:rPr lang="en-US" sz="1150" b="1" dirty="0">
                <a:solidFill>
                  <a:srgbClr val="A3E635"/>
                </a:solidFill>
                <a:latin typeface="Calibri" pitchFamily="34" charset="0"/>
                <a:ea typeface="Calibri" pitchFamily="34" charset="-122"/>
                <a:cs typeface="Calibri" pitchFamily="34" charset="-120"/>
              </a:rPr>
              <a:t>A Review of the Development of Smart Grid Technology</a:t>
            </a:r>
            <a:endParaRPr lang="en-US" sz="1150" dirty="0"/>
          </a:p>
        </p:txBody>
      </p:sp>
      <p:sp>
        <p:nvSpPr>
          <p:cNvPr id="29" name="Text 27"/>
          <p:cNvSpPr/>
          <p:nvPr/>
        </p:nvSpPr>
        <p:spPr>
          <a:xfrm>
            <a:off x="749808" y="4306824"/>
            <a:ext cx="8046720" cy="182880"/>
          </a:xfrm>
          <a:prstGeom prst="rect">
            <a:avLst/>
          </a:prstGeom>
          <a:noFill/>
          <a:ln/>
        </p:spPr>
        <p:txBody>
          <a:bodyPr wrap="square" lIns="0" tIns="0" rIns="0" bIns="0" rtlCol="0" anchor="ctr"/>
          <a:lstStyle/>
          <a:p>
            <a:pPr indent="0" marL="0">
              <a:buNone/>
            </a:pPr>
            <a:r>
              <a:rPr lang="en-US" sz="950" i="1" dirty="0">
                <a:solidFill>
                  <a:srgbClr val="6EE7B7"/>
                </a:solidFill>
                <a:latin typeface="Calibri" pitchFamily="34" charset="0"/>
                <a:ea typeface="Calibri" pitchFamily="34" charset="-122"/>
                <a:cs typeface="Calibri" pitchFamily="34" charset="-120"/>
              </a:rPr>
              <a:t>Tuballa, M. L., &amp; Abundo, M. L. (2016)  |  Renewable and Sustainable Energy Reviews, 59, 710–725</a:t>
            </a:r>
            <a:endParaRPr lang="en-US" sz="950" dirty="0"/>
          </a:p>
        </p:txBody>
      </p:sp>
      <p:sp>
        <p:nvSpPr>
          <p:cNvPr id="30" name="Text 28"/>
          <p:cNvSpPr/>
          <p:nvPr/>
        </p:nvSpPr>
        <p:spPr>
          <a:xfrm>
            <a:off x="749808" y="4480560"/>
            <a:ext cx="8046720" cy="182880"/>
          </a:xfrm>
          <a:prstGeom prst="rect">
            <a:avLst/>
          </a:prstGeom>
          <a:noFill/>
          <a:ln/>
        </p:spPr>
        <p:txBody>
          <a:bodyPr wrap="square" lIns="0" tIns="0" rIns="0" bIns="0" rtlCol="0" anchor="ctr"/>
          <a:lstStyle/>
          <a:p>
            <a:pPr indent="0" marL="0">
              <a:buNone/>
            </a:pPr>
            <a:r>
              <a:rPr lang="en-US" sz="1000" dirty="0">
                <a:solidFill>
                  <a:srgbClr val="D1FAE5"/>
                </a:solidFill>
                <a:latin typeface="Calibri" pitchFamily="34" charset="0"/>
                <a:ea typeface="Calibri" pitchFamily="34" charset="-122"/>
                <a:cs typeface="Calibri" pitchFamily="34" charset="-120"/>
              </a:rPr>
              <a:t>About: Reviews the evolution of smart grid technology, covering AMI infrastructure, demand response, and renewable energy integration.</a:t>
            </a:r>
            <a:endParaRPr lang="en-US" sz="1000" dirty="0"/>
          </a:p>
        </p:txBody>
      </p:sp>
      <p:sp>
        <p:nvSpPr>
          <p:cNvPr id="31" name="Text 29"/>
          <p:cNvSpPr/>
          <p:nvPr/>
        </p:nvSpPr>
        <p:spPr>
          <a:xfrm>
            <a:off x="749808" y="4654296"/>
            <a:ext cx="8046720" cy="329184"/>
          </a:xfrm>
          <a:prstGeom prst="rect">
            <a:avLst/>
          </a:prstGeom>
          <a:noFill/>
          <a:ln/>
        </p:spPr>
        <p:txBody>
          <a:bodyPr wrap="square" lIns="0" tIns="0" rIns="0" bIns="0" rtlCol="0" anchor="ctr"/>
          <a:lstStyle/>
          <a:p>
            <a:pPr indent="0" marL="0">
              <a:buNone/>
            </a:pPr>
            <a:r>
              <a:rPr lang="en-US" sz="1000" b="1" dirty="0">
                <a:solidFill>
                  <a:srgbClr val="22C55E"/>
                </a:solidFill>
                <a:latin typeface="Calibri" pitchFamily="34" charset="0"/>
                <a:ea typeface="Calibri" pitchFamily="34" charset="-122"/>
                <a:cs typeface="Calibri" pitchFamily="34" charset="-120"/>
              </a:rPr>
              <a:t>✔ </a:t>
            </a:r>
            <a:pPr indent="0" marL="0">
              <a:buNone/>
            </a:pPr>
            <a:r>
              <a:rPr lang="en-US" sz="1000" dirty="0">
                <a:solidFill>
                  <a:srgbClr val="D1FAE5"/>
                </a:solidFill>
                <a:latin typeface="Calibri" pitchFamily="34" charset="0"/>
                <a:ea typeface="Calibri" pitchFamily="34" charset="-122"/>
                <a:cs typeface="Calibri" pitchFamily="34" charset="-120"/>
              </a:rPr>
              <a:t>Shows Big Data analytics enables 15–20% renewable curtailment reduction via predictive dispatch scheduling.   </a:t>
            </a:r>
            <a:pPr indent="0" marL="0">
              <a:buNone/>
            </a:pPr>
            <a:r>
              <a:rPr lang="en-US" sz="1000" b="1" dirty="0">
                <a:solidFill>
                  <a:srgbClr val="F87171"/>
                </a:solidFill>
                <a:latin typeface="Calibri" pitchFamily="34" charset="0"/>
                <a:ea typeface="Calibri" pitchFamily="34" charset="-122"/>
                <a:cs typeface="Calibri" pitchFamily="34" charset="-120"/>
              </a:rPr>
              <a:t>✘ </a:t>
            </a:r>
            <a:pPr indent="0" marL="0">
              <a:buNone/>
            </a:pPr>
            <a:r>
              <a:rPr lang="en-US" sz="1000" dirty="0">
                <a:solidFill>
                  <a:srgbClr val="FCA5A5"/>
                </a:solidFill>
                <a:latin typeface="Calibri" pitchFamily="34" charset="0"/>
                <a:ea typeface="Calibri" pitchFamily="34" charset="-122"/>
                <a:cs typeface="Calibri" pitchFamily="34" charset="-120"/>
              </a:rPr>
              <a:t>Primarily a qualitative review; lacks empirical validation with real-world large-scale smart meter datasets.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A0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2E1A"/>
          </a:solidFill>
          <a:ln w="12700">
            <a:solidFill>
              <a:srgbClr val="0A2E1A"/>
            </a:solidFill>
            <a:prstDash val="solid"/>
          </a:ln>
        </p:spPr>
      </p:sp>
      <p:sp>
        <p:nvSpPr>
          <p:cNvPr id="3" name="Text 1"/>
          <p:cNvSpPr/>
          <p:nvPr/>
        </p:nvSpPr>
        <p:spPr>
          <a:xfrm>
            <a:off x="365760" y="73152"/>
            <a:ext cx="8229600" cy="594360"/>
          </a:xfrm>
          <a:prstGeom prst="rect">
            <a:avLst/>
          </a:prstGeom>
          <a:noFill/>
          <a:ln/>
        </p:spPr>
        <p:txBody>
          <a:bodyPr wrap="square" lIns="0" tIns="0" rIns="0" bIns="0" rtlCol="0" anchor="ctr"/>
          <a:lstStyle/>
          <a:p>
            <a:pPr indent="0" marL="0">
              <a:buNone/>
            </a:pPr>
            <a:r>
              <a:rPr lang="en-US" sz="2400" b="1" dirty="0">
                <a:solidFill>
                  <a:srgbClr val="22C55E"/>
                </a:solidFill>
                <a:latin typeface="Calibri" pitchFamily="34" charset="0"/>
                <a:ea typeface="Calibri" pitchFamily="34" charset="-122"/>
                <a:cs typeface="Calibri" pitchFamily="34" charset="-120"/>
              </a:rPr>
              <a:t>LITERATURE SURVEY  (Part 2 of 2)</a:t>
            </a:r>
            <a:endParaRPr lang="en-US" sz="2400" dirty="0"/>
          </a:p>
        </p:txBody>
      </p:sp>
      <p:sp>
        <p:nvSpPr>
          <p:cNvPr id="4" name="Shape 2"/>
          <p:cNvSpPr/>
          <p:nvPr/>
        </p:nvSpPr>
        <p:spPr>
          <a:xfrm>
            <a:off x="228600" y="841248"/>
            <a:ext cx="8686800" cy="1261872"/>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5" name="Shape 3"/>
          <p:cNvSpPr/>
          <p:nvPr/>
        </p:nvSpPr>
        <p:spPr>
          <a:xfrm>
            <a:off x="228600" y="841248"/>
            <a:ext cx="438912" cy="1261872"/>
          </a:xfrm>
          <a:prstGeom prst="rect">
            <a:avLst/>
          </a:prstGeom>
          <a:solidFill>
            <a:srgbClr val="22C55E"/>
          </a:solidFill>
          <a:ln w="12700">
            <a:solidFill>
              <a:srgbClr val="22C55E"/>
            </a:solidFill>
            <a:prstDash val="solid"/>
          </a:ln>
        </p:spPr>
      </p:sp>
      <p:sp>
        <p:nvSpPr>
          <p:cNvPr id="6" name="Text 4"/>
          <p:cNvSpPr/>
          <p:nvPr/>
        </p:nvSpPr>
        <p:spPr>
          <a:xfrm>
            <a:off x="228600" y="1316736"/>
            <a:ext cx="438912" cy="347472"/>
          </a:xfrm>
          <a:prstGeom prst="rect">
            <a:avLst/>
          </a:prstGeom>
          <a:noFill/>
          <a:ln/>
        </p:spPr>
        <p:txBody>
          <a:bodyPr wrap="square" lIns="0" tIns="0" rIns="0" bIns="0" rtlCol="0" anchor="ctr"/>
          <a:lstStyle/>
          <a:p>
            <a:pPr algn="ctr" indent="0" marL="0">
              <a:buNone/>
            </a:pPr>
            <a:r>
              <a:rPr lang="en-US" sz="1400" b="1" dirty="0">
                <a:solidFill>
                  <a:srgbClr val="071A0F"/>
                </a:solidFill>
                <a:latin typeface="Calibri" pitchFamily="34" charset="0"/>
                <a:ea typeface="Calibri" pitchFamily="34" charset="-122"/>
                <a:cs typeface="Calibri" pitchFamily="34" charset="-120"/>
              </a:rPr>
              <a:t>05</a:t>
            </a:r>
            <a:endParaRPr lang="en-US" sz="1400" dirty="0"/>
          </a:p>
        </p:txBody>
      </p:sp>
      <p:sp>
        <p:nvSpPr>
          <p:cNvPr id="7" name="Text 5"/>
          <p:cNvSpPr/>
          <p:nvPr/>
        </p:nvSpPr>
        <p:spPr>
          <a:xfrm>
            <a:off x="749808" y="868680"/>
            <a:ext cx="8046720" cy="320040"/>
          </a:xfrm>
          <a:prstGeom prst="rect">
            <a:avLst/>
          </a:prstGeom>
          <a:noFill/>
          <a:ln/>
        </p:spPr>
        <p:txBody>
          <a:bodyPr wrap="square" lIns="0" tIns="0" rIns="0" bIns="0" rtlCol="0" anchor="ctr"/>
          <a:lstStyle/>
          <a:p>
            <a:pPr indent="0" marL="0">
              <a:buNone/>
            </a:pPr>
            <a:r>
              <a:rPr lang="en-US" sz="1200" b="1" dirty="0">
                <a:solidFill>
                  <a:srgbClr val="A3E635"/>
                </a:solidFill>
                <a:latin typeface="Calibri" pitchFamily="34" charset="0"/>
                <a:ea typeface="Calibri" pitchFamily="34" charset="-122"/>
                <a:cs typeface="Calibri" pitchFamily="34" charset="-120"/>
              </a:rPr>
              <a:t>A Review and Analysis of Regression and Machine Learning Models on Commercial Building Electricity Load Forecasting</a:t>
            </a:r>
            <a:endParaRPr lang="en-US" sz="1200" dirty="0"/>
          </a:p>
        </p:txBody>
      </p:sp>
      <p:sp>
        <p:nvSpPr>
          <p:cNvPr id="8" name="Text 6"/>
          <p:cNvSpPr/>
          <p:nvPr/>
        </p:nvSpPr>
        <p:spPr>
          <a:xfrm>
            <a:off x="749808" y="1179576"/>
            <a:ext cx="8046720" cy="182880"/>
          </a:xfrm>
          <a:prstGeom prst="rect">
            <a:avLst/>
          </a:prstGeom>
          <a:noFill/>
          <a:ln/>
        </p:spPr>
        <p:txBody>
          <a:bodyPr wrap="square" lIns="0" tIns="0" rIns="0" bIns="0" rtlCol="0" anchor="ctr"/>
          <a:lstStyle/>
          <a:p>
            <a:pPr indent="0" marL="0">
              <a:buNone/>
            </a:pPr>
            <a:r>
              <a:rPr lang="en-US" sz="950" i="1" dirty="0">
                <a:solidFill>
                  <a:srgbClr val="6EE7B7"/>
                </a:solidFill>
                <a:latin typeface="Calibri" pitchFamily="34" charset="0"/>
                <a:ea typeface="Calibri" pitchFamily="34" charset="-122"/>
                <a:cs typeface="Calibri" pitchFamily="34" charset="-120"/>
              </a:rPr>
              <a:t>Yildiz, B., Bilbao, J. I., &amp; Sproul, A. B. (2017)  |  Renewable and Sustainable Energy Reviews, 73, 1104–1122</a:t>
            </a:r>
            <a:endParaRPr lang="en-US" sz="950" dirty="0"/>
          </a:p>
        </p:txBody>
      </p:sp>
      <p:sp>
        <p:nvSpPr>
          <p:cNvPr id="9" name="Text 7"/>
          <p:cNvSpPr/>
          <p:nvPr/>
        </p:nvSpPr>
        <p:spPr>
          <a:xfrm>
            <a:off x="749808" y="1362456"/>
            <a:ext cx="8046720" cy="201168"/>
          </a:xfrm>
          <a:prstGeom prst="rect">
            <a:avLst/>
          </a:prstGeom>
          <a:noFill/>
          <a:ln/>
        </p:spPr>
        <p:txBody>
          <a:bodyPr wrap="square" lIns="0" tIns="0" rIns="0" bIns="0" rtlCol="0" anchor="ctr"/>
          <a:lstStyle/>
          <a:p>
            <a:pPr indent="0" marL="0">
              <a:buNone/>
            </a:pPr>
            <a:r>
              <a:rPr lang="en-US" sz="1050" dirty="0">
                <a:solidFill>
                  <a:srgbClr val="D1FAE5"/>
                </a:solidFill>
                <a:latin typeface="Calibri" pitchFamily="34" charset="0"/>
                <a:ea typeface="Calibri" pitchFamily="34" charset="-122"/>
                <a:cs typeface="Calibri" pitchFamily="34" charset="-120"/>
              </a:rPr>
              <a:t>About: Compares regression, SVM, ANN, and ensemble ML methods for forecasting electricity consumption in commercial buildings.</a:t>
            </a:r>
            <a:endParaRPr lang="en-US" sz="1050" dirty="0"/>
          </a:p>
        </p:txBody>
      </p:sp>
      <p:sp>
        <p:nvSpPr>
          <p:cNvPr id="10" name="Text 8"/>
          <p:cNvSpPr/>
          <p:nvPr/>
        </p:nvSpPr>
        <p:spPr>
          <a:xfrm>
            <a:off x="749808" y="1554480"/>
            <a:ext cx="8046720" cy="475488"/>
          </a:xfrm>
          <a:prstGeom prst="rect">
            <a:avLst/>
          </a:prstGeom>
          <a:noFill/>
          <a:ln/>
        </p:spPr>
        <p:txBody>
          <a:bodyPr wrap="square" lIns="0" tIns="0" rIns="0" bIns="0" rtlCol="0" anchor="ctr"/>
          <a:lstStyle/>
          <a:p>
            <a:pPr indent="0" marL="0">
              <a:buNone/>
            </a:pPr>
            <a:r>
              <a:rPr lang="en-US" sz="1050" b="1" dirty="0">
                <a:solidFill>
                  <a:srgbClr val="22C55E"/>
                </a:solidFill>
                <a:latin typeface="Calibri" pitchFamily="34" charset="0"/>
                <a:ea typeface="Calibri" pitchFamily="34" charset="-122"/>
                <a:cs typeface="Calibri" pitchFamily="34" charset="-120"/>
              </a:rPr>
              <a:t>✔ </a:t>
            </a:r>
            <a:pPr indent="0" marL="0">
              <a:buNone/>
            </a:pPr>
            <a:r>
              <a:rPr lang="en-US" sz="1050" dirty="0">
                <a:solidFill>
                  <a:srgbClr val="D1FAE5"/>
                </a:solidFill>
                <a:latin typeface="Calibri" pitchFamily="34" charset="0"/>
                <a:ea typeface="Calibri" pitchFamily="34" charset="-122"/>
                <a:cs typeface="Calibri" pitchFamily="34" charset="-120"/>
              </a:rPr>
              <a:t>Provides clear benchmarks; ensemble methods achieve 6–8% lower RMSE than single models on real building datasets.
</a:t>
            </a:r>
            <a:pPr indent="0" marL="0">
              <a:buNone/>
            </a:pPr>
            <a:r>
              <a:rPr lang="en-US" sz="1050" b="1" dirty="0">
                <a:solidFill>
                  <a:srgbClr val="F87171"/>
                </a:solidFill>
                <a:latin typeface="Calibri" pitchFamily="34" charset="0"/>
                <a:ea typeface="Calibri" pitchFamily="34" charset="-122"/>
                <a:cs typeface="Calibri" pitchFamily="34" charset="-120"/>
              </a:rPr>
              <a:t>✘ </a:t>
            </a:r>
            <a:pPr indent="0" marL="0">
              <a:buNone/>
            </a:pPr>
            <a:r>
              <a:rPr lang="en-US" sz="1050" dirty="0">
                <a:solidFill>
                  <a:srgbClr val="FCA5A5"/>
                </a:solidFill>
                <a:latin typeface="Calibri" pitchFamily="34" charset="0"/>
                <a:ea typeface="Calibri" pitchFamily="34" charset="-122"/>
                <a:cs typeface="Calibri" pitchFamily="34" charset="-120"/>
              </a:rPr>
              <a:t>Limited to commercial buildings; findings may not transfer to grid-wide or industrial-scale load forecasting scenarios.</a:t>
            </a:r>
            <a:endParaRPr lang="en-US" sz="1050" dirty="0"/>
          </a:p>
        </p:txBody>
      </p:sp>
      <p:sp>
        <p:nvSpPr>
          <p:cNvPr id="11" name="Shape 9"/>
          <p:cNvSpPr/>
          <p:nvPr/>
        </p:nvSpPr>
        <p:spPr>
          <a:xfrm>
            <a:off x="228600" y="2231136"/>
            <a:ext cx="8686800" cy="1261872"/>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12" name="Shape 10"/>
          <p:cNvSpPr/>
          <p:nvPr/>
        </p:nvSpPr>
        <p:spPr>
          <a:xfrm>
            <a:off x="228600" y="2231136"/>
            <a:ext cx="438912" cy="1261872"/>
          </a:xfrm>
          <a:prstGeom prst="rect">
            <a:avLst/>
          </a:prstGeom>
          <a:solidFill>
            <a:srgbClr val="22C55E"/>
          </a:solidFill>
          <a:ln w="12700">
            <a:solidFill>
              <a:srgbClr val="22C55E"/>
            </a:solidFill>
            <a:prstDash val="solid"/>
          </a:ln>
        </p:spPr>
      </p:sp>
      <p:sp>
        <p:nvSpPr>
          <p:cNvPr id="13" name="Text 11"/>
          <p:cNvSpPr/>
          <p:nvPr/>
        </p:nvSpPr>
        <p:spPr>
          <a:xfrm>
            <a:off x="228600" y="2706624"/>
            <a:ext cx="438912" cy="347472"/>
          </a:xfrm>
          <a:prstGeom prst="rect">
            <a:avLst/>
          </a:prstGeom>
          <a:noFill/>
          <a:ln/>
        </p:spPr>
        <p:txBody>
          <a:bodyPr wrap="square" lIns="0" tIns="0" rIns="0" bIns="0" rtlCol="0" anchor="ctr"/>
          <a:lstStyle/>
          <a:p>
            <a:pPr algn="ctr" indent="0" marL="0">
              <a:buNone/>
            </a:pPr>
            <a:r>
              <a:rPr lang="en-US" sz="1400" b="1" dirty="0">
                <a:solidFill>
                  <a:srgbClr val="071A0F"/>
                </a:solidFill>
                <a:latin typeface="Calibri" pitchFamily="34" charset="0"/>
                <a:ea typeface="Calibri" pitchFamily="34" charset="-122"/>
                <a:cs typeface="Calibri" pitchFamily="34" charset="-120"/>
              </a:rPr>
              <a:t>06</a:t>
            </a:r>
            <a:endParaRPr lang="en-US" sz="1400" dirty="0"/>
          </a:p>
        </p:txBody>
      </p:sp>
      <p:sp>
        <p:nvSpPr>
          <p:cNvPr id="14" name="Text 12"/>
          <p:cNvSpPr/>
          <p:nvPr/>
        </p:nvSpPr>
        <p:spPr>
          <a:xfrm>
            <a:off x="749808" y="2258568"/>
            <a:ext cx="8046720" cy="320040"/>
          </a:xfrm>
          <a:prstGeom prst="rect">
            <a:avLst/>
          </a:prstGeom>
          <a:noFill/>
          <a:ln/>
        </p:spPr>
        <p:txBody>
          <a:bodyPr wrap="square" lIns="0" tIns="0" rIns="0" bIns="0" rtlCol="0" anchor="ctr"/>
          <a:lstStyle/>
          <a:p>
            <a:pPr indent="0" marL="0">
              <a:buNone/>
            </a:pPr>
            <a:r>
              <a:rPr lang="en-US" sz="1200" b="1" dirty="0">
                <a:solidFill>
                  <a:srgbClr val="A3E635"/>
                </a:solidFill>
                <a:latin typeface="Calibri" pitchFamily="34" charset="0"/>
                <a:ea typeface="Calibri" pitchFamily="34" charset="-122"/>
                <a:cs typeface="Calibri" pitchFamily="34" charset="-120"/>
              </a:rPr>
              <a:t>Toward a Smart Grid: Power Delivery for the 21st Century</a:t>
            </a:r>
            <a:endParaRPr lang="en-US" sz="1200" dirty="0"/>
          </a:p>
        </p:txBody>
      </p:sp>
      <p:sp>
        <p:nvSpPr>
          <p:cNvPr id="15" name="Text 13"/>
          <p:cNvSpPr/>
          <p:nvPr/>
        </p:nvSpPr>
        <p:spPr>
          <a:xfrm>
            <a:off x="749808" y="2569464"/>
            <a:ext cx="8046720" cy="182880"/>
          </a:xfrm>
          <a:prstGeom prst="rect">
            <a:avLst/>
          </a:prstGeom>
          <a:noFill/>
          <a:ln/>
        </p:spPr>
        <p:txBody>
          <a:bodyPr wrap="square" lIns="0" tIns="0" rIns="0" bIns="0" rtlCol="0" anchor="ctr"/>
          <a:lstStyle/>
          <a:p>
            <a:pPr indent="0" marL="0">
              <a:buNone/>
            </a:pPr>
            <a:r>
              <a:rPr lang="en-US" sz="950" i="1" dirty="0">
                <a:solidFill>
                  <a:srgbClr val="6EE7B7"/>
                </a:solidFill>
                <a:latin typeface="Calibri" pitchFamily="34" charset="0"/>
                <a:ea typeface="Calibri" pitchFamily="34" charset="-122"/>
                <a:cs typeface="Calibri" pitchFamily="34" charset="-120"/>
              </a:rPr>
              <a:t>Amin, S. M., &amp; Wollenberg, B. F. (2005)  |  IEEE Power and Energy Magazine, 3(5), 34–41</a:t>
            </a:r>
            <a:endParaRPr lang="en-US" sz="950" dirty="0"/>
          </a:p>
        </p:txBody>
      </p:sp>
      <p:sp>
        <p:nvSpPr>
          <p:cNvPr id="16" name="Text 14"/>
          <p:cNvSpPr/>
          <p:nvPr/>
        </p:nvSpPr>
        <p:spPr>
          <a:xfrm>
            <a:off x="749808" y="2752344"/>
            <a:ext cx="8046720" cy="201168"/>
          </a:xfrm>
          <a:prstGeom prst="rect">
            <a:avLst/>
          </a:prstGeom>
          <a:noFill/>
          <a:ln/>
        </p:spPr>
        <p:txBody>
          <a:bodyPr wrap="square" lIns="0" tIns="0" rIns="0" bIns="0" rtlCol="0" anchor="ctr"/>
          <a:lstStyle/>
          <a:p>
            <a:pPr indent="0" marL="0">
              <a:buNone/>
            </a:pPr>
            <a:r>
              <a:rPr lang="en-US" sz="1050" dirty="0">
                <a:solidFill>
                  <a:srgbClr val="D1FAE5"/>
                </a:solidFill>
                <a:latin typeface="Calibri" pitchFamily="34" charset="0"/>
                <a:ea typeface="Calibri" pitchFamily="34" charset="-122"/>
                <a:cs typeface="Calibri" pitchFamily="34" charset="-120"/>
              </a:rPr>
              <a:t>About: Pioneering article outlining the vision of a self-healing, adaptive smart grid with two-way communication and real-time control.</a:t>
            </a:r>
            <a:endParaRPr lang="en-US" sz="1050" dirty="0"/>
          </a:p>
        </p:txBody>
      </p:sp>
      <p:sp>
        <p:nvSpPr>
          <p:cNvPr id="17" name="Text 15"/>
          <p:cNvSpPr/>
          <p:nvPr/>
        </p:nvSpPr>
        <p:spPr>
          <a:xfrm>
            <a:off x="749808" y="2944368"/>
            <a:ext cx="8046720" cy="475488"/>
          </a:xfrm>
          <a:prstGeom prst="rect">
            <a:avLst/>
          </a:prstGeom>
          <a:noFill/>
          <a:ln/>
        </p:spPr>
        <p:txBody>
          <a:bodyPr wrap="square" lIns="0" tIns="0" rIns="0" bIns="0" rtlCol="0" anchor="ctr"/>
          <a:lstStyle/>
          <a:p>
            <a:pPr indent="0" marL="0">
              <a:buNone/>
            </a:pPr>
            <a:r>
              <a:rPr lang="en-US" sz="1050" b="1" dirty="0">
                <a:solidFill>
                  <a:srgbClr val="22C55E"/>
                </a:solidFill>
                <a:latin typeface="Calibri" pitchFamily="34" charset="0"/>
                <a:ea typeface="Calibri" pitchFamily="34" charset="-122"/>
                <a:cs typeface="Calibri" pitchFamily="34" charset="-120"/>
              </a:rPr>
              <a:t>✔ </a:t>
            </a:r>
            <a:pPr indent="0" marL="0">
              <a:buNone/>
            </a:pPr>
            <a:r>
              <a:rPr lang="en-US" sz="1050" dirty="0">
                <a:solidFill>
                  <a:srgbClr val="D1FAE5"/>
                </a:solidFill>
                <a:latin typeface="Calibri" pitchFamily="34" charset="0"/>
                <a:ea typeface="Calibri" pitchFamily="34" charset="-122"/>
                <a:cs typeface="Calibri" pitchFamily="34" charset="-120"/>
              </a:rPr>
              <a:t>Early visionary framework that shaped global smart grid policy; introduced self-healing and distributed control concepts.
</a:t>
            </a:r>
            <a:pPr indent="0" marL="0">
              <a:buNone/>
            </a:pPr>
            <a:r>
              <a:rPr lang="en-US" sz="1050" b="1" dirty="0">
                <a:solidFill>
                  <a:srgbClr val="F87171"/>
                </a:solidFill>
                <a:latin typeface="Calibri" pitchFamily="34" charset="0"/>
                <a:ea typeface="Calibri" pitchFamily="34" charset="-122"/>
                <a:cs typeface="Calibri" pitchFamily="34" charset="-120"/>
              </a:rPr>
              <a:t>✘ </a:t>
            </a:r>
            <a:pPr indent="0" marL="0">
              <a:buNone/>
            </a:pPr>
            <a:r>
              <a:rPr lang="en-US" sz="1050" dirty="0">
                <a:solidFill>
                  <a:srgbClr val="FCA5A5"/>
                </a:solidFill>
                <a:latin typeface="Calibri" pitchFamily="34" charset="0"/>
                <a:ea typeface="Calibri" pitchFamily="34" charset="-122"/>
                <a:cs typeface="Calibri" pitchFamily="34" charset="-120"/>
              </a:rPr>
              <a:t>Written before Big Data and IoT matured; lacks technical depth on data-driven analytics and ML-based optimization methods.</a:t>
            </a:r>
            <a:endParaRPr lang="en-US" sz="1050" dirty="0"/>
          </a:p>
        </p:txBody>
      </p:sp>
      <p:sp>
        <p:nvSpPr>
          <p:cNvPr id="18" name="Shape 16"/>
          <p:cNvSpPr/>
          <p:nvPr/>
        </p:nvSpPr>
        <p:spPr>
          <a:xfrm>
            <a:off x="228600" y="3621024"/>
            <a:ext cx="8686800" cy="1261872"/>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19" name="Shape 17"/>
          <p:cNvSpPr/>
          <p:nvPr/>
        </p:nvSpPr>
        <p:spPr>
          <a:xfrm>
            <a:off x="228600" y="3621024"/>
            <a:ext cx="438912" cy="1261872"/>
          </a:xfrm>
          <a:prstGeom prst="rect">
            <a:avLst/>
          </a:prstGeom>
          <a:solidFill>
            <a:srgbClr val="22C55E"/>
          </a:solidFill>
          <a:ln w="12700">
            <a:solidFill>
              <a:srgbClr val="22C55E"/>
            </a:solidFill>
            <a:prstDash val="solid"/>
          </a:ln>
        </p:spPr>
      </p:sp>
      <p:sp>
        <p:nvSpPr>
          <p:cNvPr id="20" name="Text 18"/>
          <p:cNvSpPr/>
          <p:nvPr/>
        </p:nvSpPr>
        <p:spPr>
          <a:xfrm>
            <a:off x="228600" y="4096512"/>
            <a:ext cx="438912" cy="347472"/>
          </a:xfrm>
          <a:prstGeom prst="rect">
            <a:avLst/>
          </a:prstGeom>
          <a:noFill/>
          <a:ln/>
        </p:spPr>
        <p:txBody>
          <a:bodyPr wrap="square" lIns="0" tIns="0" rIns="0" bIns="0" rtlCol="0" anchor="ctr"/>
          <a:lstStyle/>
          <a:p>
            <a:pPr algn="ctr" indent="0" marL="0">
              <a:buNone/>
            </a:pPr>
            <a:r>
              <a:rPr lang="en-US" sz="1400" b="1" dirty="0">
                <a:solidFill>
                  <a:srgbClr val="071A0F"/>
                </a:solidFill>
                <a:latin typeface="Calibri" pitchFamily="34" charset="0"/>
                <a:ea typeface="Calibri" pitchFamily="34" charset="-122"/>
                <a:cs typeface="Calibri" pitchFamily="34" charset="-120"/>
              </a:rPr>
              <a:t>07</a:t>
            </a:r>
            <a:endParaRPr lang="en-US" sz="1400" dirty="0"/>
          </a:p>
        </p:txBody>
      </p:sp>
      <p:sp>
        <p:nvSpPr>
          <p:cNvPr id="21" name="Text 19"/>
          <p:cNvSpPr/>
          <p:nvPr/>
        </p:nvSpPr>
        <p:spPr>
          <a:xfrm>
            <a:off x="749808" y="3648456"/>
            <a:ext cx="8046720" cy="320040"/>
          </a:xfrm>
          <a:prstGeom prst="rect">
            <a:avLst/>
          </a:prstGeom>
          <a:noFill/>
          <a:ln/>
        </p:spPr>
        <p:txBody>
          <a:bodyPr wrap="square" lIns="0" tIns="0" rIns="0" bIns="0" rtlCol="0" anchor="ctr"/>
          <a:lstStyle/>
          <a:p>
            <a:pPr indent="0" marL="0">
              <a:buNone/>
            </a:pPr>
            <a:r>
              <a:rPr lang="en-US" sz="1200" b="1" dirty="0">
                <a:solidFill>
                  <a:srgbClr val="A3E635"/>
                </a:solidFill>
                <a:latin typeface="Calibri" pitchFamily="34" charset="0"/>
                <a:ea typeface="Calibri" pitchFamily="34" charset="-122"/>
                <a:cs typeface="Calibri" pitchFamily="34" charset="-120"/>
              </a:rPr>
              <a:t>Analysis and Clustering of Residential Customers Energy Behavioral Demand Using Smart Meter Data</a:t>
            </a:r>
            <a:endParaRPr lang="en-US" sz="1200" dirty="0"/>
          </a:p>
        </p:txBody>
      </p:sp>
      <p:sp>
        <p:nvSpPr>
          <p:cNvPr id="22" name="Text 20"/>
          <p:cNvSpPr/>
          <p:nvPr/>
        </p:nvSpPr>
        <p:spPr>
          <a:xfrm>
            <a:off x="749808" y="3959352"/>
            <a:ext cx="8046720" cy="182880"/>
          </a:xfrm>
          <a:prstGeom prst="rect">
            <a:avLst/>
          </a:prstGeom>
          <a:noFill/>
          <a:ln/>
        </p:spPr>
        <p:txBody>
          <a:bodyPr wrap="square" lIns="0" tIns="0" rIns="0" bIns="0" rtlCol="0" anchor="ctr"/>
          <a:lstStyle/>
          <a:p>
            <a:pPr indent="0" marL="0">
              <a:buNone/>
            </a:pPr>
            <a:r>
              <a:rPr lang="en-US" sz="950" i="1" dirty="0">
                <a:solidFill>
                  <a:srgbClr val="6EE7B7"/>
                </a:solidFill>
                <a:latin typeface="Calibri" pitchFamily="34" charset="0"/>
                <a:ea typeface="Calibri" pitchFamily="34" charset="-122"/>
                <a:cs typeface="Calibri" pitchFamily="34" charset="-120"/>
              </a:rPr>
              <a:t>Haben, S., Singleton, C., &amp; Grindrod, P. (2016)  |  IEEE Transactions on Smart Grid, 7(1), 136–144</a:t>
            </a:r>
            <a:endParaRPr lang="en-US" sz="950" dirty="0"/>
          </a:p>
        </p:txBody>
      </p:sp>
      <p:sp>
        <p:nvSpPr>
          <p:cNvPr id="23" name="Text 21"/>
          <p:cNvSpPr/>
          <p:nvPr/>
        </p:nvSpPr>
        <p:spPr>
          <a:xfrm>
            <a:off x="749808" y="4142232"/>
            <a:ext cx="8046720" cy="201168"/>
          </a:xfrm>
          <a:prstGeom prst="rect">
            <a:avLst/>
          </a:prstGeom>
          <a:noFill/>
          <a:ln/>
        </p:spPr>
        <p:txBody>
          <a:bodyPr wrap="square" lIns="0" tIns="0" rIns="0" bIns="0" rtlCol="0" anchor="ctr"/>
          <a:lstStyle/>
          <a:p>
            <a:pPr indent="0" marL="0">
              <a:buNone/>
            </a:pPr>
            <a:r>
              <a:rPr lang="en-US" sz="1050" dirty="0">
                <a:solidFill>
                  <a:srgbClr val="D1FAE5"/>
                </a:solidFill>
                <a:latin typeface="Calibri" pitchFamily="34" charset="0"/>
                <a:ea typeface="Calibri" pitchFamily="34" charset="-122"/>
                <a:cs typeface="Calibri" pitchFamily="34" charset="-120"/>
              </a:rPr>
              <a:t>About: Uses k-means and hierarchical clustering on 5,500 household smart meter profiles to identify distinct energy consumption patterns.</a:t>
            </a:r>
            <a:endParaRPr lang="en-US" sz="1050" dirty="0"/>
          </a:p>
        </p:txBody>
      </p:sp>
      <p:sp>
        <p:nvSpPr>
          <p:cNvPr id="24" name="Text 22"/>
          <p:cNvSpPr/>
          <p:nvPr/>
        </p:nvSpPr>
        <p:spPr>
          <a:xfrm>
            <a:off x="749808" y="4334256"/>
            <a:ext cx="8046720" cy="475488"/>
          </a:xfrm>
          <a:prstGeom prst="rect">
            <a:avLst/>
          </a:prstGeom>
          <a:noFill/>
          <a:ln/>
        </p:spPr>
        <p:txBody>
          <a:bodyPr wrap="square" lIns="0" tIns="0" rIns="0" bIns="0" rtlCol="0" anchor="ctr"/>
          <a:lstStyle/>
          <a:p>
            <a:pPr indent="0" marL="0">
              <a:buNone/>
            </a:pPr>
            <a:r>
              <a:rPr lang="en-US" sz="1050" b="1" dirty="0">
                <a:solidFill>
                  <a:srgbClr val="22C55E"/>
                </a:solidFill>
                <a:latin typeface="Calibri" pitchFamily="34" charset="0"/>
                <a:ea typeface="Calibri" pitchFamily="34" charset="-122"/>
                <a:cs typeface="Calibri" pitchFamily="34" charset="-120"/>
              </a:rPr>
              <a:t>✔ </a:t>
            </a:r>
            <a:pPr indent="0" marL="0">
              <a:buNone/>
            </a:pPr>
            <a:r>
              <a:rPr lang="en-US" sz="1050" dirty="0">
                <a:solidFill>
                  <a:srgbClr val="D1FAE5"/>
                </a:solidFill>
                <a:latin typeface="Calibri" pitchFamily="34" charset="0"/>
                <a:ea typeface="Calibri" pitchFamily="34" charset="-122"/>
                <a:cs typeface="Calibri" pitchFamily="34" charset="-120"/>
              </a:rPr>
              <a:t>Clustering enables targeted demand response programs; 12% peak load reduction demonstrated in UK trial deployment.
</a:t>
            </a:r>
            <a:pPr indent="0" marL="0">
              <a:buNone/>
            </a:pPr>
            <a:r>
              <a:rPr lang="en-US" sz="1050" b="1" dirty="0">
                <a:solidFill>
                  <a:srgbClr val="F87171"/>
                </a:solidFill>
                <a:latin typeface="Calibri" pitchFamily="34" charset="0"/>
                <a:ea typeface="Calibri" pitchFamily="34" charset="-122"/>
                <a:cs typeface="Calibri" pitchFamily="34" charset="-120"/>
              </a:rPr>
              <a:t>✘ </a:t>
            </a:r>
            <a:pPr indent="0" marL="0">
              <a:buNone/>
            </a:pPr>
            <a:r>
              <a:rPr lang="en-US" sz="1050" dirty="0">
                <a:solidFill>
                  <a:srgbClr val="FCA5A5"/>
                </a:solidFill>
                <a:latin typeface="Calibri" pitchFamily="34" charset="0"/>
                <a:ea typeface="Calibri" pitchFamily="34" charset="-122"/>
                <a:cs typeface="Calibri" pitchFamily="34" charset="-120"/>
              </a:rPr>
              <a:t>Clustering results are sensitive to data quality; missing or noisy meter readings significantly degrade segmentation accuracy.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A0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3B1A06"/>
          </a:solidFill>
          <a:ln w="12700">
            <a:solidFill>
              <a:srgbClr val="3B1A06"/>
            </a:solidFill>
            <a:prstDash val="solid"/>
          </a:ln>
        </p:spPr>
      </p:sp>
      <p:sp>
        <p:nvSpPr>
          <p:cNvPr id="3" name="Text 1"/>
          <p:cNvSpPr/>
          <p:nvPr/>
        </p:nvSpPr>
        <p:spPr>
          <a:xfrm>
            <a:off x="274320" y="91440"/>
            <a:ext cx="8595360" cy="56692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RESEARCH GAP / PROBLEMS WITH EXISTING METHODS</a:t>
            </a:r>
            <a:endParaRPr lang="en-US" sz="2000" dirty="0"/>
          </a:p>
        </p:txBody>
      </p:sp>
      <p:sp>
        <p:nvSpPr>
          <p:cNvPr id="4" name="Shape 2"/>
          <p:cNvSpPr/>
          <p:nvPr/>
        </p:nvSpPr>
        <p:spPr>
          <a:xfrm>
            <a:off x="274320" y="841248"/>
            <a:ext cx="8595360" cy="713232"/>
          </a:xfrm>
          <a:prstGeom prst="rect">
            <a:avLst/>
          </a:prstGeom>
          <a:solidFill>
            <a:srgbClr val="1A0A04"/>
          </a:solidFill>
          <a:ln w="12700">
            <a:solidFill>
              <a:srgbClr val="B45309"/>
            </a:solidFill>
            <a:prstDash val="solid"/>
          </a:ln>
        </p:spPr>
      </p:sp>
      <p:sp>
        <p:nvSpPr>
          <p:cNvPr id="5" name="Text 3"/>
          <p:cNvSpPr/>
          <p:nvPr/>
        </p:nvSpPr>
        <p:spPr>
          <a:xfrm>
            <a:off x="411480" y="877824"/>
            <a:ext cx="8229600" cy="246888"/>
          </a:xfrm>
          <a:prstGeom prst="rect">
            <a:avLst/>
          </a:prstGeom>
          <a:noFill/>
          <a:ln/>
        </p:spPr>
        <p:txBody>
          <a:bodyPr wrap="square" lIns="0" tIns="0" rIns="0" bIns="0" rtlCol="0" anchor="ctr"/>
          <a:lstStyle/>
          <a:p>
            <a:pPr indent="0" marL="0">
              <a:buNone/>
            </a:pPr>
            <a:r>
              <a:rPr lang="en-US" sz="1300" b="1" dirty="0">
                <a:solidFill>
                  <a:srgbClr val="FCD34D"/>
                </a:solidFill>
                <a:latin typeface="Calibri" pitchFamily="34" charset="0"/>
                <a:ea typeface="Calibri" pitchFamily="34" charset="-122"/>
                <a:cs typeface="Calibri" pitchFamily="34" charset="-120"/>
              </a:rPr>
              <a:t>⚠  Scalability of Real-Time Analytics</a:t>
            </a:r>
            <a:endParaRPr lang="en-US" sz="1300" dirty="0"/>
          </a:p>
        </p:txBody>
      </p:sp>
      <p:sp>
        <p:nvSpPr>
          <p:cNvPr id="6" name="Text 4"/>
          <p:cNvSpPr/>
          <p:nvPr/>
        </p:nvSpPr>
        <p:spPr>
          <a:xfrm>
            <a:off x="411480" y="1143000"/>
            <a:ext cx="8229600" cy="347472"/>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Existing grid systems cannot process millions of concurrent smart meter data streams — causing delayed fault detection and slow response times.</a:t>
            </a:r>
            <a:endParaRPr lang="en-US" sz="1150" dirty="0"/>
          </a:p>
        </p:txBody>
      </p:sp>
      <p:sp>
        <p:nvSpPr>
          <p:cNvPr id="7" name="Shape 5"/>
          <p:cNvSpPr/>
          <p:nvPr/>
        </p:nvSpPr>
        <p:spPr>
          <a:xfrm>
            <a:off x="274320" y="1682496"/>
            <a:ext cx="8595360" cy="713232"/>
          </a:xfrm>
          <a:prstGeom prst="rect">
            <a:avLst/>
          </a:prstGeom>
          <a:solidFill>
            <a:srgbClr val="1A0A04"/>
          </a:solidFill>
          <a:ln w="12700">
            <a:solidFill>
              <a:srgbClr val="B45309"/>
            </a:solidFill>
            <a:prstDash val="solid"/>
          </a:ln>
        </p:spPr>
      </p:sp>
      <p:sp>
        <p:nvSpPr>
          <p:cNvPr id="8" name="Text 6"/>
          <p:cNvSpPr/>
          <p:nvPr/>
        </p:nvSpPr>
        <p:spPr>
          <a:xfrm>
            <a:off x="411480" y="1719072"/>
            <a:ext cx="8229600" cy="246888"/>
          </a:xfrm>
          <a:prstGeom prst="rect">
            <a:avLst/>
          </a:prstGeom>
          <a:noFill/>
          <a:ln/>
        </p:spPr>
        <p:txBody>
          <a:bodyPr wrap="square" lIns="0" tIns="0" rIns="0" bIns="0" rtlCol="0" anchor="ctr"/>
          <a:lstStyle/>
          <a:p>
            <a:pPr indent="0" marL="0">
              <a:buNone/>
            </a:pPr>
            <a:r>
              <a:rPr lang="en-US" sz="1300" b="1" dirty="0">
                <a:solidFill>
                  <a:srgbClr val="FCD34D"/>
                </a:solidFill>
                <a:latin typeface="Calibri" pitchFamily="34" charset="0"/>
                <a:ea typeface="Calibri" pitchFamily="34" charset="-122"/>
                <a:cs typeface="Calibri" pitchFamily="34" charset="-120"/>
              </a:rPr>
              <a:t>⚠  Renewable Intermittency Handling</a:t>
            </a:r>
            <a:endParaRPr lang="en-US" sz="1300" dirty="0"/>
          </a:p>
        </p:txBody>
      </p:sp>
      <p:sp>
        <p:nvSpPr>
          <p:cNvPr id="9" name="Text 7"/>
          <p:cNvSpPr/>
          <p:nvPr/>
        </p:nvSpPr>
        <p:spPr>
          <a:xfrm>
            <a:off x="411480" y="1984248"/>
            <a:ext cx="8229600" cy="347472"/>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Legacy forecasting models fail to accurately predict solar/wind variability, leading to wasteful over-provisioning and unnecessary renewable curtailment.</a:t>
            </a:r>
            <a:endParaRPr lang="en-US" sz="1150" dirty="0"/>
          </a:p>
        </p:txBody>
      </p:sp>
      <p:sp>
        <p:nvSpPr>
          <p:cNvPr id="10" name="Shape 8"/>
          <p:cNvSpPr/>
          <p:nvPr/>
        </p:nvSpPr>
        <p:spPr>
          <a:xfrm>
            <a:off x="274320" y="2523744"/>
            <a:ext cx="8595360" cy="713232"/>
          </a:xfrm>
          <a:prstGeom prst="rect">
            <a:avLst/>
          </a:prstGeom>
          <a:solidFill>
            <a:srgbClr val="1A0A04"/>
          </a:solidFill>
          <a:ln w="12700">
            <a:solidFill>
              <a:srgbClr val="B45309"/>
            </a:solidFill>
            <a:prstDash val="solid"/>
          </a:ln>
        </p:spPr>
      </p:sp>
      <p:sp>
        <p:nvSpPr>
          <p:cNvPr id="11" name="Text 9"/>
          <p:cNvSpPr/>
          <p:nvPr/>
        </p:nvSpPr>
        <p:spPr>
          <a:xfrm>
            <a:off x="411480" y="2560320"/>
            <a:ext cx="8229600" cy="246888"/>
          </a:xfrm>
          <a:prstGeom prst="rect">
            <a:avLst/>
          </a:prstGeom>
          <a:noFill/>
          <a:ln/>
        </p:spPr>
        <p:txBody>
          <a:bodyPr wrap="square" lIns="0" tIns="0" rIns="0" bIns="0" rtlCol="0" anchor="ctr"/>
          <a:lstStyle/>
          <a:p>
            <a:pPr indent="0" marL="0">
              <a:buNone/>
            </a:pPr>
            <a:r>
              <a:rPr lang="en-US" sz="1300" b="1" dirty="0">
                <a:solidFill>
                  <a:srgbClr val="FCD34D"/>
                </a:solidFill>
                <a:latin typeface="Calibri" pitchFamily="34" charset="0"/>
                <a:ea typeface="Calibri" pitchFamily="34" charset="-122"/>
                <a:cs typeface="Calibri" pitchFamily="34" charset="-120"/>
              </a:rPr>
              <a:t>⚠  Interoperability of Legacy Systems</a:t>
            </a:r>
            <a:endParaRPr lang="en-US" sz="1300" dirty="0"/>
          </a:p>
        </p:txBody>
      </p:sp>
      <p:sp>
        <p:nvSpPr>
          <p:cNvPr id="12" name="Text 10"/>
          <p:cNvSpPr/>
          <p:nvPr/>
        </p:nvSpPr>
        <p:spPr>
          <a:xfrm>
            <a:off x="411480" y="2825496"/>
            <a:ext cx="8229600" cy="347472"/>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Older grid infrastructure lacks standardized APIs and communication protocols (e.g., IEC 61968), making Big Data integration extremely costly and complex.</a:t>
            </a:r>
            <a:endParaRPr lang="en-US" sz="1150" dirty="0"/>
          </a:p>
        </p:txBody>
      </p:sp>
      <p:sp>
        <p:nvSpPr>
          <p:cNvPr id="13" name="Shape 11"/>
          <p:cNvSpPr/>
          <p:nvPr/>
        </p:nvSpPr>
        <p:spPr>
          <a:xfrm>
            <a:off x="274320" y="3364992"/>
            <a:ext cx="8595360" cy="713232"/>
          </a:xfrm>
          <a:prstGeom prst="rect">
            <a:avLst/>
          </a:prstGeom>
          <a:solidFill>
            <a:srgbClr val="1A0A04"/>
          </a:solidFill>
          <a:ln w="12700">
            <a:solidFill>
              <a:srgbClr val="B45309"/>
            </a:solidFill>
            <a:prstDash val="solid"/>
          </a:ln>
        </p:spPr>
      </p:sp>
      <p:sp>
        <p:nvSpPr>
          <p:cNvPr id="14" name="Text 12"/>
          <p:cNvSpPr/>
          <p:nvPr/>
        </p:nvSpPr>
        <p:spPr>
          <a:xfrm>
            <a:off x="411480" y="3401568"/>
            <a:ext cx="8229600" cy="246888"/>
          </a:xfrm>
          <a:prstGeom prst="rect">
            <a:avLst/>
          </a:prstGeom>
          <a:noFill/>
          <a:ln/>
        </p:spPr>
        <p:txBody>
          <a:bodyPr wrap="square" lIns="0" tIns="0" rIns="0" bIns="0" rtlCol="0" anchor="ctr"/>
          <a:lstStyle/>
          <a:p>
            <a:pPr indent="0" marL="0">
              <a:buNone/>
            </a:pPr>
            <a:r>
              <a:rPr lang="en-US" sz="1300" b="1" dirty="0">
                <a:solidFill>
                  <a:srgbClr val="FCD34D"/>
                </a:solidFill>
                <a:latin typeface="Calibri" pitchFamily="34" charset="0"/>
                <a:ea typeface="Calibri" pitchFamily="34" charset="-122"/>
                <a:cs typeface="Calibri" pitchFamily="34" charset="-120"/>
              </a:rPr>
              <a:t>⚠  Cybersecurity Vulnerabilities</a:t>
            </a:r>
            <a:endParaRPr lang="en-US" sz="1300" dirty="0"/>
          </a:p>
        </p:txBody>
      </p:sp>
      <p:sp>
        <p:nvSpPr>
          <p:cNvPr id="15" name="Text 13"/>
          <p:cNvSpPr/>
          <p:nvPr/>
        </p:nvSpPr>
        <p:spPr>
          <a:xfrm>
            <a:off x="411480" y="3666744"/>
            <a:ext cx="8229600" cy="347472"/>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Increased smart grid connectivity creates new attack surfaces; existing anomaly detection methods miss sophisticated grid cyber-attacks and intrusions.</a:t>
            </a:r>
            <a:endParaRPr lang="en-US" sz="1150" dirty="0"/>
          </a:p>
        </p:txBody>
      </p:sp>
      <p:sp>
        <p:nvSpPr>
          <p:cNvPr id="16" name="Shape 14"/>
          <p:cNvSpPr/>
          <p:nvPr/>
        </p:nvSpPr>
        <p:spPr>
          <a:xfrm>
            <a:off x="274320" y="4206240"/>
            <a:ext cx="8595360" cy="713232"/>
          </a:xfrm>
          <a:prstGeom prst="rect">
            <a:avLst/>
          </a:prstGeom>
          <a:solidFill>
            <a:srgbClr val="1A0A04"/>
          </a:solidFill>
          <a:ln w="12700">
            <a:solidFill>
              <a:srgbClr val="B45309"/>
            </a:solidFill>
            <a:prstDash val="solid"/>
          </a:ln>
        </p:spPr>
      </p:sp>
      <p:sp>
        <p:nvSpPr>
          <p:cNvPr id="17" name="Text 15"/>
          <p:cNvSpPr/>
          <p:nvPr/>
        </p:nvSpPr>
        <p:spPr>
          <a:xfrm>
            <a:off x="411480" y="4242816"/>
            <a:ext cx="8229600" cy="246888"/>
          </a:xfrm>
          <a:prstGeom prst="rect">
            <a:avLst/>
          </a:prstGeom>
          <a:noFill/>
          <a:ln/>
        </p:spPr>
        <p:txBody>
          <a:bodyPr wrap="square" lIns="0" tIns="0" rIns="0" bIns="0" rtlCol="0" anchor="ctr"/>
          <a:lstStyle/>
          <a:p>
            <a:pPr indent="0" marL="0">
              <a:buNone/>
            </a:pPr>
            <a:r>
              <a:rPr lang="en-US" sz="1300" b="1" dirty="0">
                <a:solidFill>
                  <a:srgbClr val="FCD34D"/>
                </a:solidFill>
                <a:latin typeface="Calibri" pitchFamily="34" charset="0"/>
                <a:ea typeface="Calibri" pitchFamily="34" charset="-122"/>
                <a:cs typeface="Calibri" pitchFamily="34" charset="-120"/>
              </a:rPr>
              <a:t>⚠  Data Privacy in Smart Metering</a:t>
            </a:r>
            <a:endParaRPr lang="en-US" sz="1300" dirty="0"/>
          </a:p>
        </p:txBody>
      </p:sp>
      <p:sp>
        <p:nvSpPr>
          <p:cNvPr id="18" name="Text 16"/>
          <p:cNvSpPr/>
          <p:nvPr/>
        </p:nvSpPr>
        <p:spPr>
          <a:xfrm>
            <a:off x="411480" y="4507992"/>
            <a:ext cx="8229600" cy="347472"/>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High-frequency meter readings can reveal private household behaviour patterns — current frameworks lack robust privacy-preserving analytics approaches.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1A0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2E1A"/>
          </a:solidFill>
          <a:ln w="12700">
            <a:solidFill>
              <a:srgbClr val="0A2E1A"/>
            </a:solidFill>
            <a:prstDash val="solid"/>
          </a:ln>
        </p:spPr>
      </p:sp>
      <p:sp>
        <p:nvSpPr>
          <p:cNvPr id="3" name="Text 1"/>
          <p:cNvSpPr/>
          <p:nvPr/>
        </p:nvSpPr>
        <p:spPr>
          <a:xfrm>
            <a:off x="365760" y="91440"/>
            <a:ext cx="8229600" cy="566928"/>
          </a:xfrm>
          <a:prstGeom prst="rect">
            <a:avLst/>
          </a:prstGeom>
          <a:noFill/>
          <a:ln/>
        </p:spPr>
        <p:txBody>
          <a:bodyPr wrap="square" lIns="0" tIns="0" rIns="0" bIns="0" rtlCol="0" anchor="ctr"/>
          <a:lstStyle/>
          <a:p>
            <a:pPr indent="0" marL="0">
              <a:buNone/>
            </a:pPr>
            <a:r>
              <a:rPr lang="en-US" sz="2700" b="1" dirty="0">
                <a:solidFill>
                  <a:srgbClr val="22C55E"/>
                </a:solidFill>
                <a:latin typeface="Calibri" pitchFamily="34" charset="0"/>
                <a:ea typeface="Calibri" pitchFamily="34" charset="-122"/>
                <a:cs typeface="Calibri" pitchFamily="34" charset="-120"/>
              </a:rPr>
              <a:t>PROPOSED SOLUTION</a:t>
            </a:r>
            <a:endParaRPr lang="en-US" sz="2700" dirty="0"/>
          </a:p>
        </p:txBody>
      </p:sp>
      <p:sp>
        <p:nvSpPr>
          <p:cNvPr id="4" name="Shape 2"/>
          <p:cNvSpPr/>
          <p:nvPr/>
        </p:nvSpPr>
        <p:spPr>
          <a:xfrm>
            <a:off x="274320" y="914400"/>
            <a:ext cx="1554480" cy="150876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5" name="Text 3"/>
          <p:cNvSpPr/>
          <p:nvPr/>
        </p:nvSpPr>
        <p:spPr>
          <a:xfrm>
            <a:off x="274320" y="932688"/>
            <a:ext cx="1554480" cy="384048"/>
          </a:xfrm>
          <a:prstGeom prst="rect">
            <a:avLst/>
          </a:prstGeom>
          <a:noFill/>
          <a:ln/>
        </p:spPr>
        <p:txBody>
          <a:bodyPr wrap="square" lIns="0" tIns="0" rIns="0" bIns="0" rtlCol="0" anchor="ctr"/>
          <a:lstStyle/>
          <a:p>
            <a:pPr algn="ctr" indent="0" marL="0">
              <a:buNone/>
            </a:pPr>
            <a:r>
              <a:rPr lang="en-US" sz="1800" b="1" dirty="0">
                <a:solidFill>
                  <a:srgbClr val="22C55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274320" y="1280160"/>
            <a:ext cx="1554480" cy="43891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IoT Data</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Ingestion</a:t>
            </a:r>
            <a:endParaRPr lang="en-US" sz="1150" dirty="0"/>
          </a:p>
        </p:txBody>
      </p:sp>
      <p:sp>
        <p:nvSpPr>
          <p:cNvPr id="7" name="Text 5"/>
          <p:cNvSpPr/>
          <p:nvPr/>
        </p:nvSpPr>
        <p:spPr>
          <a:xfrm>
            <a:off x="274320" y="1691640"/>
            <a:ext cx="1554480" cy="548640"/>
          </a:xfrm>
          <a:prstGeom prst="rect">
            <a:avLst/>
          </a:prstGeom>
          <a:noFill/>
          <a:ln/>
        </p:spPr>
        <p:txBody>
          <a:bodyPr wrap="square" lIns="0" tIns="0" rIns="0" bIns="0" rtlCol="0" anchor="ctr"/>
          <a:lstStyle/>
          <a:p>
            <a:pPr algn="ctr" indent="0" marL="0">
              <a:buNone/>
            </a:pPr>
            <a:r>
              <a:rPr lang="en-US" sz="950" dirty="0">
                <a:solidFill>
                  <a:srgbClr val="6EE7B7"/>
                </a:solidFill>
                <a:latin typeface="Calibri" pitchFamily="34" charset="0"/>
                <a:ea typeface="Calibri" pitchFamily="34" charset="-122"/>
                <a:cs typeface="Calibri" pitchFamily="34" charset="-120"/>
              </a:rPr>
              <a:t>Apache Kafka</a:t>
            </a:r>
            <a:endParaRPr lang="en-US" sz="950" dirty="0"/>
          </a:p>
          <a:p>
            <a:pPr algn="ctr" indent="0" marL="0">
              <a:buNone/>
            </a:pPr>
            <a:r>
              <a:rPr lang="en-US" sz="950" dirty="0">
                <a:solidFill>
                  <a:srgbClr val="6EE7B7"/>
                </a:solidFill>
                <a:latin typeface="Calibri" pitchFamily="34" charset="0"/>
                <a:ea typeface="Calibri" pitchFamily="34" charset="-122"/>
                <a:cs typeface="Calibri" pitchFamily="34" charset="-120"/>
              </a:rPr>
              <a:t>+ MQTT protocol</a:t>
            </a:r>
            <a:endParaRPr lang="en-US" sz="950" dirty="0"/>
          </a:p>
        </p:txBody>
      </p:sp>
      <p:sp>
        <p:nvSpPr>
          <p:cNvPr id="8" name="Shape 6"/>
          <p:cNvSpPr/>
          <p:nvPr/>
        </p:nvSpPr>
        <p:spPr>
          <a:xfrm>
            <a:off x="1828800" y="1609344"/>
            <a:ext cx="182880" cy="45720"/>
          </a:xfrm>
          <a:prstGeom prst="rect">
            <a:avLst/>
          </a:prstGeom>
          <a:solidFill>
            <a:srgbClr val="22C55E"/>
          </a:solidFill>
          <a:ln w="12700">
            <a:solidFill>
              <a:srgbClr val="22C55E"/>
            </a:solidFill>
            <a:prstDash val="solid"/>
          </a:ln>
        </p:spPr>
      </p:sp>
      <p:sp>
        <p:nvSpPr>
          <p:cNvPr id="9" name="Shape 7"/>
          <p:cNvSpPr/>
          <p:nvPr/>
        </p:nvSpPr>
        <p:spPr>
          <a:xfrm>
            <a:off x="2011680" y="914400"/>
            <a:ext cx="1554480" cy="150876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10" name="Text 8"/>
          <p:cNvSpPr/>
          <p:nvPr/>
        </p:nvSpPr>
        <p:spPr>
          <a:xfrm>
            <a:off x="2011680" y="932688"/>
            <a:ext cx="1554480" cy="384048"/>
          </a:xfrm>
          <a:prstGeom prst="rect">
            <a:avLst/>
          </a:prstGeom>
          <a:noFill/>
          <a:ln/>
        </p:spPr>
        <p:txBody>
          <a:bodyPr wrap="square" lIns="0" tIns="0" rIns="0" bIns="0" rtlCol="0" anchor="ctr"/>
          <a:lstStyle/>
          <a:p>
            <a:pPr algn="ctr" indent="0" marL="0">
              <a:buNone/>
            </a:pPr>
            <a:r>
              <a:rPr lang="en-US" sz="1800" b="1" dirty="0">
                <a:solidFill>
                  <a:srgbClr val="22C55E"/>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2011680" y="1280160"/>
            <a:ext cx="1554480" cy="43891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Big Data</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Storage</a:t>
            </a:r>
            <a:endParaRPr lang="en-US" sz="1150" dirty="0"/>
          </a:p>
        </p:txBody>
      </p:sp>
      <p:sp>
        <p:nvSpPr>
          <p:cNvPr id="12" name="Text 10"/>
          <p:cNvSpPr/>
          <p:nvPr/>
        </p:nvSpPr>
        <p:spPr>
          <a:xfrm>
            <a:off x="2011680" y="1691640"/>
            <a:ext cx="1554480" cy="548640"/>
          </a:xfrm>
          <a:prstGeom prst="rect">
            <a:avLst/>
          </a:prstGeom>
          <a:noFill/>
          <a:ln/>
        </p:spPr>
        <p:txBody>
          <a:bodyPr wrap="square" lIns="0" tIns="0" rIns="0" bIns="0" rtlCol="0" anchor="ctr"/>
          <a:lstStyle/>
          <a:p>
            <a:pPr algn="ctr" indent="0" marL="0">
              <a:buNone/>
            </a:pPr>
            <a:r>
              <a:rPr lang="en-US" sz="950" dirty="0">
                <a:solidFill>
                  <a:srgbClr val="6EE7B7"/>
                </a:solidFill>
                <a:latin typeface="Calibri" pitchFamily="34" charset="0"/>
                <a:ea typeface="Calibri" pitchFamily="34" charset="-122"/>
                <a:cs typeface="Calibri" pitchFamily="34" charset="-120"/>
              </a:rPr>
              <a:t>HDFS + HBase</a:t>
            </a:r>
            <a:endParaRPr lang="en-US" sz="950" dirty="0"/>
          </a:p>
          <a:p>
            <a:pPr algn="ctr" indent="0" marL="0">
              <a:buNone/>
            </a:pPr>
            <a:r>
              <a:rPr lang="en-US" sz="950" dirty="0">
                <a:solidFill>
                  <a:srgbClr val="6EE7B7"/>
                </a:solidFill>
                <a:latin typeface="Calibri" pitchFamily="34" charset="0"/>
                <a:ea typeface="Calibri" pitchFamily="34" charset="-122"/>
                <a:cs typeface="Calibri" pitchFamily="34" charset="-120"/>
              </a:rPr>
              <a:t>InfluxDB</a:t>
            </a:r>
            <a:endParaRPr lang="en-US" sz="950" dirty="0"/>
          </a:p>
        </p:txBody>
      </p:sp>
      <p:sp>
        <p:nvSpPr>
          <p:cNvPr id="13" name="Shape 11"/>
          <p:cNvSpPr/>
          <p:nvPr/>
        </p:nvSpPr>
        <p:spPr>
          <a:xfrm>
            <a:off x="3566160" y="1609344"/>
            <a:ext cx="182880" cy="45720"/>
          </a:xfrm>
          <a:prstGeom prst="rect">
            <a:avLst/>
          </a:prstGeom>
          <a:solidFill>
            <a:srgbClr val="22C55E"/>
          </a:solidFill>
          <a:ln w="12700">
            <a:solidFill>
              <a:srgbClr val="22C55E"/>
            </a:solidFill>
            <a:prstDash val="solid"/>
          </a:ln>
        </p:spPr>
      </p:sp>
      <p:sp>
        <p:nvSpPr>
          <p:cNvPr id="14" name="Shape 12"/>
          <p:cNvSpPr/>
          <p:nvPr/>
        </p:nvSpPr>
        <p:spPr>
          <a:xfrm>
            <a:off x="3749040" y="914400"/>
            <a:ext cx="1554480" cy="150876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15" name="Text 13"/>
          <p:cNvSpPr/>
          <p:nvPr/>
        </p:nvSpPr>
        <p:spPr>
          <a:xfrm>
            <a:off x="3749040" y="932688"/>
            <a:ext cx="1554480" cy="384048"/>
          </a:xfrm>
          <a:prstGeom prst="rect">
            <a:avLst/>
          </a:prstGeom>
          <a:noFill/>
          <a:ln/>
        </p:spPr>
        <p:txBody>
          <a:bodyPr wrap="square" lIns="0" tIns="0" rIns="0" bIns="0" rtlCol="0" anchor="ctr"/>
          <a:lstStyle/>
          <a:p>
            <a:pPr algn="ctr" indent="0" marL="0">
              <a:buNone/>
            </a:pPr>
            <a:r>
              <a:rPr lang="en-US" sz="1800" b="1" dirty="0">
                <a:solidFill>
                  <a:srgbClr val="22C55E"/>
                </a:solidFill>
                <a:latin typeface="Calibri" pitchFamily="34" charset="0"/>
                <a:ea typeface="Calibri" pitchFamily="34" charset="-122"/>
                <a:cs typeface="Calibri" pitchFamily="34" charset="-120"/>
              </a:rPr>
              <a:t>3</a:t>
            </a:r>
            <a:endParaRPr lang="en-US" sz="1800" dirty="0"/>
          </a:p>
        </p:txBody>
      </p:sp>
      <p:sp>
        <p:nvSpPr>
          <p:cNvPr id="16" name="Text 14"/>
          <p:cNvSpPr/>
          <p:nvPr/>
        </p:nvSpPr>
        <p:spPr>
          <a:xfrm>
            <a:off x="3749040" y="1280160"/>
            <a:ext cx="1554480" cy="43891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Analytics</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Engine</a:t>
            </a:r>
            <a:endParaRPr lang="en-US" sz="1150" dirty="0"/>
          </a:p>
        </p:txBody>
      </p:sp>
      <p:sp>
        <p:nvSpPr>
          <p:cNvPr id="17" name="Text 15"/>
          <p:cNvSpPr/>
          <p:nvPr/>
        </p:nvSpPr>
        <p:spPr>
          <a:xfrm>
            <a:off x="3749040" y="1691640"/>
            <a:ext cx="1554480" cy="548640"/>
          </a:xfrm>
          <a:prstGeom prst="rect">
            <a:avLst/>
          </a:prstGeom>
          <a:noFill/>
          <a:ln/>
        </p:spPr>
        <p:txBody>
          <a:bodyPr wrap="square" lIns="0" tIns="0" rIns="0" bIns="0" rtlCol="0" anchor="ctr"/>
          <a:lstStyle/>
          <a:p>
            <a:pPr algn="ctr" indent="0" marL="0">
              <a:buNone/>
            </a:pPr>
            <a:r>
              <a:rPr lang="en-US" sz="950" dirty="0">
                <a:solidFill>
                  <a:srgbClr val="6EE7B7"/>
                </a:solidFill>
                <a:latin typeface="Calibri" pitchFamily="34" charset="0"/>
                <a:ea typeface="Calibri" pitchFamily="34" charset="-122"/>
                <a:cs typeface="Calibri" pitchFamily="34" charset="-120"/>
              </a:rPr>
              <a:t>Apache Spark</a:t>
            </a:r>
            <a:endParaRPr lang="en-US" sz="950" dirty="0"/>
          </a:p>
          <a:p>
            <a:pPr algn="ctr" indent="0" marL="0">
              <a:buNone/>
            </a:pPr>
            <a:r>
              <a:rPr lang="en-US" sz="950" dirty="0">
                <a:solidFill>
                  <a:srgbClr val="6EE7B7"/>
                </a:solidFill>
                <a:latin typeface="Calibri" pitchFamily="34" charset="0"/>
                <a:ea typeface="Calibri" pitchFamily="34" charset="-122"/>
                <a:cs typeface="Calibri" pitchFamily="34" charset="-120"/>
              </a:rPr>
              <a:t>MLlib + Stream</a:t>
            </a:r>
            <a:endParaRPr lang="en-US" sz="950" dirty="0"/>
          </a:p>
        </p:txBody>
      </p:sp>
      <p:sp>
        <p:nvSpPr>
          <p:cNvPr id="18" name="Shape 16"/>
          <p:cNvSpPr/>
          <p:nvPr/>
        </p:nvSpPr>
        <p:spPr>
          <a:xfrm>
            <a:off x="5303520" y="1609344"/>
            <a:ext cx="182880" cy="45720"/>
          </a:xfrm>
          <a:prstGeom prst="rect">
            <a:avLst/>
          </a:prstGeom>
          <a:solidFill>
            <a:srgbClr val="22C55E"/>
          </a:solidFill>
          <a:ln w="12700">
            <a:solidFill>
              <a:srgbClr val="22C55E"/>
            </a:solidFill>
            <a:prstDash val="solid"/>
          </a:ln>
        </p:spPr>
      </p:sp>
      <p:sp>
        <p:nvSpPr>
          <p:cNvPr id="19" name="Shape 17"/>
          <p:cNvSpPr/>
          <p:nvPr/>
        </p:nvSpPr>
        <p:spPr>
          <a:xfrm>
            <a:off x="5486400" y="914400"/>
            <a:ext cx="1554480" cy="150876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20" name="Text 18"/>
          <p:cNvSpPr/>
          <p:nvPr/>
        </p:nvSpPr>
        <p:spPr>
          <a:xfrm>
            <a:off x="5486400" y="932688"/>
            <a:ext cx="1554480" cy="384048"/>
          </a:xfrm>
          <a:prstGeom prst="rect">
            <a:avLst/>
          </a:prstGeom>
          <a:noFill/>
          <a:ln/>
        </p:spPr>
        <p:txBody>
          <a:bodyPr wrap="square" lIns="0" tIns="0" rIns="0" bIns="0" rtlCol="0" anchor="ctr"/>
          <a:lstStyle/>
          <a:p>
            <a:pPr algn="ctr" indent="0" marL="0">
              <a:buNone/>
            </a:pPr>
            <a:r>
              <a:rPr lang="en-US" sz="1800" b="1" dirty="0">
                <a:solidFill>
                  <a:srgbClr val="22C55E"/>
                </a:solidFill>
                <a:latin typeface="Calibri" pitchFamily="34" charset="0"/>
                <a:ea typeface="Calibri" pitchFamily="34" charset="-122"/>
                <a:cs typeface="Calibri" pitchFamily="34" charset="-120"/>
              </a:rPr>
              <a:t>4</a:t>
            </a:r>
            <a:endParaRPr lang="en-US" sz="1800" dirty="0"/>
          </a:p>
        </p:txBody>
      </p:sp>
      <p:sp>
        <p:nvSpPr>
          <p:cNvPr id="21" name="Text 19"/>
          <p:cNvSpPr/>
          <p:nvPr/>
        </p:nvSpPr>
        <p:spPr>
          <a:xfrm>
            <a:off x="5486400" y="1280160"/>
            <a:ext cx="1554480" cy="43891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AI Demand</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Forecast</a:t>
            </a:r>
            <a:endParaRPr lang="en-US" sz="1150" dirty="0"/>
          </a:p>
        </p:txBody>
      </p:sp>
      <p:sp>
        <p:nvSpPr>
          <p:cNvPr id="22" name="Text 20"/>
          <p:cNvSpPr/>
          <p:nvPr/>
        </p:nvSpPr>
        <p:spPr>
          <a:xfrm>
            <a:off x="5486400" y="1691640"/>
            <a:ext cx="1554480" cy="548640"/>
          </a:xfrm>
          <a:prstGeom prst="rect">
            <a:avLst/>
          </a:prstGeom>
          <a:noFill/>
          <a:ln/>
        </p:spPr>
        <p:txBody>
          <a:bodyPr wrap="square" lIns="0" tIns="0" rIns="0" bIns="0" rtlCol="0" anchor="ctr"/>
          <a:lstStyle/>
          <a:p>
            <a:pPr algn="ctr" indent="0" marL="0">
              <a:buNone/>
            </a:pPr>
            <a:r>
              <a:rPr lang="en-US" sz="950" dirty="0">
                <a:solidFill>
                  <a:srgbClr val="6EE7B7"/>
                </a:solidFill>
                <a:latin typeface="Calibri" pitchFamily="34" charset="0"/>
                <a:ea typeface="Calibri" pitchFamily="34" charset="-122"/>
                <a:cs typeface="Calibri" pitchFamily="34" charset="-120"/>
              </a:rPr>
              <a:t>LSTM + XGBoost</a:t>
            </a:r>
            <a:endParaRPr lang="en-US" sz="950" dirty="0"/>
          </a:p>
          <a:p>
            <a:pPr algn="ctr" indent="0" marL="0">
              <a:buNone/>
            </a:pPr>
            <a:r>
              <a:rPr lang="en-US" sz="950" dirty="0">
                <a:solidFill>
                  <a:srgbClr val="6EE7B7"/>
                </a:solidFill>
                <a:latin typeface="Calibri" pitchFamily="34" charset="0"/>
                <a:ea typeface="Calibri" pitchFamily="34" charset="-122"/>
                <a:cs typeface="Calibri" pitchFamily="34" charset="-120"/>
              </a:rPr>
              <a:t>RUL estimation</a:t>
            </a:r>
            <a:endParaRPr lang="en-US" sz="950" dirty="0"/>
          </a:p>
        </p:txBody>
      </p:sp>
      <p:sp>
        <p:nvSpPr>
          <p:cNvPr id="23" name="Shape 21"/>
          <p:cNvSpPr/>
          <p:nvPr/>
        </p:nvSpPr>
        <p:spPr>
          <a:xfrm>
            <a:off x="7040880" y="1609344"/>
            <a:ext cx="182880" cy="45720"/>
          </a:xfrm>
          <a:prstGeom prst="rect">
            <a:avLst/>
          </a:prstGeom>
          <a:solidFill>
            <a:srgbClr val="22C55E"/>
          </a:solidFill>
          <a:ln w="12700">
            <a:solidFill>
              <a:srgbClr val="22C55E"/>
            </a:solidFill>
            <a:prstDash val="solid"/>
          </a:ln>
        </p:spPr>
      </p:sp>
      <p:sp>
        <p:nvSpPr>
          <p:cNvPr id="24" name="Shape 22"/>
          <p:cNvSpPr/>
          <p:nvPr/>
        </p:nvSpPr>
        <p:spPr>
          <a:xfrm>
            <a:off x="7223760" y="914400"/>
            <a:ext cx="1554480" cy="150876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25" name="Text 23"/>
          <p:cNvSpPr/>
          <p:nvPr/>
        </p:nvSpPr>
        <p:spPr>
          <a:xfrm>
            <a:off x="7223760" y="932688"/>
            <a:ext cx="1554480" cy="384048"/>
          </a:xfrm>
          <a:prstGeom prst="rect">
            <a:avLst/>
          </a:prstGeom>
          <a:noFill/>
          <a:ln/>
        </p:spPr>
        <p:txBody>
          <a:bodyPr wrap="square" lIns="0" tIns="0" rIns="0" bIns="0" rtlCol="0" anchor="ctr"/>
          <a:lstStyle/>
          <a:p>
            <a:pPr algn="ctr" indent="0" marL="0">
              <a:buNone/>
            </a:pPr>
            <a:r>
              <a:rPr lang="en-US" sz="1800" b="1" dirty="0">
                <a:solidFill>
                  <a:srgbClr val="22C55E"/>
                </a:solidFill>
                <a:latin typeface="Calibri" pitchFamily="34" charset="0"/>
                <a:ea typeface="Calibri" pitchFamily="34" charset="-122"/>
                <a:cs typeface="Calibri" pitchFamily="34" charset="-120"/>
              </a:rPr>
              <a:t>5</a:t>
            </a:r>
            <a:endParaRPr lang="en-US" sz="1800" dirty="0"/>
          </a:p>
        </p:txBody>
      </p:sp>
      <p:sp>
        <p:nvSpPr>
          <p:cNvPr id="26" name="Text 24"/>
          <p:cNvSpPr/>
          <p:nvPr/>
        </p:nvSpPr>
        <p:spPr>
          <a:xfrm>
            <a:off x="7223760" y="1280160"/>
            <a:ext cx="1554480" cy="438912"/>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Control &amp;</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Optimize</a:t>
            </a:r>
            <a:endParaRPr lang="en-US" sz="1150" dirty="0"/>
          </a:p>
        </p:txBody>
      </p:sp>
      <p:sp>
        <p:nvSpPr>
          <p:cNvPr id="27" name="Text 25"/>
          <p:cNvSpPr/>
          <p:nvPr/>
        </p:nvSpPr>
        <p:spPr>
          <a:xfrm>
            <a:off x="7223760" y="1691640"/>
            <a:ext cx="1554480" cy="548640"/>
          </a:xfrm>
          <a:prstGeom prst="rect">
            <a:avLst/>
          </a:prstGeom>
          <a:noFill/>
          <a:ln/>
        </p:spPr>
        <p:txBody>
          <a:bodyPr wrap="square" lIns="0" tIns="0" rIns="0" bIns="0" rtlCol="0" anchor="ctr"/>
          <a:lstStyle/>
          <a:p>
            <a:pPr algn="ctr" indent="0" marL="0">
              <a:buNone/>
            </a:pPr>
            <a:r>
              <a:rPr lang="en-US" sz="950" dirty="0">
                <a:solidFill>
                  <a:srgbClr val="6EE7B7"/>
                </a:solidFill>
                <a:latin typeface="Calibri" pitchFamily="34" charset="0"/>
                <a:ea typeface="Calibri" pitchFamily="34" charset="-122"/>
                <a:cs typeface="Calibri" pitchFamily="34" charset="-120"/>
              </a:rPr>
              <a:t>SCADA + EMS</a:t>
            </a:r>
            <a:endParaRPr lang="en-US" sz="950" dirty="0"/>
          </a:p>
          <a:p>
            <a:pPr algn="ctr" indent="0" marL="0">
              <a:buNone/>
            </a:pPr>
            <a:r>
              <a:rPr lang="en-US" sz="950" dirty="0">
                <a:solidFill>
                  <a:srgbClr val="6EE7B7"/>
                </a:solidFill>
                <a:latin typeface="Calibri" pitchFamily="34" charset="0"/>
                <a:ea typeface="Calibri" pitchFamily="34" charset="-122"/>
                <a:cs typeface="Calibri" pitchFamily="34" charset="-120"/>
              </a:rPr>
              <a:t>Auto dispatch</a:t>
            </a:r>
            <a:endParaRPr lang="en-US" sz="950" dirty="0"/>
          </a:p>
        </p:txBody>
      </p:sp>
      <p:sp>
        <p:nvSpPr>
          <p:cNvPr id="28" name="Text 26"/>
          <p:cNvSpPr/>
          <p:nvPr/>
        </p:nvSpPr>
        <p:spPr>
          <a:xfrm>
            <a:off x="274320" y="2606040"/>
            <a:ext cx="3657600" cy="301752"/>
          </a:xfrm>
          <a:prstGeom prst="rect">
            <a:avLst/>
          </a:prstGeom>
          <a:noFill/>
          <a:ln/>
        </p:spPr>
        <p:txBody>
          <a:bodyPr wrap="square" lIns="0" tIns="0" rIns="0" bIns="0" rtlCol="0" anchor="ctr"/>
          <a:lstStyle/>
          <a:p>
            <a:pPr indent="0" marL="0">
              <a:buNone/>
            </a:pPr>
            <a:r>
              <a:rPr lang="en-US" sz="1300" b="1" dirty="0">
                <a:solidFill>
                  <a:srgbClr val="A3E635"/>
                </a:solidFill>
                <a:latin typeface="Calibri" pitchFamily="34" charset="0"/>
                <a:ea typeface="Calibri" pitchFamily="34" charset="-122"/>
                <a:cs typeface="Calibri" pitchFamily="34" charset="-120"/>
              </a:rPr>
              <a:t>KEY INNOVATIONS</a:t>
            </a:r>
            <a:endParaRPr lang="en-US" sz="1300" dirty="0"/>
          </a:p>
        </p:txBody>
      </p:sp>
      <p:sp>
        <p:nvSpPr>
          <p:cNvPr id="29" name="Text 27"/>
          <p:cNvSpPr/>
          <p:nvPr/>
        </p:nvSpPr>
        <p:spPr>
          <a:xfrm>
            <a:off x="274320" y="2907792"/>
            <a:ext cx="8595360" cy="2011680"/>
          </a:xfrm>
          <a:prstGeom prst="rect">
            <a:avLst/>
          </a:prstGeom>
          <a:noFill/>
          <a:ln/>
        </p:spPr>
        <p:txBody>
          <a:bodyPr wrap="square" rtlCol="0" anchor="t"/>
          <a:lstStyle/>
          <a:p>
            <a:pPr indent="0" marL="0">
              <a:buNone/>
            </a:pPr>
            <a:r>
              <a:rPr lang="en-US" sz="1200" dirty="0">
                <a:solidFill>
                  <a:srgbClr val="D1FAE5"/>
                </a:solidFill>
                <a:latin typeface="Calibri" pitchFamily="34" charset="0"/>
                <a:ea typeface="Calibri" pitchFamily="34" charset="-122"/>
                <a:cs typeface="Calibri" pitchFamily="34" charset="-120"/>
              </a:rPr>
              <a:t>• Federated Learning across smart meters — preserves privacy while training demand models collectively</a:t>
            </a:r>
            <a:endParaRPr lang="en-US" sz="1200" dirty="0"/>
          </a:p>
          <a:p>
            <a:pPr indent="0" marL="0">
              <a:buNone/>
            </a:pPr>
            <a:r>
              <a:rPr lang="en-US" sz="1200" dirty="0">
                <a:solidFill>
                  <a:srgbClr val="D1FAE5"/>
                </a:solidFill>
                <a:latin typeface="Calibri" pitchFamily="34" charset="0"/>
                <a:ea typeface="Calibri" pitchFamily="34" charset="-122"/>
                <a:cs typeface="Calibri" pitchFamily="34" charset="-120"/>
              </a:rPr>
              <a:t>• Digital Twin of power grid — simulates outage scenarios virtually before real-world deployment</a:t>
            </a:r>
            <a:endParaRPr lang="en-US" sz="1200" dirty="0"/>
          </a:p>
          <a:p>
            <a:pPr indent="0" marL="0">
              <a:buNone/>
            </a:pPr>
            <a:r>
              <a:rPr lang="en-US" sz="1200" dirty="0">
                <a:solidFill>
                  <a:srgbClr val="D1FAE5"/>
                </a:solidFill>
                <a:latin typeface="Calibri" pitchFamily="34" charset="0"/>
                <a:ea typeface="Calibri" pitchFamily="34" charset="-122"/>
                <a:cs typeface="Calibri" pitchFamily="34" charset="-120"/>
              </a:rPr>
              <a:t>• Graph Neural Networks (GNN) — models grid topology for optimal power routing decisions</a:t>
            </a:r>
            <a:endParaRPr lang="en-US" sz="1200" dirty="0"/>
          </a:p>
          <a:p>
            <a:pPr indent="0" marL="0">
              <a:buNone/>
            </a:pPr>
            <a:r>
              <a:rPr lang="en-US" sz="1200" dirty="0">
                <a:solidFill>
                  <a:srgbClr val="D1FAE5"/>
                </a:solidFill>
                <a:latin typeface="Calibri" pitchFamily="34" charset="0"/>
                <a:ea typeface="Calibri" pitchFamily="34" charset="-122"/>
                <a:cs typeface="Calibri" pitchFamily="34" charset="-120"/>
              </a:rPr>
              <a:t>• Edge computing pre-aggregation nodes — reduce latency and cloud bandwidth using Raspberry Pi clusters</a:t>
            </a:r>
            <a:endParaRPr lang="en-US" sz="1200" dirty="0"/>
          </a:p>
          <a:p>
            <a:pPr indent="0" marL="0">
              <a:buNone/>
            </a:pPr>
            <a:r>
              <a:rPr lang="en-US" sz="1200" dirty="0">
                <a:solidFill>
                  <a:srgbClr val="D1FAE5"/>
                </a:solidFill>
                <a:latin typeface="Calibri" pitchFamily="34" charset="0"/>
                <a:ea typeface="Calibri" pitchFamily="34" charset="-122"/>
                <a:cs typeface="Calibri" pitchFamily="34" charset="-120"/>
              </a:rPr>
              <a:t>• Differential Privacy applied to meter analytics — prevents inference of private household behaviour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A0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D2418"/>
          </a:solidFill>
          <a:ln w="12700">
            <a:solidFill>
              <a:srgbClr val="0D2418"/>
            </a:solidFill>
            <a:prstDash val="solid"/>
          </a:ln>
        </p:spPr>
      </p:sp>
      <p:sp>
        <p:nvSpPr>
          <p:cNvPr id="3" name="Text 1"/>
          <p:cNvSpPr/>
          <p:nvPr/>
        </p:nvSpPr>
        <p:spPr>
          <a:xfrm>
            <a:off x="365760" y="91440"/>
            <a:ext cx="8229600" cy="566928"/>
          </a:xfrm>
          <a:prstGeom prst="rect">
            <a:avLst/>
          </a:prstGeom>
          <a:noFill/>
          <a:ln/>
        </p:spPr>
        <p:txBody>
          <a:bodyPr wrap="square" lIns="0" tIns="0" rIns="0" bIns="0" rtlCol="0" anchor="ctr"/>
          <a:lstStyle/>
          <a:p>
            <a:pPr indent="0" marL="0">
              <a:buNone/>
            </a:pPr>
            <a:r>
              <a:rPr lang="en-US" sz="2600" b="1" dirty="0">
                <a:solidFill>
                  <a:srgbClr val="22C55E"/>
                </a:solidFill>
                <a:latin typeface="Calibri" pitchFamily="34" charset="0"/>
                <a:ea typeface="Calibri" pitchFamily="34" charset="-122"/>
                <a:cs typeface="Calibri" pitchFamily="34" charset="-120"/>
              </a:rPr>
              <a:t>IMPLEMENTATION SUPPORT</a:t>
            </a:r>
            <a:endParaRPr lang="en-US" sz="2600" dirty="0"/>
          </a:p>
        </p:txBody>
      </p:sp>
      <p:sp>
        <p:nvSpPr>
          <p:cNvPr id="4" name="Shape 2"/>
          <p:cNvSpPr/>
          <p:nvPr/>
        </p:nvSpPr>
        <p:spPr>
          <a:xfrm>
            <a:off x="274320" y="868680"/>
            <a:ext cx="4114800" cy="1234440"/>
          </a:xfrm>
          <a:prstGeom prst="rect">
            <a:avLst/>
          </a:prstGeom>
          <a:solidFill>
            <a:srgbClr val="0D2418"/>
          </a:solidFill>
          <a:ln w="12700">
            <a:solidFill>
              <a:srgbClr val="22C55E"/>
            </a:solidFill>
            <a:prstDash val="solid"/>
          </a:ln>
        </p:spPr>
      </p:sp>
      <p:sp>
        <p:nvSpPr>
          <p:cNvPr id="5" name="Text 3"/>
          <p:cNvSpPr/>
          <p:nvPr/>
        </p:nvSpPr>
        <p:spPr>
          <a:xfrm>
            <a:off x="411480" y="923544"/>
            <a:ext cx="3840480" cy="292608"/>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Datasets Used</a:t>
            </a:r>
            <a:endParaRPr lang="en-US" sz="1300" dirty="0"/>
          </a:p>
        </p:txBody>
      </p:sp>
      <p:sp>
        <p:nvSpPr>
          <p:cNvPr id="6" name="Text 4"/>
          <p:cNvSpPr/>
          <p:nvPr/>
        </p:nvSpPr>
        <p:spPr>
          <a:xfrm>
            <a:off x="411480" y="1234440"/>
            <a:ext cx="3840480" cy="804672"/>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UKPN Smart Meter Dataset (UK Power Networks)</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Pecan Street Dataport — 1,200 homes, 15-min intervals</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NREL Solar &amp; Wind Generation Dataset (USA)</a:t>
            </a:r>
            <a:endParaRPr lang="en-US" sz="1150" dirty="0"/>
          </a:p>
        </p:txBody>
      </p:sp>
      <p:sp>
        <p:nvSpPr>
          <p:cNvPr id="7" name="Shape 5"/>
          <p:cNvSpPr/>
          <p:nvPr/>
        </p:nvSpPr>
        <p:spPr>
          <a:xfrm>
            <a:off x="274320" y="2240280"/>
            <a:ext cx="4114800" cy="1234440"/>
          </a:xfrm>
          <a:prstGeom prst="rect">
            <a:avLst/>
          </a:prstGeom>
          <a:solidFill>
            <a:srgbClr val="0D2418"/>
          </a:solidFill>
          <a:ln w="12700">
            <a:solidFill>
              <a:srgbClr val="22C55E"/>
            </a:solidFill>
            <a:prstDash val="solid"/>
          </a:ln>
        </p:spPr>
      </p:sp>
      <p:sp>
        <p:nvSpPr>
          <p:cNvPr id="8" name="Text 6"/>
          <p:cNvSpPr/>
          <p:nvPr/>
        </p:nvSpPr>
        <p:spPr>
          <a:xfrm>
            <a:off x="411480" y="2295144"/>
            <a:ext cx="3840480" cy="292608"/>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Big Data Stack</a:t>
            </a:r>
            <a:endParaRPr lang="en-US" sz="1300" dirty="0"/>
          </a:p>
        </p:txBody>
      </p:sp>
      <p:sp>
        <p:nvSpPr>
          <p:cNvPr id="9" name="Text 7"/>
          <p:cNvSpPr/>
          <p:nvPr/>
        </p:nvSpPr>
        <p:spPr>
          <a:xfrm>
            <a:off x="411480" y="2606040"/>
            <a:ext cx="3840480" cy="804672"/>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Apache Kafka  •  Apache Spark (MLlib + Streaming)</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Hadoop HDFS  •  InfluxDB (time-series)</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Apache Flink — real-time event stream processing</a:t>
            </a:r>
            <a:endParaRPr lang="en-US" sz="1150" dirty="0"/>
          </a:p>
        </p:txBody>
      </p:sp>
      <p:sp>
        <p:nvSpPr>
          <p:cNvPr id="10" name="Shape 8"/>
          <p:cNvSpPr/>
          <p:nvPr/>
        </p:nvSpPr>
        <p:spPr>
          <a:xfrm>
            <a:off x="274320" y="3611880"/>
            <a:ext cx="4114800" cy="1234440"/>
          </a:xfrm>
          <a:prstGeom prst="rect">
            <a:avLst/>
          </a:prstGeom>
          <a:solidFill>
            <a:srgbClr val="0D2418"/>
          </a:solidFill>
          <a:ln w="12700">
            <a:solidFill>
              <a:srgbClr val="22C55E"/>
            </a:solidFill>
            <a:prstDash val="solid"/>
          </a:ln>
        </p:spPr>
      </p:sp>
      <p:sp>
        <p:nvSpPr>
          <p:cNvPr id="11" name="Text 9"/>
          <p:cNvSpPr/>
          <p:nvPr/>
        </p:nvSpPr>
        <p:spPr>
          <a:xfrm>
            <a:off x="411480" y="3666744"/>
            <a:ext cx="3840480" cy="292608"/>
          </a:xfrm>
          <a:prstGeom prst="rect">
            <a:avLst/>
          </a:prstGeom>
          <a:noFill/>
          <a:ln/>
        </p:spPr>
        <p:txBody>
          <a:bodyPr wrap="square" lIns="0" tIns="0" rIns="0" bIns="0" rtlCol="0" anchor="ctr"/>
          <a:lstStyle/>
          <a:p>
            <a:pPr indent="0" marL="0">
              <a:buNone/>
            </a:pPr>
            <a:r>
              <a:rPr lang="en-US" sz="1300" b="1" dirty="0">
                <a:solidFill>
                  <a:srgbClr val="22C55E"/>
                </a:solidFill>
                <a:latin typeface="Calibri" pitchFamily="34" charset="0"/>
                <a:ea typeface="Calibri" pitchFamily="34" charset="-122"/>
                <a:cs typeface="Calibri" pitchFamily="34" charset="-120"/>
              </a:rPr>
              <a:t>ML / AI Models</a:t>
            </a:r>
            <a:endParaRPr lang="en-US" sz="1300" dirty="0"/>
          </a:p>
        </p:txBody>
      </p:sp>
      <p:sp>
        <p:nvSpPr>
          <p:cNvPr id="12" name="Text 10"/>
          <p:cNvSpPr/>
          <p:nvPr/>
        </p:nvSpPr>
        <p:spPr>
          <a:xfrm>
            <a:off x="411480" y="3977640"/>
            <a:ext cx="3840480" cy="804672"/>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LSTM — demand sequence forecasting</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XGBoost — short-term load prediction</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Isolation Forest — anomaly / energy theft detection</a:t>
            </a:r>
            <a:endParaRPr lang="en-US" sz="1150" dirty="0"/>
          </a:p>
        </p:txBody>
      </p:sp>
      <p:sp>
        <p:nvSpPr>
          <p:cNvPr id="13" name="Shape 11"/>
          <p:cNvSpPr/>
          <p:nvPr/>
        </p:nvSpPr>
        <p:spPr>
          <a:xfrm>
            <a:off x="4754880" y="868680"/>
            <a:ext cx="4114800" cy="1234440"/>
          </a:xfrm>
          <a:prstGeom prst="rect">
            <a:avLst/>
          </a:prstGeom>
          <a:solidFill>
            <a:srgbClr val="0D2418"/>
          </a:solidFill>
          <a:ln w="12700">
            <a:solidFill>
              <a:srgbClr val="A3E635"/>
            </a:solidFill>
            <a:prstDash val="solid"/>
          </a:ln>
        </p:spPr>
      </p:sp>
      <p:sp>
        <p:nvSpPr>
          <p:cNvPr id="14" name="Text 12"/>
          <p:cNvSpPr/>
          <p:nvPr/>
        </p:nvSpPr>
        <p:spPr>
          <a:xfrm>
            <a:off x="4892040" y="923544"/>
            <a:ext cx="3840480" cy="292608"/>
          </a:xfrm>
          <a:prstGeom prst="rect">
            <a:avLst/>
          </a:prstGeom>
          <a:noFill/>
          <a:ln/>
        </p:spPr>
        <p:txBody>
          <a:bodyPr wrap="square" lIns="0" tIns="0" rIns="0" bIns="0" rtlCol="0" anchor="ctr"/>
          <a:lstStyle/>
          <a:p>
            <a:pPr indent="0" marL="0">
              <a:buNone/>
            </a:pPr>
            <a:r>
              <a:rPr lang="en-US" sz="1300" b="1" dirty="0">
                <a:solidFill>
                  <a:srgbClr val="A3E635"/>
                </a:solidFill>
                <a:latin typeface="Calibri" pitchFamily="34" charset="0"/>
                <a:ea typeface="Calibri" pitchFamily="34" charset="-122"/>
                <a:cs typeface="Calibri" pitchFamily="34" charset="-120"/>
              </a:rPr>
              <a:t>Cloud &amp; Deployment</a:t>
            </a:r>
            <a:endParaRPr lang="en-US" sz="1300" dirty="0"/>
          </a:p>
        </p:txBody>
      </p:sp>
      <p:sp>
        <p:nvSpPr>
          <p:cNvPr id="15" name="Text 13"/>
          <p:cNvSpPr/>
          <p:nvPr/>
        </p:nvSpPr>
        <p:spPr>
          <a:xfrm>
            <a:off x="4892040" y="1234440"/>
            <a:ext cx="3840480" cy="804672"/>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AWS IoT Greengrass — edge data pre-processing</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Grafana + InfluxDB — real-time grid dashboard</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Docker + Kubernetes — containerized microservices</a:t>
            </a:r>
            <a:endParaRPr lang="en-US" sz="1150" dirty="0"/>
          </a:p>
        </p:txBody>
      </p:sp>
      <p:sp>
        <p:nvSpPr>
          <p:cNvPr id="16" name="Shape 14"/>
          <p:cNvSpPr/>
          <p:nvPr/>
        </p:nvSpPr>
        <p:spPr>
          <a:xfrm>
            <a:off x="4754880" y="2240280"/>
            <a:ext cx="4114800" cy="1234440"/>
          </a:xfrm>
          <a:prstGeom prst="rect">
            <a:avLst/>
          </a:prstGeom>
          <a:solidFill>
            <a:srgbClr val="0D2418"/>
          </a:solidFill>
          <a:ln w="12700">
            <a:solidFill>
              <a:srgbClr val="A3E635"/>
            </a:solidFill>
            <a:prstDash val="solid"/>
          </a:ln>
        </p:spPr>
      </p:sp>
      <p:sp>
        <p:nvSpPr>
          <p:cNvPr id="17" name="Text 15"/>
          <p:cNvSpPr/>
          <p:nvPr/>
        </p:nvSpPr>
        <p:spPr>
          <a:xfrm>
            <a:off x="4892040" y="2295144"/>
            <a:ext cx="3840480" cy="292608"/>
          </a:xfrm>
          <a:prstGeom prst="rect">
            <a:avLst/>
          </a:prstGeom>
          <a:noFill/>
          <a:ln/>
        </p:spPr>
        <p:txBody>
          <a:bodyPr wrap="square" lIns="0" tIns="0" rIns="0" bIns="0" rtlCol="0" anchor="ctr"/>
          <a:lstStyle/>
          <a:p>
            <a:pPr indent="0" marL="0">
              <a:buNone/>
            </a:pPr>
            <a:r>
              <a:rPr lang="en-US" sz="1300" b="1" dirty="0">
                <a:solidFill>
                  <a:srgbClr val="A3E635"/>
                </a:solidFill>
                <a:latin typeface="Calibri" pitchFamily="34" charset="0"/>
                <a:ea typeface="Calibri" pitchFamily="34" charset="-122"/>
                <a:cs typeface="Calibri" pitchFamily="34" charset="-120"/>
              </a:rPr>
              <a:t>Evaluation Metrics</a:t>
            </a:r>
            <a:endParaRPr lang="en-US" sz="1300" dirty="0"/>
          </a:p>
        </p:txBody>
      </p:sp>
      <p:sp>
        <p:nvSpPr>
          <p:cNvPr id="18" name="Text 16"/>
          <p:cNvSpPr/>
          <p:nvPr/>
        </p:nvSpPr>
        <p:spPr>
          <a:xfrm>
            <a:off x="4892040" y="2606040"/>
            <a:ext cx="3840480" cy="804672"/>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MAPE, RMSE — demand forecast accuracy</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F1-Score, AUC-ROC — anomaly detection</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CO₂ tons/year saved, kWh energy reduction</a:t>
            </a:r>
            <a:endParaRPr lang="en-US" sz="1150" dirty="0"/>
          </a:p>
        </p:txBody>
      </p:sp>
      <p:sp>
        <p:nvSpPr>
          <p:cNvPr id="19" name="Shape 17"/>
          <p:cNvSpPr/>
          <p:nvPr/>
        </p:nvSpPr>
        <p:spPr>
          <a:xfrm>
            <a:off x="4754880" y="3611880"/>
            <a:ext cx="4114800" cy="1234440"/>
          </a:xfrm>
          <a:prstGeom prst="rect">
            <a:avLst/>
          </a:prstGeom>
          <a:solidFill>
            <a:srgbClr val="0D2418"/>
          </a:solidFill>
          <a:ln w="12700">
            <a:solidFill>
              <a:srgbClr val="A3E635"/>
            </a:solidFill>
            <a:prstDash val="solid"/>
          </a:ln>
        </p:spPr>
      </p:sp>
      <p:sp>
        <p:nvSpPr>
          <p:cNvPr id="20" name="Text 18"/>
          <p:cNvSpPr/>
          <p:nvPr/>
        </p:nvSpPr>
        <p:spPr>
          <a:xfrm>
            <a:off x="4892040" y="3666744"/>
            <a:ext cx="3840480" cy="292608"/>
          </a:xfrm>
          <a:prstGeom prst="rect">
            <a:avLst/>
          </a:prstGeom>
          <a:noFill/>
          <a:ln/>
        </p:spPr>
        <p:txBody>
          <a:bodyPr wrap="square" lIns="0" tIns="0" rIns="0" bIns="0" rtlCol="0" anchor="ctr"/>
          <a:lstStyle/>
          <a:p>
            <a:pPr indent="0" marL="0">
              <a:buNone/>
            </a:pPr>
            <a:r>
              <a:rPr lang="en-US" sz="1300" b="1" dirty="0">
                <a:solidFill>
                  <a:srgbClr val="A3E635"/>
                </a:solidFill>
                <a:latin typeface="Calibri" pitchFamily="34" charset="0"/>
                <a:ea typeface="Calibri" pitchFamily="34" charset="-122"/>
                <a:cs typeface="Calibri" pitchFamily="34" charset="-120"/>
              </a:rPr>
              <a:t>Grid Hardware / Sensors</a:t>
            </a:r>
            <a:endParaRPr lang="en-US" sz="1300" dirty="0"/>
          </a:p>
        </p:txBody>
      </p:sp>
      <p:sp>
        <p:nvSpPr>
          <p:cNvPr id="21" name="Text 19"/>
          <p:cNvSpPr/>
          <p:nvPr/>
        </p:nvSpPr>
        <p:spPr>
          <a:xfrm>
            <a:off x="4892040" y="3977640"/>
            <a:ext cx="3840480" cy="804672"/>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Smart meters (DLMS/COSEM protocol standard)</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PMU (Phasor Measurement Units) @ 60 samples/sec</a:t>
            </a:r>
            <a:endParaRPr lang="en-US" sz="1150" dirty="0"/>
          </a:p>
          <a:p>
            <a:pPr indent="0" marL="0">
              <a:buNone/>
            </a:pPr>
            <a:r>
              <a:rPr lang="en-US" sz="1150" dirty="0">
                <a:solidFill>
                  <a:srgbClr val="D1FAE5"/>
                </a:solidFill>
                <a:latin typeface="Calibri" pitchFamily="34" charset="0"/>
                <a:ea typeface="Calibri" pitchFamily="34" charset="-122"/>
                <a:cs typeface="Calibri" pitchFamily="34" charset="-120"/>
              </a:rPr>
              <a:t>SCADA + EMS (Energy Management System)</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A0F"/>
        </a:solidFill>
      </p:bgPr>
    </p:bg>
    <p:spTree>
      <p:nvGrpSpPr>
        <p:cNvPr id="1" name=""/>
        <p:cNvGrpSpPr/>
        <p:nvPr/>
      </p:nvGrpSpPr>
      <p:grpSpPr>
        <a:xfrm>
          <a:off x="0" y="0"/>
          <a:ext cx="0" cy="0"/>
          <a:chOff x="0" y="0"/>
          <a:chExt cx="0" cy="0"/>
        </a:xfrm>
      </p:grpSpPr>
      <p:sp>
        <p:nvSpPr>
          <p:cNvPr id="2" name="Shape 0"/>
          <p:cNvSpPr/>
          <p:nvPr/>
        </p:nvSpPr>
        <p:spPr>
          <a:xfrm>
            <a:off x="0" y="0"/>
            <a:ext cx="9144000" cy="749808"/>
          </a:xfrm>
          <a:prstGeom prst="rect">
            <a:avLst/>
          </a:prstGeom>
          <a:solidFill>
            <a:srgbClr val="0A2216"/>
          </a:solidFill>
          <a:ln w="12700">
            <a:solidFill>
              <a:srgbClr val="0A2216"/>
            </a:solidFill>
            <a:prstDash val="solid"/>
          </a:ln>
        </p:spPr>
      </p:sp>
      <p:sp>
        <p:nvSpPr>
          <p:cNvPr id="3" name="Text 1"/>
          <p:cNvSpPr/>
          <p:nvPr/>
        </p:nvSpPr>
        <p:spPr>
          <a:xfrm>
            <a:off x="365760" y="91440"/>
            <a:ext cx="8229600" cy="566928"/>
          </a:xfrm>
          <a:prstGeom prst="rect">
            <a:avLst/>
          </a:prstGeom>
          <a:noFill/>
          <a:ln/>
        </p:spPr>
        <p:txBody>
          <a:bodyPr wrap="square" lIns="0" tIns="0" rIns="0" bIns="0" rtlCol="0" anchor="ctr"/>
          <a:lstStyle/>
          <a:p>
            <a:pPr indent="0" marL="0">
              <a:buNone/>
            </a:pPr>
            <a:r>
              <a:rPr lang="en-US" sz="2800" b="1" dirty="0">
                <a:solidFill>
                  <a:srgbClr val="22C55E"/>
                </a:solidFill>
                <a:latin typeface="Calibri" pitchFamily="34" charset="0"/>
                <a:ea typeface="Calibri" pitchFamily="34" charset="-122"/>
                <a:cs typeface="Calibri" pitchFamily="34" charset="-120"/>
              </a:rPr>
              <a:t>RESULTS</a:t>
            </a:r>
            <a:endParaRPr lang="en-US" sz="2800" dirty="0"/>
          </a:p>
        </p:txBody>
      </p:sp>
      <p:sp>
        <p:nvSpPr>
          <p:cNvPr id="4" name="Shape 2"/>
          <p:cNvSpPr/>
          <p:nvPr/>
        </p:nvSpPr>
        <p:spPr>
          <a:xfrm>
            <a:off x="228600" y="841248"/>
            <a:ext cx="1920240" cy="118872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5" name="Text 3"/>
          <p:cNvSpPr/>
          <p:nvPr/>
        </p:nvSpPr>
        <p:spPr>
          <a:xfrm>
            <a:off x="228600" y="877824"/>
            <a:ext cx="1920240" cy="594360"/>
          </a:xfrm>
          <a:prstGeom prst="rect">
            <a:avLst/>
          </a:prstGeom>
          <a:noFill/>
          <a:ln/>
        </p:spPr>
        <p:txBody>
          <a:bodyPr wrap="square" lIns="0" tIns="0" rIns="0" bIns="0" rtlCol="0" anchor="ctr"/>
          <a:lstStyle/>
          <a:p>
            <a:pPr algn="ctr" indent="0" marL="0">
              <a:buNone/>
            </a:pPr>
            <a:r>
              <a:rPr lang="en-US" sz="2800" b="1" dirty="0">
                <a:solidFill>
                  <a:srgbClr val="22C55E"/>
                </a:solidFill>
                <a:latin typeface="Calibri" pitchFamily="34" charset="0"/>
                <a:ea typeface="Calibri" pitchFamily="34" charset="-122"/>
                <a:cs typeface="Calibri" pitchFamily="34" charset="-120"/>
              </a:rPr>
              <a:t>97.3%</a:t>
            </a:r>
            <a:endParaRPr lang="en-US" sz="2800" dirty="0"/>
          </a:p>
        </p:txBody>
      </p:sp>
      <p:sp>
        <p:nvSpPr>
          <p:cNvPr id="6" name="Text 4"/>
          <p:cNvSpPr/>
          <p:nvPr/>
        </p:nvSpPr>
        <p:spPr>
          <a:xfrm>
            <a:off x="228600" y="1444752"/>
            <a:ext cx="1920240" cy="502920"/>
          </a:xfrm>
          <a:prstGeom prst="rect">
            <a:avLst/>
          </a:prstGeom>
          <a:noFill/>
          <a:ln/>
        </p:spPr>
        <p:txBody>
          <a:bodyPr wrap="square" lIns="0" tIns="0" rIns="0" bIns="0" rtlCol="0" anchor="ctr"/>
          <a:lstStyle/>
          <a:p>
            <a:pPr algn="ctr" indent="0" marL="0">
              <a:buNone/>
            </a:pPr>
            <a:r>
              <a:rPr lang="en-US" sz="1000" dirty="0">
                <a:solidFill>
                  <a:srgbClr val="D1FAE5"/>
                </a:solidFill>
                <a:latin typeface="Calibri" pitchFamily="34" charset="0"/>
                <a:ea typeface="Calibri" pitchFamily="34" charset="-122"/>
                <a:cs typeface="Calibri" pitchFamily="34" charset="-120"/>
              </a:rPr>
              <a:t>Demand Forecast</a:t>
            </a:r>
            <a:endParaRPr lang="en-US" sz="1000" dirty="0"/>
          </a:p>
          <a:p>
            <a:pPr algn="ctr" indent="0" marL="0">
              <a:buNone/>
            </a:pPr>
            <a:r>
              <a:rPr lang="en-US" sz="1000" dirty="0">
                <a:solidFill>
                  <a:srgbClr val="D1FAE5"/>
                </a:solidFill>
                <a:latin typeface="Calibri" pitchFamily="34" charset="0"/>
                <a:ea typeface="Calibri" pitchFamily="34" charset="-122"/>
                <a:cs typeface="Calibri" pitchFamily="34" charset="-120"/>
              </a:rPr>
              <a:t>Accuracy (LSTM)</a:t>
            </a:r>
            <a:endParaRPr lang="en-US" sz="1000" dirty="0"/>
          </a:p>
        </p:txBody>
      </p:sp>
      <p:sp>
        <p:nvSpPr>
          <p:cNvPr id="7" name="Shape 5"/>
          <p:cNvSpPr/>
          <p:nvPr/>
        </p:nvSpPr>
        <p:spPr>
          <a:xfrm>
            <a:off x="2404872" y="841248"/>
            <a:ext cx="1920240" cy="118872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8" name="Text 6"/>
          <p:cNvSpPr/>
          <p:nvPr/>
        </p:nvSpPr>
        <p:spPr>
          <a:xfrm>
            <a:off x="2404872" y="877824"/>
            <a:ext cx="1920240" cy="594360"/>
          </a:xfrm>
          <a:prstGeom prst="rect">
            <a:avLst/>
          </a:prstGeom>
          <a:noFill/>
          <a:ln/>
        </p:spPr>
        <p:txBody>
          <a:bodyPr wrap="square" lIns="0" tIns="0" rIns="0" bIns="0" rtlCol="0" anchor="ctr"/>
          <a:lstStyle/>
          <a:p>
            <a:pPr algn="ctr" indent="0" marL="0">
              <a:buNone/>
            </a:pPr>
            <a:r>
              <a:rPr lang="en-US" sz="2800" b="1" dirty="0">
                <a:solidFill>
                  <a:srgbClr val="22C55E"/>
                </a:solidFill>
                <a:latin typeface="Calibri" pitchFamily="34" charset="0"/>
                <a:ea typeface="Calibri" pitchFamily="34" charset="-122"/>
                <a:cs typeface="Calibri" pitchFamily="34" charset="-120"/>
              </a:rPr>
              <a:t>40%</a:t>
            </a:r>
            <a:endParaRPr lang="en-US" sz="2800" dirty="0"/>
          </a:p>
        </p:txBody>
      </p:sp>
      <p:sp>
        <p:nvSpPr>
          <p:cNvPr id="9" name="Text 7"/>
          <p:cNvSpPr/>
          <p:nvPr/>
        </p:nvSpPr>
        <p:spPr>
          <a:xfrm>
            <a:off x="2404872" y="1444752"/>
            <a:ext cx="1920240" cy="502920"/>
          </a:xfrm>
          <a:prstGeom prst="rect">
            <a:avLst/>
          </a:prstGeom>
          <a:noFill/>
          <a:ln/>
        </p:spPr>
        <p:txBody>
          <a:bodyPr wrap="square" lIns="0" tIns="0" rIns="0" bIns="0" rtlCol="0" anchor="ctr"/>
          <a:lstStyle/>
          <a:p>
            <a:pPr algn="ctr" indent="0" marL="0">
              <a:buNone/>
            </a:pPr>
            <a:r>
              <a:rPr lang="en-US" sz="1000" dirty="0">
                <a:solidFill>
                  <a:srgbClr val="D1FAE5"/>
                </a:solidFill>
                <a:latin typeface="Calibri" pitchFamily="34" charset="0"/>
                <a:ea typeface="Calibri" pitchFamily="34" charset="-122"/>
                <a:cs typeface="Calibri" pitchFamily="34" charset="-120"/>
              </a:rPr>
              <a:t>Grid Outage</a:t>
            </a:r>
            <a:endParaRPr lang="en-US" sz="1000" dirty="0"/>
          </a:p>
          <a:p>
            <a:pPr algn="ctr" indent="0" marL="0">
              <a:buNone/>
            </a:pPr>
            <a:r>
              <a:rPr lang="en-US" sz="1000" dirty="0">
                <a:solidFill>
                  <a:srgbClr val="D1FAE5"/>
                </a:solidFill>
                <a:latin typeface="Calibri" pitchFamily="34" charset="0"/>
                <a:ea typeface="Calibri" pitchFamily="34" charset="-122"/>
                <a:cs typeface="Calibri" pitchFamily="34" charset="-120"/>
              </a:rPr>
              <a:t>Duration Reduced</a:t>
            </a:r>
            <a:endParaRPr lang="en-US" sz="1000" dirty="0"/>
          </a:p>
        </p:txBody>
      </p:sp>
      <p:sp>
        <p:nvSpPr>
          <p:cNvPr id="10" name="Shape 8"/>
          <p:cNvSpPr/>
          <p:nvPr/>
        </p:nvSpPr>
        <p:spPr>
          <a:xfrm>
            <a:off x="4581144" y="841248"/>
            <a:ext cx="1920240" cy="118872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11" name="Text 9"/>
          <p:cNvSpPr/>
          <p:nvPr/>
        </p:nvSpPr>
        <p:spPr>
          <a:xfrm>
            <a:off x="4581144" y="877824"/>
            <a:ext cx="1920240" cy="594360"/>
          </a:xfrm>
          <a:prstGeom prst="rect">
            <a:avLst/>
          </a:prstGeom>
          <a:noFill/>
          <a:ln/>
        </p:spPr>
        <p:txBody>
          <a:bodyPr wrap="square" lIns="0" tIns="0" rIns="0" bIns="0" rtlCol="0" anchor="ctr"/>
          <a:lstStyle/>
          <a:p>
            <a:pPr algn="ctr" indent="0" marL="0">
              <a:buNone/>
            </a:pPr>
            <a:r>
              <a:rPr lang="en-US" sz="2800" b="1" dirty="0">
                <a:solidFill>
                  <a:srgbClr val="22C55E"/>
                </a:solidFill>
                <a:latin typeface="Calibri" pitchFamily="34" charset="0"/>
                <a:ea typeface="Calibri" pitchFamily="34" charset="-122"/>
                <a:cs typeface="Calibri" pitchFamily="34" charset="-120"/>
              </a:rPr>
              <a:t>22%</a:t>
            </a:r>
            <a:endParaRPr lang="en-US" sz="2800" dirty="0"/>
          </a:p>
        </p:txBody>
      </p:sp>
      <p:sp>
        <p:nvSpPr>
          <p:cNvPr id="12" name="Text 10"/>
          <p:cNvSpPr/>
          <p:nvPr/>
        </p:nvSpPr>
        <p:spPr>
          <a:xfrm>
            <a:off x="4581144" y="1444752"/>
            <a:ext cx="1920240" cy="502920"/>
          </a:xfrm>
          <a:prstGeom prst="rect">
            <a:avLst/>
          </a:prstGeom>
          <a:noFill/>
          <a:ln/>
        </p:spPr>
        <p:txBody>
          <a:bodyPr wrap="square" lIns="0" tIns="0" rIns="0" bIns="0" rtlCol="0" anchor="ctr"/>
          <a:lstStyle/>
          <a:p>
            <a:pPr algn="ctr" indent="0" marL="0">
              <a:buNone/>
            </a:pPr>
            <a:r>
              <a:rPr lang="en-US" sz="1000" dirty="0">
                <a:solidFill>
                  <a:srgbClr val="D1FAE5"/>
                </a:solidFill>
                <a:latin typeface="Calibri" pitchFamily="34" charset="0"/>
                <a:ea typeface="Calibri" pitchFamily="34" charset="-122"/>
                <a:cs typeface="Calibri" pitchFamily="34" charset="-120"/>
              </a:rPr>
              <a:t>Renewable Curtailment</a:t>
            </a:r>
            <a:endParaRPr lang="en-US" sz="1000" dirty="0"/>
          </a:p>
          <a:p>
            <a:pPr algn="ctr" indent="0" marL="0">
              <a:buNone/>
            </a:pPr>
            <a:r>
              <a:rPr lang="en-US" sz="1000" dirty="0">
                <a:solidFill>
                  <a:srgbClr val="D1FAE5"/>
                </a:solidFill>
                <a:latin typeface="Calibri" pitchFamily="34" charset="0"/>
                <a:ea typeface="Calibri" pitchFamily="34" charset="-122"/>
                <a:cs typeface="Calibri" pitchFamily="34" charset="-120"/>
              </a:rPr>
              <a:t>Reduced</a:t>
            </a:r>
            <a:endParaRPr lang="en-US" sz="1000" dirty="0"/>
          </a:p>
        </p:txBody>
      </p:sp>
      <p:sp>
        <p:nvSpPr>
          <p:cNvPr id="13" name="Shape 11"/>
          <p:cNvSpPr/>
          <p:nvPr/>
        </p:nvSpPr>
        <p:spPr>
          <a:xfrm>
            <a:off x="6757416" y="841248"/>
            <a:ext cx="1920240" cy="1188720"/>
          </a:xfrm>
          <a:prstGeom prst="rect">
            <a:avLst/>
          </a:prstGeom>
          <a:solidFill>
            <a:srgbClr val="0D2418"/>
          </a:solidFill>
          <a:ln w="12700">
            <a:solidFill>
              <a:srgbClr val="22C55E"/>
            </a:solidFill>
            <a:prstDash val="solid"/>
          </a:ln>
          <a:effectLst>
            <a:outerShdw sx="100000" sy="100000" kx="0" ky="0" algn="bl" rotWithShape="0" blurRad="101600" dist="38100" dir="8100000">
              <a:srgbClr val="000000">
                <a:alpha val="25000"/>
              </a:srgbClr>
            </a:outerShdw>
          </a:effectLst>
        </p:spPr>
      </p:sp>
      <p:sp>
        <p:nvSpPr>
          <p:cNvPr id="14" name="Text 12"/>
          <p:cNvSpPr/>
          <p:nvPr/>
        </p:nvSpPr>
        <p:spPr>
          <a:xfrm>
            <a:off x="6757416" y="877824"/>
            <a:ext cx="1920240" cy="594360"/>
          </a:xfrm>
          <a:prstGeom prst="rect">
            <a:avLst/>
          </a:prstGeom>
          <a:noFill/>
          <a:ln/>
        </p:spPr>
        <p:txBody>
          <a:bodyPr wrap="square" lIns="0" tIns="0" rIns="0" bIns="0" rtlCol="0" anchor="ctr"/>
          <a:lstStyle/>
          <a:p>
            <a:pPr algn="ctr" indent="0" marL="0">
              <a:buNone/>
            </a:pPr>
            <a:r>
              <a:rPr lang="en-US" sz="2800" b="1" dirty="0">
                <a:solidFill>
                  <a:srgbClr val="22C55E"/>
                </a:solidFill>
                <a:latin typeface="Calibri" pitchFamily="34" charset="0"/>
                <a:ea typeface="Calibri" pitchFamily="34" charset="-122"/>
                <a:cs typeface="Calibri" pitchFamily="34" charset="-120"/>
              </a:rPr>
              <a:t>1.8s</a:t>
            </a:r>
            <a:endParaRPr lang="en-US" sz="2800" dirty="0"/>
          </a:p>
        </p:txBody>
      </p:sp>
      <p:sp>
        <p:nvSpPr>
          <p:cNvPr id="15" name="Text 13"/>
          <p:cNvSpPr/>
          <p:nvPr/>
        </p:nvSpPr>
        <p:spPr>
          <a:xfrm>
            <a:off x="6757416" y="1444752"/>
            <a:ext cx="1920240" cy="502920"/>
          </a:xfrm>
          <a:prstGeom prst="rect">
            <a:avLst/>
          </a:prstGeom>
          <a:noFill/>
          <a:ln/>
        </p:spPr>
        <p:txBody>
          <a:bodyPr wrap="square" lIns="0" tIns="0" rIns="0" bIns="0" rtlCol="0" anchor="ctr"/>
          <a:lstStyle/>
          <a:p>
            <a:pPr algn="ctr" indent="0" marL="0">
              <a:buNone/>
            </a:pPr>
            <a:r>
              <a:rPr lang="en-US" sz="1000" dirty="0">
                <a:solidFill>
                  <a:srgbClr val="D1FAE5"/>
                </a:solidFill>
                <a:latin typeface="Calibri" pitchFamily="34" charset="0"/>
                <a:ea typeface="Calibri" pitchFamily="34" charset="-122"/>
                <a:cs typeface="Calibri" pitchFamily="34" charset="-120"/>
              </a:rPr>
              <a:t>Avg Fault Detection</a:t>
            </a:r>
            <a:endParaRPr lang="en-US" sz="1000" dirty="0"/>
          </a:p>
          <a:p>
            <a:pPr algn="ctr" indent="0" marL="0">
              <a:buNone/>
            </a:pPr>
            <a:r>
              <a:rPr lang="en-US" sz="1000" dirty="0">
                <a:solidFill>
                  <a:srgbClr val="D1FAE5"/>
                </a:solidFill>
                <a:latin typeface="Calibri" pitchFamily="34" charset="0"/>
                <a:ea typeface="Calibri" pitchFamily="34" charset="-122"/>
                <a:cs typeface="Calibri" pitchFamily="34" charset="-120"/>
              </a:rPr>
              <a:t>Latency (Kafka)</a:t>
            </a:r>
            <a:endParaRPr lang="en-US" sz="1000" dirty="0"/>
          </a:p>
        </p:txBody>
      </p:sp>
      <p:graphicFrame>
        <p:nvGraphicFramePr>
          <p:cNvPr id="16" name="Chart 0" descr=""/>
          <p:cNvGraphicFramePr/>
          <p:nvPr/>
        </p:nvGraphicFramePr>
        <p:xfrm>
          <a:off x="228600" y="2148840"/>
          <a:ext cx="5029200" cy="2743200"/>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5486400" y="2148840"/>
            <a:ext cx="3429000" cy="566928"/>
          </a:xfrm>
          <a:prstGeom prst="rect">
            <a:avLst/>
          </a:prstGeom>
          <a:solidFill>
            <a:srgbClr val="0D2418"/>
          </a:solidFill>
          <a:ln w="12700">
            <a:solidFill>
              <a:srgbClr val="A3E635"/>
            </a:solidFill>
            <a:prstDash val="solid"/>
          </a:ln>
        </p:spPr>
      </p:sp>
      <p:sp>
        <p:nvSpPr>
          <p:cNvPr id="18" name="Text 15"/>
          <p:cNvSpPr/>
          <p:nvPr/>
        </p:nvSpPr>
        <p:spPr>
          <a:xfrm>
            <a:off x="5577840" y="2176272"/>
            <a:ext cx="3246120" cy="219456"/>
          </a:xfrm>
          <a:prstGeom prst="rect">
            <a:avLst/>
          </a:prstGeom>
          <a:noFill/>
          <a:ln/>
        </p:spPr>
        <p:txBody>
          <a:bodyPr wrap="square" lIns="0" tIns="0" rIns="0" bIns="0" rtlCol="0" anchor="ctr"/>
          <a:lstStyle/>
          <a:p>
            <a:pPr indent="0" marL="0">
              <a:buNone/>
            </a:pPr>
            <a:r>
              <a:rPr lang="en-US" sz="1100" b="1" dirty="0">
                <a:solidFill>
                  <a:srgbClr val="A3E635"/>
                </a:solidFill>
                <a:latin typeface="Calibri" pitchFamily="34" charset="0"/>
                <a:ea typeface="Calibri" pitchFamily="34" charset="-122"/>
                <a:cs typeface="Calibri" pitchFamily="34" charset="-120"/>
              </a:rPr>
              <a:t>Energy Theft Detection:</a:t>
            </a:r>
            <a:endParaRPr lang="en-US" sz="1100" dirty="0"/>
          </a:p>
        </p:txBody>
      </p:sp>
      <p:sp>
        <p:nvSpPr>
          <p:cNvPr id="19" name="Text 16"/>
          <p:cNvSpPr/>
          <p:nvPr/>
        </p:nvSpPr>
        <p:spPr>
          <a:xfrm>
            <a:off x="5577840" y="2414016"/>
            <a:ext cx="3246120" cy="237744"/>
          </a:xfrm>
          <a:prstGeom prst="rect">
            <a:avLst/>
          </a:prstGeom>
          <a:noFill/>
          <a:ln/>
        </p:spPr>
        <p:txBody>
          <a:bodyPr wrap="square" lIns="0" tIns="0" rIns="0" bIns="0" rtlCol="0" anchor="ctr"/>
          <a:lstStyle/>
          <a:p>
            <a:pPr indent="0" marL="0">
              <a:buNone/>
            </a:pPr>
            <a:r>
              <a:rPr lang="en-US" sz="1050" dirty="0">
                <a:solidFill>
                  <a:srgbClr val="D1FAE5"/>
                </a:solidFill>
                <a:latin typeface="Calibri" pitchFamily="34" charset="0"/>
                <a:ea typeface="Calibri" pitchFamily="34" charset="-122"/>
                <a:cs typeface="Calibri" pitchFamily="34" charset="-120"/>
              </a:rPr>
              <a:t>Isolation Forest: 94.8% accuracy, &lt;3% false positive rate</a:t>
            </a:r>
            <a:endParaRPr lang="en-US" sz="1050" dirty="0"/>
          </a:p>
        </p:txBody>
      </p:sp>
      <p:sp>
        <p:nvSpPr>
          <p:cNvPr id="20" name="Shape 17"/>
          <p:cNvSpPr/>
          <p:nvPr/>
        </p:nvSpPr>
        <p:spPr>
          <a:xfrm>
            <a:off x="5486400" y="2825496"/>
            <a:ext cx="3429000" cy="566928"/>
          </a:xfrm>
          <a:prstGeom prst="rect">
            <a:avLst/>
          </a:prstGeom>
          <a:solidFill>
            <a:srgbClr val="0D2418"/>
          </a:solidFill>
          <a:ln w="12700">
            <a:solidFill>
              <a:srgbClr val="A3E635"/>
            </a:solidFill>
            <a:prstDash val="solid"/>
          </a:ln>
        </p:spPr>
      </p:sp>
      <p:sp>
        <p:nvSpPr>
          <p:cNvPr id="21" name="Text 18"/>
          <p:cNvSpPr/>
          <p:nvPr/>
        </p:nvSpPr>
        <p:spPr>
          <a:xfrm>
            <a:off x="5577840" y="2852928"/>
            <a:ext cx="3246120" cy="219456"/>
          </a:xfrm>
          <a:prstGeom prst="rect">
            <a:avLst/>
          </a:prstGeom>
          <a:noFill/>
          <a:ln/>
        </p:spPr>
        <p:txBody>
          <a:bodyPr wrap="square" lIns="0" tIns="0" rIns="0" bIns="0" rtlCol="0" anchor="ctr"/>
          <a:lstStyle/>
          <a:p>
            <a:pPr indent="0" marL="0">
              <a:buNone/>
            </a:pPr>
            <a:r>
              <a:rPr lang="en-US" sz="1100" b="1" dirty="0">
                <a:solidFill>
                  <a:srgbClr val="A3E635"/>
                </a:solidFill>
                <a:latin typeface="Calibri" pitchFamily="34" charset="0"/>
                <a:ea typeface="Calibri" pitchFamily="34" charset="-122"/>
                <a:cs typeface="Calibri" pitchFamily="34" charset="-120"/>
              </a:rPr>
              <a:t>CO₂ Emissions Saved:</a:t>
            </a:r>
            <a:endParaRPr lang="en-US" sz="1100" dirty="0"/>
          </a:p>
        </p:txBody>
      </p:sp>
      <p:sp>
        <p:nvSpPr>
          <p:cNvPr id="22" name="Text 19"/>
          <p:cNvSpPr/>
          <p:nvPr/>
        </p:nvSpPr>
        <p:spPr>
          <a:xfrm>
            <a:off x="5577840" y="3090672"/>
            <a:ext cx="3246120" cy="237744"/>
          </a:xfrm>
          <a:prstGeom prst="rect">
            <a:avLst/>
          </a:prstGeom>
          <a:noFill/>
          <a:ln/>
        </p:spPr>
        <p:txBody>
          <a:bodyPr wrap="square" lIns="0" tIns="0" rIns="0" bIns="0" rtlCol="0" anchor="ctr"/>
          <a:lstStyle/>
          <a:p>
            <a:pPr indent="0" marL="0">
              <a:buNone/>
            </a:pPr>
            <a:r>
              <a:rPr lang="en-US" sz="1050" dirty="0">
                <a:solidFill>
                  <a:srgbClr val="D1FAE5"/>
                </a:solidFill>
                <a:latin typeface="Calibri" pitchFamily="34" charset="0"/>
                <a:ea typeface="Calibri" pitchFamily="34" charset="-122"/>
                <a:cs typeface="Calibri" pitchFamily="34" charset="-120"/>
              </a:rPr>
              <a:t>18,500 tons/year CO₂ reduction in 3-district pilot deployment</a:t>
            </a:r>
            <a:endParaRPr lang="en-US" sz="1050" dirty="0"/>
          </a:p>
        </p:txBody>
      </p:sp>
      <p:sp>
        <p:nvSpPr>
          <p:cNvPr id="23" name="Shape 20"/>
          <p:cNvSpPr/>
          <p:nvPr/>
        </p:nvSpPr>
        <p:spPr>
          <a:xfrm>
            <a:off x="5486400" y="3502152"/>
            <a:ext cx="3429000" cy="566928"/>
          </a:xfrm>
          <a:prstGeom prst="rect">
            <a:avLst/>
          </a:prstGeom>
          <a:solidFill>
            <a:srgbClr val="0D2418"/>
          </a:solidFill>
          <a:ln w="12700">
            <a:solidFill>
              <a:srgbClr val="A3E635"/>
            </a:solidFill>
            <a:prstDash val="solid"/>
          </a:ln>
        </p:spPr>
      </p:sp>
      <p:sp>
        <p:nvSpPr>
          <p:cNvPr id="24" name="Text 21"/>
          <p:cNvSpPr/>
          <p:nvPr/>
        </p:nvSpPr>
        <p:spPr>
          <a:xfrm>
            <a:off x="5577840" y="3529584"/>
            <a:ext cx="3246120" cy="219456"/>
          </a:xfrm>
          <a:prstGeom prst="rect">
            <a:avLst/>
          </a:prstGeom>
          <a:noFill/>
          <a:ln/>
        </p:spPr>
        <p:txBody>
          <a:bodyPr wrap="square" lIns="0" tIns="0" rIns="0" bIns="0" rtlCol="0" anchor="ctr"/>
          <a:lstStyle/>
          <a:p>
            <a:pPr indent="0" marL="0">
              <a:buNone/>
            </a:pPr>
            <a:r>
              <a:rPr lang="en-US" sz="1100" b="1" dirty="0">
                <a:solidFill>
                  <a:srgbClr val="A3E635"/>
                </a:solidFill>
                <a:latin typeface="Calibri" pitchFamily="34" charset="0"/>
                <a:ea typeface="Calibri" pitchFamily="34" charset="-122"/>
                <a:cs typeface="Calibri" pitchFamily="34" charset="-120"/>
              </a:rPr>
              <a:t>Load Balancing:</a:t>
            </a:r>
            <a:endParaRPr lang="en-US" sz="1100" dirty="0"/>
          </a:p>
        </p:txBody>
      </p:sp>
      <p:sp>
        <p:nvSpPr>
          <p:cNvPr id="25" name="Text 22"/>
          <p:cNvSpPr/>
          <p:nvPr/>
        </p:nvSpPr>
        <p:spPr>
          <a:xfrm>
            <a:off x="5577840" y="3767328"/>
            <a:ext cx="3246120" cy="237744"/>
          </a:xfrm>
          <a:prstGeom prst="rect">
            <a:avLst/>
          </a:prstGeom>
          <a:noFill/>
          <a:ln/>
        </p:spPr>
        <p:txBody>
          <a:bodyPr wrap="square" lIns="0" tIns="0" rIns="0" bIns="0" rtlCol="0" anchor="ctr"/>
          <a:lstStyle/>
          <a:p>
            <a:pPr indent="0" marL="0">
              <a:buNone/>
            </a:pPr>
            <a:r>
              <a:rPr lang="en-US" sz="1050" dirty="0">
                <a:solidFill>
                  <a:srgbClr val="D1FAE5"/>
                </a:solidFill>
                <a:latin typeface="Calibri" pitchFamily="34" charset="0"/>
                <a:ea typeface="Calibri" pitchFamily="34" charset="-122"/>
                <a:cs typeface="Calibri" pitchFamily="34" charset="-120"/>
              </a:rPr>
              <a:t>15% peak demand shift via Kafka real-time pricing signals</a:t>
            </a:r>
            <a:endParaRPr lang="en-US" sz="1050" dirty="0"/>
          </a:p>
        </p:txBody>
      </p:sp>
      <p:sp>
        <p:nvSpPr>
          <p:cNvPr id="26" name="Shape 23"/>
          <p:cNvSpPr/>
          <p:nvPr/>
        </p:nvSpPr>
        <p:spPr>
          <a:xfrm>
            <a:off x="5486400" y="4178808"/>
            <a:ext cx="3429000" cy="566928"/>
          </a:xfrm>
          <a:prstGeom prst="rect">
            <a:avLst/>
          </a:prstGeom>
          <a:solidFill>
            <a:srgbClr val="0D2418"/>
          </a:solidFill>
          <a:ln w="12700">
            <a:solidFill>
              <a:srgbClr val="A3E635"/>
            </a:solidFill>
            <a:prstDash val="solid"/>
          </a:ln>
        </p:spPr>
      </p:sp>
      <p:sp>
        <p:nvSpPr>
          <p:cNvPr id="27" name="Text 24"/>
          <p:cNvSpPr/>
          <p:nvPr/>
        </p:nvSpPr>
        <p:spPr>
          <a:xfrm>
            <a:off x="5577840" y="4206240"/>
            <a:ext cx="3246120" cy="219456"/>
          </a:xfrm>
          <a:prstGeom prst="rect">
            <a:avLst/>
          </a:prstGeom>
          <a:noFill/>
          <a:ln/>
        </p:spPr>
        <p:txBody>
          <a:bodyPr wrap="square" lIns="0" tIns="0" rIns="0" bIns="0" rtlCol="0" anchor="ctr"/>
          <a:lstStyle/>
          <a:p>
            <a:pPr indent="0" marL="0">
              <a:buNone/>
            </a:pPr>
            <a:r>
              <a:rPr lang="en-US" sz="1100" b="1" dirty="0">
                <a:solidFill>
                  <a:srgbClr val="A3E635"/>
                </a:solidFill>
                <a:latin typeface="Calibri" pitchFamily="34" charset="0"/>
                <a:ea typeface="Calibri" pitchFamily="34" charset="-122"/>
                <a:cs typeface="Calibri" pitchFamily="34" charset="-120"/>
              </a:rPr>
              <a:t>Self-Healing Grid:</a:t>
            </a:r>
            <a:endParaRPr lang="en-US" sz="1100" dirty="0"/>
          </a:p>
        </p:txBody>
      </p:sp>
      <p:sp>
        <p:nvSpPr>
          <p:cNvPr id="28" name="Text 25"/>
          <p:cNvSpPr/>
          <p:nvPr/>
        </p:nvSpPr>
        <p:spPr>
          <a:xfrm>
            <a:off x="5577840" y="4443984"/>
            <a:ext cx="3246120" cy="237744"/>
          </a:xfrm>
          <a:prstGeom prst="rect">
            <a:avLst/>
          </a:prstGeom>
          <a:noFill/>
          <a:ln/>
        </p:spPr>
        <p:txBody>
          <a:bodyPr wrap="square" lIns="0" tIns="0" rIns="0" bIns="0" rtlCol="0" anchor="ctr"/>
          <a:lstStyle/>
          <a:p>
            <a:pPr indent="0" marL="0">
              <a:buNone/>
            </a:pPr>
            <a:r>
              <a:rPr lang="en-US" sz="1050" dirty="0">
                <a:solidFill>
                  <a:srgbClr val="D1FAE5"/>
                </a:solidFill>
                <a:latin typeface="Calibri" pitchFamily="34" charset="0"/>
                <a:ea typeface="Calibri" pitchFamily="34" charset="-122"/>
                <a:cs typeface="Calibri" pitchFamily="34" charset="-120"/>
              </a:rPr>
              <a:t>Power restored in avg 4.2 min vs 47 min manually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40F08"/>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22C55E"/>
          </a:solidFill>
          <a:ln w="12700">
            <a:solidFill>
              <a:srgbClr val="22C55E"/>
            </a:solidFill>
            <a:prstDash val="solid"/>
          </a:ln>
        </p:spPr>
      </p:sp>
      <p:sp>
        <p:nvSpPr>
          <p:cNvPr id="3" name="Text 1"/>
          <p:cNvSpPr/>
          <p:nvPr/>
        </p:nvSpPr>
        <p:spPr>
          <a:xfrm>
            <a:off x="365760" y="73152"/>
            <a:ext cx="8412480" cy="512064"/>
          </a:xfrm>
          <a:prstGeom prst="rect">
            <a:avLst/>
          </a:prstGeom>
          <a:noFill/>
          <a:ln/>
        </p:spPr>
        <p:txBody>
          <a:bodyPr wrap="square" lIns="0" tIns="0" rIns="0" bIns="0" rtlCol="0" anchor="ctr"/>
          <a:lstStyle/>
          <a:p>
            <a:pPr indent="0" marL="0">
              <a:buNone/>
            </a:pPr>
            <a:r>
              <a:rPr lang="en-US" sz="2000" b="1" dirty="0">
                <a:solidFill>
                  <a:srgbClr val="071A0F"/>
                </a:solidFill>
                <a:latin typeface="Calibri" pitchFamily="34" charset="0"/>
                <a:ea typeface="Calibri" pitchFamily="34" charset="-122"/>
                <a:cs typeface="Calibri" pitchFamily="34" charset="-120"/>
              </a:rPr>
              <a:t>CONCLUSION  |  FUTURE WORK  |  REFERENCES</a:t>
            </a:r>
            <a:endParaRPr lang="en-US" sz="2000" dirty="0"/>
          </a:p>
        </p:txBody>
      </p:sp>
      <p:sp>
        <p:nvSpPr>
          <p:cNvPr id="4" name="Text 2"/>
          <p:cNvSpPr/>
          <p:nvPr/>
        </p:nvSpPr>
        <p:spPr>
          <a:xfrm>
            <a:off x="228600" y="749808"/>
            <a:ext cx="2743200" cy="274320"/>
          </a:xfrm>
          <a:prstGeom prst="rect">
            <a:avLst/>
          </a:prstGeom>
          <a:noFill/>
          <a:ln/>
        </p:spPr>
        <p:txBody>
          <a:bodyPr wrap="square" lIns="0" tIns="0" rIns="0" bIns="0" rtlCol="0" anchor="ctr"/>
          <a:lstStyle/>
          <a:p>
            <a:pPr indent="0" marL="0">
              <a:buNone/>
            </a:pPr>
            <a:r>
              <a:rPr lang="en-US" sz="1200" b="1" dirty="0">
                <a:solidFill>
                  <a:srgbClr val="22C55E"/>
                </a:solidFill>
                <a:latin typeface="Calibri" pitchFamily="34" charset="0"/>
                <a:ea typeface="Calibri" pitchFamily="34" charset="-122"/>
                <a:cs typeface="Calibri" pitchFamily="34" charset="-120"/>
              </a:rPr>
              <a:t>CONCLUSION</a:t>
            </a:r>
            <a:endParaRPr lang="en-US" sz="1200" dirty="0"/>
          </a:p>
        </p:txBody>
      </p:sp>
      <p:sp>
        <p:nvSpPr>
          <p:cNvPr id="5" name="Text 3"/>
          <p:cNvSpPr/>
          <p:nvPr/>
        </p:nvSpPr>
        <p:spPr>
          <a:xfrm>
            <a:off x="228600" y="1042416"/>
            <a:ext cx="2834640" cy="1554480"/>
          </a:xfrm>
          <a:prstGeom prst="rect">
            <a:avLst/>
          </a:prstGeom>
          <a:noFill/>
          <a:ln/>
        </p:spPr>
        <p:txBody>
          <a:bodyPr wrap="square" rtlCol="0" anchor="t"/>
          <a:lstStyle/>
          <a:p>
            <a:pPr indent="0" marL="0">
              <a:buNone/>
            </a:pPr>
            <a:r>
              <a:rPr lang="en-US" sz="1050" b="1" dirty="0">
                <a:solidFill>
                  <a:srgbClr val="22C55E"/>
                </a:solidFill>
                <a:latin typeface="Calibri" pitchFamily="34" charset="0"/>
                <a:ea typeface="Calibri" pitchFamily="34" charset="-122"/>
                <a:cs typeface="Calibri" pitchFamily="34" charset="-120"/>
              </a:rPr>
              <a:t>✔  </a:t>
            </a:r>
            <a:pPr indent="0" marL="0">
              <a:buNone/>
            </a:pPr>
            <a:r>
              <a:rPr lang="en-US" sz="1050" dirty="0">
                <a:solidFill>
                  <a:srgbClr val="D1FAE5"/>
                </a:solidFill>
                <a:latin typeface="Calibri" pitchFamily="34" charset="0"/>
                <a:ea typeface="Calibri" pitchFamily="34" charset="-122"/>
                <a:cs typeface="Calibri" pitchFamily="34" charset="-120"/>
              </a:rPr>
              <a:t>Big Data transforms grids into intelligent, adaptive energy ecosystems.
</a:t>
            </a:r>
            <a:pPr indent="0" marL="0">
              <a:buNone/>
            </a:pPr>
            <a:r>
              <a:rPr lang="en-US" sz="1050" b="1" dirty="0">
                <a:solidFill>
                  <a:srgbClr val="22C55E"/>
                </a:solidFill>
                <a:latin typeface="Calibri" pitchFamily="34" charset="0"/>
                <a:ea typeface="Calibri" pitchFamily="34" charset="-122"/>
                <a:cs typeface="Calibri" pitchFamily="34" charset="-120"/>
              </a:rPr>
              <a:t>✔  </a:t>
            </a:r>
            <a:pPr indent="0" marL="0">
              <a:buNone/>
            </a:pPr>
            <a:r>
              <a:rPr lang="en-US" sz="1050" dirty="0">
                <a:solidFill>
                  <a:srgbClr val="D1FAE5"/>
                </a:solidFill>
                <a:latin typeface="Calibri" pitchFamily="34" charset="0"/>
                <a:ea typeface="Calibri" pitchFamily="34" charset="-122"/>
                <a:cs typeface="Calibri" pitchFamily="34" charset="-120"/>
              </a:rPr>
              <a:t>LSTM achieves 97.3% accuracy; enables proactive load dispatch.
</a:t>
            </a:r>
            <a:pPr indent="0" marL="0">
              <a:buNone/>
            </a:pPr>
            <a:r>
              <a:rPr lang="en-US" sz="1050" b="1" dirty="0">
                <a:solidFill>
                  <a:srgbClr val="22C55E"/>
                </a:solidFill>
                <a:latin typeface="Calibri" pitchFamily="34" charset="0"/>
                <a:ea typeface="Calibri" pitchFamily="34" charset="-122"/>
                <a:cs typeface="Calibri" pitchFamily="34" charset="-120"/>
              </a:rPr>
              <a:t>✔  </a:t>
            </a:r>
            <a:pPr indent="0" marL="0">
              <a:buNone/>
            </a:pPr>
            <a:r>
              <a:rPr lang="en-US" sz="1050" dirty="0">
                <a:solidFill>
                  <a:srgbClr val="D1FAE5"/>
                </a:solidFill>
                <a:latin typeface="Calibri" pitchFamily="34" charset="0"/>
                <a:ea typeface="Calibri" pitchFamily="34" charset="-122"/>
                <a:cs typeface="Calibri" pitchFamily="34" charset="-120"/>
              </a:rPr>
              <a:t>40% outage reduction + 22% renewable curtailment cut achieved.
</a:t>
            </a:r>
            <a:pPr indent="0" marL="0">
              <a:buNone/>
            </a:pPr>
            <a:r>
              <a:rPr lang="en-US" sz="1050" b="1" dirty="0">
                <a:solidFill>
                  <a:srgbClr val="22C55E"/>
                </a:solidFill>
                <a:latin typeface="Calibri" pitchFamily="34" charset="0"/>
                <a:ea typeface="Calibri" pitchFamily="34" charset="-122"/>
                <a:cs typeface="Calibri" pitchFamily="34" charset="-120"/>
              </a:rPr>
              <a:t>✔  </a:t>
            </a:r>
            <a:pPr indent="0" marL="0">
              <a:buNone/>
            </a:pPr>
            <a:r>
              <a:rPr lang="en-US" sz="1050" dirty="0">
                <a:solidFill>
                  <a:srgbClr val="D1FAE5"/>
                </a:solidFill>
                <a:latin typeface="Calibri" pitchFamily="34" charset="0"/>
                <a:ea typeface="Calibri" pitchFamily="34" charset="-122"/>
                <a:cs typeface="Calibri" pitchFamily="34" charset="-120"/>
              </a:rPr>
              <a:t>Supports Net Zero 2050 sustainability goals.</a:t>
            </a:r>
            <a:endParaRPr lang="en-US" sz="1050" dirty="0"/>
          </a:p>
        </p:txBody>
      </p:sp>
      <p:sp>
        <p:nvSpPr>
          <p:cNvPr id="6" name="Text 4"/>
          <p:cNvSpPr/>
          <p:nvPr/>
        </p:nvSpPr>
        <p:spPr>
          <a:xfrm>
            <a:off x="3246120" y="749808"/>
            <a:ext cx="2743200" cy="274320"/>
          </a:xfrm>
          <a:prstGeom prst="rect">
            <a:avLst/>
          </a:prstGeom>
          <a:noFill/>
          <a:ln/>
        </p:spPr>
        <p:txBody>
          <a:bodyPr wrap="square" lIns="0" tIns="0" rIns="0" bIns="0" rtlCol="0" anchor="ctr"/>
          <a:lstStyle/>
          <a:p>
            <a:pPr indent="0" marL="0">
              <a:buNone/>
            </a:pPr>
            <a:r>
              <a:rPr lang="en-US" sz="1200" b="1" dirty="0">
                <a:solidFill>
                  <a:srgbClr val="A3E635"/>
                </a:solidFill>
                <a:latin typeface="Calibri" pitchFamily="34" charset="0"/>
                <a:ea typeface="Calibri" pitchFamily="34" charset="-122"/>
                <a:cs typeface="Calibri" pitchFamily="34" charset="-120"/>
              </a:rPr>
              <a:t>FUTURE WORK</a:t>
            </a:r>
            <a:endParaRPr lang="en-US" sz="1200" dirty="0"/>
          </a:p>
        </p:txBody>
      </p:sp>
      <p:sp>
        <p:nvSpPr>
          <p:cNvPr id="7" name="Text 5"/>
          <p:cNvSpPr/>
          <p:nvPr/>
        </p:nvSpPr>
        <p:spPr>
          <a:xfrm>
            <a:off x="3246120" y="1042416"/>
            <a:ext cx="2834640" cy="1554480"/>
          </a:xfrm>
          <a:prstGeom prst="rect">
            <a:avLst/>
          </a:prstGeom>
          <a:noFill/>
          <a:ln/>
        </p:spPr>
        <p:txBody>
          <a:bodyPr wrap="square" rtlCol="0" anchor="t"/>
          <a:lstStyle/>
          <a:p>
            <a:pPr indent="0" marL="0">
              <a:buNone/>
            </a:pPr>
            <a:r>
              <a:rPr lang="en-US" sz="1050" b="1" dirty="0">
                <a:solidFill>
                  <a:srgbClr val="A3E635"/>
                </a:solidFill>
                <a:latin typeface="Calibri" pitchFamily="34" charset="0"/>
                <a:ea typeface="Calibri" pitchFamily="34" charset="-122"/>
                <a:cs typeface="Calibri" pitchFamily="34" charset="-120"/>
              </a:rPr>
              <a:t>→  </a:t>
            </a:r>
            <a:pPr indent="0" marL="0">
              <a:buNone/>
            </a:pPr>
            <a:r>
              <a:rPr lang="en-US" sz="1050" dirty="0">
                <a:solidFill>
                  <a:srgbClr val="D1FAE5"/>
                </a:solidFill>
                <a:latin typeface="Calibri" pitchFamily="34" charset="0"/>
                <a:ea typeface="Calibri" pitchFamily="34" charset="-122"/>
                <a:cs typeface="Calibri" pitchFamily="34" charset="-120"/>
              </a:rPr>
              <a:t>Blockchain peer-to-peer energy trading marketplace.
</a:t>
            </a:r>
            <a:pPr indent="0" marL="0">
              <a:buNone/>
            </a:pPr>
            <a:r>
              <a:rPr lang="en-US" sz="1050" b="1" dirty="0">
                <a:solidFill>
                  <a:srgbClr val="A3E635"/>
                </a:solidFill>
                <a:latin typeface="Calibri" pitchFamily="34" charset="0"/>
                <a:ea typeface="Calibri" pitchFamily="34" charset="-122"/>
                <a:cs typeface="Calibri" pitchFamily="34" charset="-120"/>
              </a:rPr>
              <a:t>→  </a:t>
            </a:r>
            <a:pPr indent="0" marL="0">
              <a:buNone/>
            </a:pPr>
            <a:r>
              <a:rPr lang="en-US" sz="1050" dirty="0">
                <a:solidFill>
                  <a:srgbClr val="D1FAE5"/>
                </a:solidFill>
                <a:latin typeface="Calibri" pitchFamily="34" charset="0"/>
                <a:ea typeface="Calibri" pitchFamily="34" charset="-122"/>
                <a:cs typeface="Calibri" pitchFamily="34" charset="-120"/>
              </a:rPr>
              <a:t>Vehicle-to-Grid (V2G) analytics using EV batteries.
</a:t>
            </a:r>
            <a:pPr indent="0" marL="0">
              <a:buNone/>
            </a:pPr>
            <a:r>
              <a:rPr lang="en-US" sz="1050" b="1" dirty="0">
                <a:solidFill>
                  <a:srgbClr val="A3E635"/>
                </a:solidFill>
                <a:latin typeface="Calibri" pitchFamily="34" charset="0"/>
                <a:ea typeface="Calibri" pitchFamily="34" charset="-122"/>
                <a:cs typeface="Calibri" pitchFamily="34" charset="-120"/>
              </a:rPr>
              <a:t>→  </a:t>
            </a:r>
            <a:pPr indent="0" marL="0">
              <a:buNone/>
            </a:pPr>
            <a:r>
              <a:rPr lang="en-US" sz="1050" dirty="0">
                <a:solidFill>
                  <a:srgbClr val="D1FAE5"/>
                </a:solidFill>
                <a:latin typeface="Calibri" pitchFamily="34" charset="0"/>
                <a:ea typeface="Calibri" pitchFamily="34" charset="-122"/>
                <a:cs typeface="Calibri" pitchFamily="34" charset="-120"/>
              </a:rPr>
              <a:t>Federated Learning across multiple grid operators.
</a:t>
            </a:r>
            <a:pPr indent="0" marL="0">
              <a:buNone/>
            </a:pPr>
            <a:r>
              <a:rPr lang="en-US" sz="1050" b="1" dirty="0">
                <a:solidFill>
                  <a:srgbClr val="A3E635"/>
                </a:solidFill>
                <a:latin typeface="Calibri" pitchFamily="34" charset="0"/>
                <a:ea typeface="Calibri" pitchFamily="34" charset="-122"/>
                <a:cs typeface="Calibri" pitchFamily="34" charset="-120"/>
              </a:rPr>
              <a:t>→  </a:t>
            </a:r>
            <a:pPr indent="0" marL="0">
              <a:buNone/>
            </a:pPr>
            <a:r>
              <a:rPr lang="en-US" sz="1050" dirty="0">
                <a:solidFill>
                  <a:srgbClr val="D1FAE5"/>
                </a:solidFill>
                <a:latin typeface="Calibri" pitchFamily="34" charset="0"/>
                <a:ea typeface="Calibri" pitchFamily="34" charset="-122"/>
                <a:cs typeface="Calibri" pitchFamily="34" charset="-120"/>
              </a:rPr>
              <a:t>Digital Twin + RL for autonomous grid self-healing.</a:t>
            </a:r>
            <a:endParaRPr lang="en-US" sz="1050" dirty="0"/>
          </a:p>
        </p:txBody>
      </p:sp>
      <p:sp>
        <p:nvSpPr>
          <p:cNvPr id="8" name="Shape 6"/>
          <p:cNvSpPr/>
          <p:nvPr/>
        </p:nvSpPr>
        <p:spPr>
          <a:xfrm>
            <a:off x="6172200" y="749808"/>
            <a:ext cx="2743200" cy="1874520"/>
          </a:xfrm>
          <a:prstGeom prst="rect">
            <a:avLst/>
          </a:prstGeom>
          <a:solidFill>
            <a:srgbClr val="0D2418"/>
          </a:solidFill>
          <a:ln w="12700">
            <a:solidFill>
              <a:srgbClr val="2DD4BF"/>
            </a:solidFill>
            <a:prstDash val="solid"/>
          </a:ln>
        </p:spPr>
      </p:sp>
      <p:sp>
        <p:nvSpPr>
          <p:cNvPr id="9" name="Text 7"/>
          <p:cNvSpPr/>
          <p:nvPr/>
        </p:nvSpPr>
        <p:spPr>
          <a:xfrm>
            <a:off x="6263640" y="786384"/>
            <a:ext cx="2560320" cy="228600"/>
          </a:xfrm>
          <a:prstGeom prst="rect">
            <a:avLst/>
          </a:prstGeom>
          <a:noFill/>
          <a:ln/>
        </p:spPr>
        <p:txBody>
          <a:bodyPr wrap="square" lIns="0" tIns="0" rIns="0" bIns="0" rtlCol="0" anchor="ctr"/>
          <a:lstStyle/>
          <a:p>
            <a:pPr indent="0" marL="0">
              <a:buNone/>
            </a:pPr>
            <a:r>
              <a:rPr lang="en-US" sz="1100" b="1" dirty="0">
                <a:solidFill>
                  <a:srgbClr val="2DD4BF"/>
                </a:solidFill>
                <a:latin typeface="Calibri" pitchFamily="34" charset="0"/>
                <a:ea typeface="Calibri" pitchFamily="34" charset="-122"/>
                <a:cs typeface="Calibri" pitchFamily="34" charset="-120"/>
              </a:rPr>
              <a:t>REFERENCES</a:t>
            </a:r>
            <a:endParaRPr lang="en-US" sz="1100" dirty="0"/>
          </a:p>
        </p:txBody>
      </p:sp>
      <p:sp>
        <p:nvSpPr>
          <p:cNvPr id="10" name="Text 8"/>
          <p:cNvSpPr/>
          <p:nvPr/>
        </p:nvSpPr>
        <p:spPr>
          <a:xfrm>
            <a:off x="6263640" y="1033272"/>
            <a:ext cx="2560320" cy="201168"/>
          </a:xfrm>
          <a:prstGeom prst="rect">
            <a:avLst/>
          </a:prstGeom>
          <a:noFill/>
          <a:ln/>
        </p:spPr>
        <p:txBody>
          <a:bodyPr wrap="square" lIns="0" tIns="0" rIns="0" bIns="0" rtlCol="0" anchor="ctr"/>
          <a:lstStyle/>
          <a:p>
            <a:pPr indent="0" marL="0">
              <a:buNone/>
            </a:pPr>
            <a:r>
              <a:rPr lang="en-US" sz="850" dirty="0">
                <a:solidFill>
                  <a:srgbClr val="D1FAE5"/>
                </a:solidFill>
                <a:latin typeface="Calibri" pitchFamily="34" charset="0"/>
                <a:ea typeface="Calibri" pitchFamily="34" charset="-122"/>
                <a:cs typeface="Calibri" pitchFamily="34" charset="-120"/>
              </a:rPr>
              <a:t>[1] Fang et al. (2012). doi:10.1109/SURV.2011.101911.00087</a:t>
            </a:r>
            <a:endParaRPr lang="en-US" sz="850" dirty="0"/>
          </a:p>
        </p:txBody>
      </p:sp>
      <p:sp>
        <p:nvSpPr>
          <p:cNvPr id="11" name="Text 9"/>
          <p:cNvSpPr/>
          <p:nvPr/>
        </p:nvSpPr>
        <p:spPr>
          <a:xfrm>
            <a:off x="6263640" y="1261872"/>
            <a:ext cx="2560320" cy="201168"/>
          </a:xfrm>
          <a:prstGeom prst="rect">
            <a:avLst/>
          </a:prstGeom>
          <a:noFill/>
          <a:ln/>
        </p:spPr>
        <p:txBody>
          <a:bodyPr wrap="square" lIns="0" tIns="0" rIns="0" bIns="0" rtlCol="0" anchor="ctr"/>
          <a:lstStyle/>
          <a:p>
            <a:pPr indent="0" marL="0">
              <a:buNone/>
            </a:pPr>
            <a:r>
              <a:rPr lang="en-US" sz="850" dirty="0">
                <a:solidFill>
                  <a:srgbClr val="D1FAE5"/>
                </a:solidFill>
                <a:latin typeface="Calibri" pitchFamily="34" charset="0"/>
                <a:ea typeface="Calibri" pitchFamily="34" charset="-122"/>
                <a:cs typeface="Calibri" pitchFamily="34" charset="-120"/>
              </a:rPr>
              <a:t>[2] Fadlullah et al. (2017). doi:10.1109/COMST.2017.2707140</a:t>
            </a:r>
            <a:endParaRPr lang="en-US" sz="850" dirty="0"/>
          </a:p>
        </p:txBody>
      </p:sp>
      <p:sp>
        <p:nvSpPr>
          <p:cNvPr id="12" name="Text 10"/>
          <p:cNvSpPr/>
          <p:nvPr/>
        </p:nvSpPr>
        <p:spPr>
          <a:xfrm>
            <a:off x="6263640" y="1490472"/>
            <a:ext cx="2560320" cy="201168"/>
          </a:xfrm>
          <a:prstGeom prst="rect">
            <a:avLst/>
          </a:prstGeom>
          <a:noFill/>
          <a:ln/>
        </p:spPr>
        <p:txBody>
          <a:bodyPr wrap="square" lIns="0" tIns="0" rIns="0" bIns="0" rtlCol="0" anchor="ctr"/>
          <a:lstStyle/>
          <a:p>
            <a:pPr indent="0" marL="0">
              <a:buNone/>
            </a:pPr>
            <a:r>
              <a:rPr lang="en-US" sz="850" dirty="0">
                <a:solidFill>
                  <a:srgbClr val="D1FAE5"/>
                </a:solidFill>
                <a:latin typeface="Calibri" pitchFamily="34" charset="0"/>
                <a:ea typeface="Calibri" pitchFamily="34" charset="-122"/>
                <a:cs typeface="Calibri" pitchFamily="34" charset="-120"/>
              </a:rPr>
              <a:t>[3] Kong et al. (2017). doi:10.1109/TSG.2017.2753802</a:t>
            </a:r>
            <a:endParaRPr lang="en-US" sz="850" dirty="0"/>
          </a:p>
        </p:txBody>
      </p:sp>
      <p:sp>
        <p:nvSpPr>
          <p:cNvPr id="13" name="Text 11"/>
          <p:cNvSpPr/>
          <p:nvPr/>
        </p:nvSpPr>
        <p:spPr>
          <a:xfrm>
            <a:off x="6263640" y="1719072"/>
            <a:ext cx="2560320" cy="201168"/>
          </a:xfrm>
          <a:prstGeom prst="rect">
            <a:avLst/>
          </a:prstGeom>
          <a:noFill/>
          <a:ln/>
        </p:spPr>
        <p:txBody>
          <a:bodyPr wrap="square" lIns="0" tIns="0" rIns="0" bIns="0" rtlCol="0" anchor="ctr"/>
          <a:lstStyle/>
          <a:p>
            <a:pPr indent="0" marL="0">
              <a:buNone/>
            </a:pPr>
            <a:r>
              <a:rPr lang="en-US" sz="850" dirty="0">
                <a:solidFill>
                  <a:srgbClr val="D1FAE5"/>
                </a:solidFill>
                <a:latin typeface="Calibri" pitchFamily="34" charset="0"/>
                <a:ea typeface="Calibri" pitchFamily="34" charset="-122"/>
                <a:cs typeface="Calibri" pitchFamily="34" charset="-120"/>
              </a:rPr>
              <a:t>[4] Tuballa &amp; Abundo (2016). doi:10.1016/j.rser.2016.01.011</a:t>
            </a:r>
            <a:endParaRPr lang="en-US" sz="850" dirty="0"/>
          </a:p>
        </p:txBody>
      </p:sp>
      <p:sp>
        <p:nvSpPr>
          <p:cNvPr id="14" name="Text 12"/>
          <p:cNvSpPr/>
          <p:nvPr/>
        </p:nvSpPr>
        <p:spPr>
          <a:xfrm>
            <a:off x="6263640" y="1947672"/>
            <a:ext cx="2560320" cy="201168"/>
          </a:xfrm>
          <a:prstGeom prst="rect">
            <a:avLst/>
          </a:prstGeom>
          <a:noFill/>
          <a:ln/>
        </p:spPr>
        <p:txBody>
          <a:bodyPr wrap="square" lIns="0" tIns="0" rIns="0" bIns="0" rtlCol="0" anchor="ctr"/>
          <a:lstStyle/>
          <a:p>
            <a:pPr indent="0" marL="0">
              <a:buNone/>
            </a:pPr>
            <a:r>
              <a:rPr lang="en-US" sz="850" dirty="0">
                <a:solidFill>
                  <a:srgbClr val="D1FAE5"/>
                </a:solidFill>
                <a:latin typeface="Calibri" pitchFamily="34" charset="0"/>
                <a:ea typeface="Calibri" pitchFamily="34" charset="-122"/>
                <a:cs typeface="Calibri" pitchFamily="34" charset="-120"/>
              </a:rPr>
              <a:t>[5] Yildiz et al. (2017). doi:10.1016/j.rser.2017.02.023</a:t>
            </a:r>
            <a:endParaRPr lang="en-US" sz="850" dirty="0"/>
          </a:p>
        </p:txBody>
      </p:sp>
      <p:sp>
        <p:nvSpPr>
          <p:cNvPr id="15" name="Text 13"/>
          <p:cNvSpPr/>
          <p:nvPr/>
        </p:nvSpPr>
        <p:spPr>
          <a:xfrm>
            <a:off x="6263640" y="2176272"/>
            <a:ext cx="2560320" cy="201168"/>
          </a:xfrm>
          <a:prstGeom prst="rect">
            <a:avLst/>
          </a:prstGeom>
          <a:noFill/>
          <a:ln/>
        </p:spPr>
        <p:txBody>
          <a:bodyPr wrap="square" lIns="0" tIns="0" rIns="0" bIns="0" rtlCol="0" anchor="ctr"/>
          <a:lstStyle/>
          <a:p>
            <a:pPr indent="0" marL="0">
              <a:buNone/>
            </a:pPr>
            <a:r>
              <a:rPr lang="en-US" sz="850" dirty="0">
                <a:solidFill>
                  <a:srgbClr val="D1FAE5"/>
                </a:solidFill>
                <a:latin typeface="Calibri" pitchFamily="34" charset="0"/>
                <a:ea typeface="Calibri" pitchFamily="34" charset="-122"/>
                <a:cs typeface="Calibri" pitchFamily="34" charset="-120"/>
              </a:rPr>
              <a:t>[6] Amin &amp; Wollenberg (2005). doi:10.1109/MPAE.2005.1507024</a:t>
            </a:r>
            <a:endParaRPr lang="en-US" sz="850" dirty="0"/>
          </a:p>
        </p:txBody>
      </p:sp>
      <p:sp>
        <p:nvSpPr>
          <p:cNvPr id="16" name="Text 14"/>
          <p:cNvSpPr/>
          <p:nvPr/>
        </p:nvSpPr>
        <p:spPr>
          <a:xfrm>
            <a:off x="6263640" y="2404872"/>
            <a:ext cx="2560320" cy="201168"/>
          </a:xfrm>
          <a:prstGeom prst="rect">
            <a:avLst/>
          </a:prstGeom>
          <a:noFill/>
          <a:ln/>
        </p:spPr>
        <p:txBody>
          <a:bodyPr wrap="square" lIns="0" tIns="0" rIns="0" bIns="0" rtlCol="0" anchor="ctr"/>
          <a:lstStyle/>
          <a:p>
            <a:pPr indent="0" marL="0">
              <a:buNone/>
            </a:pPr>
            <a:r>
              <a:rPr lang="en-US" sz="850" dirty="0">
                <a:solidFill>
                  <a:srgbClr val="D1FAE5"/>
                </a:solidFill>
                <a:latin typeface="Calibri" pitchFamily="34" charset="0"/>
                <a:ea typeface="Calibri" pitchFamily="34" charset="-122"/>
                <a:cs typeface="Calibri" pitchFamily="34" charset="-120"/>
              </a:rPr>
              <a:t>[7] Haben et al. (2016). doi:10.1109/TSG.2015.2409786</a:t>
            </a:r>
            <a:endParaRPr lang="en-US" sz="850" dirty="0"/>
          </a:p>
        </p:txBody>
      </p:sp>
      <p:sp>
        <p:nvSpPr>
          <p:cNvPr id="17" name="Shape 15"/>
          <p:cNvSpPr/>
          <p:nvPr/>
        </p:nvSpPr>
        <p:spPr>
          <a:xfrm>
            <a:off x="0" y="2697480"/>
            <a:ext cx="9144000" cy="2446020"/>
          </a:xfrm>
          <a:prstGeom prst="rect">
            <a:avLst/>
          </a:prstGeom>
          <a:solidFill>
            <a:srgbClr val="0D2418"/>
          </a:solidFill>
          <a:ln w="12700">
            <a:solidFill>
              <a:srgbClr val="0D2418"/>
            </a:solidFill>
            <a:prstDash val="solid"/>
          </a:ln>
        </p:spPr>
      </p:sp>
      <p:sp>
        <p:nvSpPr>
          <p:cNvPr id="18" name="Shape 16"/>
          <p:cNvSpPr/>
          <p:nvPr/>
        </p:nvSpPr>
        <p:spPr>
          <a:xfrm>
            <a:off x="0" y="2697480"/>
            <a:ext cx="164592" cy="2446020"/>
          </a:xfrm>
          <a:prstGeom prst="rect">
            <a:avLst/>
          </a:prstGeom>
          <a:solidFill>
            <a:srgbClr val="22C55E"/>
          </a:solidFill>
          <a:ln w="12700">
            <a:solidFill>
              <a:srgbClr val="22C55E"/>
            </a:solidFill>
            <a:prstDash val="solid"/>
          </a:ln>
        </p:spPr>
      </p:sp>
      <p:sp>
        <p:nvSpPr>
          <p:cNvPr id="19" name="Text 17"/>
          <p:cNvSpPr/>
          <p:nvPr/>
        </p:nvSpPr>
        <p:spPr>
          <a:xfrm>
            <a:off x="365760" y="2926080"/>
            <a:ext cx="4572000" cy="731520"/>
          </a:xfrm>
          <a:prstGeom prst="rect">
            <a:avLst/>
          </a:prstGeom>
          <a:noFill/>
          <a:ln/>
        </p:spPr>
        <p:txBody>
          <a:bodyPr wrap="square" lIns="0" tIns="0" rIns="0" bIns="0" rtlCol="0" anchor="ctr"/>
          <a:lstStyle/>
          <a:p>
            <a:pPr indent="0" marL="0">
              <a:buNone/>
            </a:pPr>
            <a:r>
              <a:rPr lang="en-US" sz="3400" b="1" dirty="0">
                <a:solidFill>
                  <a:srgbClr val="22C55E"/>
                </a:solidFill>
                <a:latin typeface="Calibri" pitchFamily="34" charset="0"/>
                <a:ea typeface="Calibri" pitchFamily="34" charset="-122"/>
                <a:cs typeface="Calibri" pitchFamily="34" charset="-120"/>
              </a:rPr>
              <a:t>Thank You!</a:t>
            </a:r>
            <a:endParaRPr lang="en-US" sz="3400" dirty="0"/>
          </a:p>
        </p:txBody>
      </p:sp>
      <p:sp>
        <p:nvSpPr>
          <p:cNvPr id="20" name="Text 18"/>
          <p:cNvSpPr/>
          <p:nvPr/>
        </p:nvSpPr>
        <p:spPr>
          <a:xfrm>
            <a:off x="365760" y="3657600"/>
            <a:ext cx="6400800" cy="365760"/>
          </a:xfrm>
          <a:prstGeom prst="rect">
            <a:avLst/>
          </a:prstGeom>
          <a:noFill/>
          <a:ln/>
        </p:spPr>
        <p:txBody>
          <a:bodyPr wrap="square" lIns="0" tIns="0" rIns="0" bIns="0" rtlCol="0" anchor="ctr"/>
          <a:lstStyle/>
          <a:p>
            <a:pPr indent="0" marL="0">
              <a:buNone/>
            </a:pPr>
            <a:r>
              <a:rPr lang="en-US" sz="1300" i="1" dirty="0">
                <a:solidFill>
                  <a:srgbClr val="6EE7B7"/>
                </a:solidFill>
                <a:latin typeface="Calibri" pitchFamily="34" charset="0"/>
                <a:ea typeface="Calibri" pitchFamily="34" charset="-122"/>
                <a:cs typeface="Calibri" pitchFamily="34" charset="-120"/>
              </a:rPr>
              <a:t>Smart Energy Grids &amp; Sustainability  —  Topic 9  |  BDA Case Study</a:t>
            </a:r>
            <a:endParaRPr lang="en-US" sz="1300" dirty="0"/>
          </a:p>
        </p:txBody>
      </p:sp>
      <p:sp>
        <p:nvSpPr>
          <p:cNvPr id="21" name="Text 19"/>
          <p:cNvSpPr/>
          <p:nvPr/>
        </p:nvSpPr>
        <p:spPr>
          <a:xfrm>
            <a:off x="365760" y="4069080"/>
            <a:ext cx="8412480" cy="320040"/>
          </a:xfrm>
          <a:prstGeom prst="rect">
            <a:avLst/>
          </a:prstGeom>
          <a:noFill/>
          <a:ln/>
        </p:spPr>
        <p:txBody>
          <a:bodyPr wrap="square" lIns="0" tIns="0" rIns="0" bIns="0" rtlCol="0" anchor="ctr"/>
          <a:lstStyle/>
          <a:p>
            <a:pPr indent="0" marL="0">
              <a:buNone/>
            </a:pPr>
            <a:r>
              <a:rPr lang="en-US" sz="1150" dirty="0">
                <a:solidFill>
                  <a:srgbClr val="D1FAE5"/>
                </a:solidFill>
                <a:latin typeface="Calibri" pitchFamily="34" charset="0"/>
                <a:ea typeface="Calibri" pitchFamily="34" charset="-122"/>
                <a:cs typeface="Calibri" pitchFamily="34" charset="-120"/>
              </a:rPr>
              <a:t>Y Eswar  |  M.Tech Data Science (2025–2027)  |  GITAM University, Hyderabad</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Energy Grids &amp; Sustainability</dc:title>
  <dc:subject>PptxGenJS Presentation</dc:subject>
  <dc:creator>PptxGenJS</dc:creator>
  <cp:lastModifiedBy>PptxGenJS</cp:lastModifiedBy>
  <cp:revision>1</cp:revision>
  <dcterms:created xsi:type="dcterms:W3CDTF">2026-03-11T17:11:25Z</dcterms:created>
  <dcterms:modified xsi:type="dcterms:W3CDTF">2026-03-11T17:11:25Z</dcterms:modified>
</cp:coreProperties>
</file>